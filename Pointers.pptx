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3" r:id="rId27"/>
  </p:sldIdLst>
  <p:sldSz cx="10083800" cy="7562850"/>
  <p:notesSz cx="100838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0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2132" y="1320800"/>
            <a:ext cx="4166870" cy="4169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0577" y="967552"/>
            <a:ext cx="8065120" cy="3742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6430" y="569468"/>
            <a:ext cx="21697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8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439" y="1572005"/>
            <a:ext cx="5009515" cy="3286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88336"/>
            <a:ext cx="10081260" cy="1188720"/>
            <a:chOff x="0" y="2688336"/>
            <a:chExt cx="10081260" cy="1188720"/>
          </a:xfrm>
        </p:grpSpPr>
        <p:sp>
          <p:nvSpPr>
            <p:cNvPr id="3" name="object 3"/>
            <p:cNvSpPr/>
            <p:nvPr/>
          </p:nvSpPr>
          <p:spPr>
            <a:xfrm>
              <a:off x="26986" y="2743200"/>
              <a:ext cx="10054590" cy="1092200"/>
            </a:xfrm>
            <a:custGeom>
              <a:avLst/>
              <a:gdLst/>
              <a:ahLst/>
              <a:cxnLst/>
              <a:rect l="l" t="t" r="r" b="b"/>
              <a:pathLst>
                <a:path w="10054590" h="1092200">
                  <a:moveTo>
                    <a:pt x="10054273" y="0"/>
                  </a:moveTo>
                  <a:lnTo>
                    <a:pt x="10054273" y="1092200"/>
                  </a:lnTo>
                  <a:lnTo>
                    <a:pt x="1" y="1092200"/>
                  </a:lnTo>
                  <a:lnTo>
                    <a:pt x="0" y="0"/>
                  </a:lnTo>
                  <a:lnTo>
                    <a:pt x="1005427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5198" y="2743200"/>
              <a:ext cx="661670" cy="1092200"/>
            </a:xfrm>
            <a:custGeom>
              <a:avLst/>
              <a:gdLst/>
              <a:ahLst/>
              <a:cxnLst/>
              <a:rect l="l" t="t" r="r" b="b"/>
              <a:pathLst>
                <a:path w="661670" h="1092200">
                  <a:moveTo>
                    <a:pt x="661399" y="0"/>
                  </a:moveTo>
                  <a:lnTo>
                    <a:pt x="29447" y="0"/>
                  </a:lnTo>
                  <a:lnTo>
                    <a:pt x="18005" y="22648"/>
                  </a:lnTo>
                  <a:lnTo>
                    <a:pt x="9620" y="45280"/>
                  </a:lnTo>
                  <a:lnTo>
                    <a:pt x="4012" y="68167"/>
                  </a:lnTo>
                  <a:lnTo>
                    <a:pt x="899" y="91584"/>
                  </a:lnTo>
                  <a:lnTo>
                    <a:pt x="0" y="115803"/>
                  </a:lnTo>
                  <a:lnTo>
                    <a:pt x="1033" y="141098"/>
                  </a:lnTo>
                  <a:lnTo>
                    <a:pt x="3718" y="167744"/>
                  </a:lnTo>
                  <a:lnTo>
                    <a:pt x="7773" y="196012"/>
                  </a:lnTo>
                  <a:lnTo>
                    <a:pt x="12916" y="226177"/>
                  </a:lnTo>
                  <a:lnTo>
                    <a:pt x="32067" y="330787"/>
                  </a:lnTo>
                  <a:lnTo>
                    <a:pt x="38752" y="371273"/>
                  </a:lnTo>
                  <a:lnTo>
                    <a:pt x="45120" y="415023"/>
                  </a:lnTo>
                  <a:lnTo>
                    <a:pt x="50890" y="462311"/>
                  </a:lnTo>
                  <a:lnTo>
                    <a:pt x="55779" y="513409"/>
                  </a:lnTo>
                  <a:lnTo>
                    <a:pt x="59506" y="568591"/>
                  </a:lnTo>
                  <a:lnTo>
                    <a:pt x="61791" y="628132"/>
                  </a:lnTo>
                  <a:lnTo>
                    <a:pt x="62351" y="692303"/>
                  </a:lnTo>
                  <a:lnTo>
                    <a:pt x="60906" y="761379"/>
                  </a:lnTo>
                  <a:lnTo>
                    <a:pt x="57175" y="835633"/>
                  </a:lnTo>
                  <a:lnTo>
                    <a:pt x="50875" y="915339"/>
                  </a:lnTo>
                  <a:lnTo>
                    <a:pt x="41726" y="1000770"/>
                  </a:lnTo>
                  <a:lnTo>
                    <a:pt x="29447" y="1092200"/>
                  </a:lnTo>
                  <a:lnTo>
                    <a:pt x="661526" y="1092200"/>
                  </a:lnTo>
                  <a:lnTo>
                    <a:pt x="66139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5031" y="2744724"/>
              <a:ext cx="667385" cy="1090930"/>
            </a:xfrm>
            <a:custGeom>
              <a:avLst/>
              <a:gdLst/>
              <a:ahLst/>
              <a:cxnLst/>
              <a:rect l="l" t="t" r="r" b="b"/>
              <a:pathLst>
                <a:path w="667384" h="1090929">
                  <a:moveTo>
                    <a:pt x="666942" y="0"/>
                  </a:moveTo>
                  <a:lnTo>
                    <a:pt x="33593" y="0"/>
                  </a:lnTo>
                  <a:lnTo>
                    <a:pt x="41906" y="45077"/>
                  </a:lnTo>
                  <a:lnTo>
                    <a:pt x="47608" y="92540"/>
                  </a:lnTo>
                  <a:lnTo>
                    <a:pt x="50963" y="142077"/>
                  </a:lnTo>
                  <a:lnTo>
                    <a:pt x="52237" y="193378"/>
                  </a:lnTo>
                  <a:lnTo>
                    <a:pt x="51695" y="246134"/>
                  </a:lnTo>
                  <a:lnTo>
                    <a:pt x="49602" y="300033"/>
                  </a:lnTo>
                  <a:lnTo>
                    <a:pt x="46223" y="354766"/>
                  </a:lnTo>
                  <a:lnTo>
                    <a:pt x="41823" y="410022"/>
                  </a:lnTo>
                  <a:lnTo>
                    <a:pt x="36667" y="465491"/>
                  </a:lnTo>
                  <a:lnTo>
                    <a:pt x="31021" y="520862"/>
                  </a:lnTo>
                  <a:lnTo>
                    <a:pt x="13789" y="683292"/>
                  </a:lnTo>
                  <a:lnTo>
                    <a:pt x="8831" y="735172"/>
                  </a:lnTo>
                  <a:lnTo>
                    <a:pt x="4708" y="785403"/>
                  </a:lnTo>
                  <a:lnTo>
                    <a:pt x="1685" y="833676"/>
                  </a:lnTo>
                  <a:lnTo>
                    <a:pt x="27" y="879679"/>
                  </a:lnTo>
                  <a:lnTo>
                    <a:pt x="0" y="923104"/>
                  </a:lnTo>
                  <a:lnTo>
                    <a:pt x="1867" y="963638"/>
                  </a:lnTo>
                  <a:lnTo>
                    <a:pt x="5895" y="1000973"/>
                  </a:lnTo>
                  <a:lnTo>
                    <a:pt x="12349" y="1034798"/>
                  </a:lnTo>
                  <a:lnTo>
                    <a:pt x="21493" y="1064802"/>
                  </a:lnTo>
                  <a:lnTo>
                    <a:pt x="33593" y="1090676"/>
                  </a:lnTo>
                  <a:lnTo>
                    <a:pt x="666942" y="1090676"/>
                  </a:lnTo>
                  <a:lnTo>
                    <a:pt x="666942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4257" y="2785999"/>
              <a:ext cx="423545" cy="1090930"/>
            </a:xfrm>
            <a:custGeom>
              <a:avLst/>
              <a:gdLst/>
              <a:ahLst/>
              <a:cxnLst/>
              <a:rect l="l" t="t" r="r" b="b"/>
              <a:pathLst>
                <a:path w="423545" h="1090929">
                  <a:moveTo>
                    <a:pt x="368585" y="0"/>
                  </a:moveTo>
                  <a:lnTo>
                    <a:pt x="40671" y="0"/>
                  </a:lnTo>
                  <a:lnTo>
                    <a:pt x="33613" y="28076"/>
                  </a:lnTo>
                  <a:lnTo>
                    <a:pt x="21512" y="102048"/>
                  </a:lnTo>
                  <a:lnTo>
                    <a:pt x="16470" y="146714"/>
                  </a:lnTo>
                  <a:lnTo>
                    <a:pt x="12100" y="195681"/>
                  </a:lnTo>
                  <a:lnTo>
                    <a:pt x="8403" y="248334"/>
                  </a:lnTo>
                  <a:lnTo>
                    <a:pt x="5378" y="304058"/>
                  </a:lnTo>
                  <a:lnTo>
                    <a:pt x="3025" y="362241"/>
                  </a:lnTo>
                  <a:lnTo>
                    <a:pt x="1344" y="422265"/>
                  </a:lnTo>
                  <a:lnTo>
                    <a:pt x="336" y="483518"/>
                  </a:lnTo>
                  <a:lnTo>
                    <a:pt x="0" y="545385"/>
                  </a:lnTo>
                  <a:lnTo>
                    <a:pt x="336" y="607251"/>
                  </a:lnTo>
                  <a:lnTo>
                    <a:pt x="1344" y="668502"/>
                  </a:lnTo>
                  <a:lnTo>
                    <a:pt x="3025" y="728523"/>
                  </a:lnTo>
                  <a:lnTo>
                    <a:pt x="5378" y="786699"/>
                  </a:lnTo>
                  <a:lnTo>
                    <a:pt x="8403" y="842417"/>
                  </a:lnTo>
                  <a:lnTo>
                    <a:pt x="12100" y="895061"/>
                  </a:lnTo>
                  <a:lnTo>
                    <a:pt x="16470" y="944018"/>
                  </a:lnTo>
                  <a:lnTo>
                    <a:pt x="21512" y="988672"/>
                  </a:lnTo>
                  <a:lnTo>
                    <a:pt x="27226" y="1028409"/>
                  </a:lnTo>
                  <a:lnTo>
                    <a:pt x="40671" y="1090676"/>
                  </a:lnTo>
                  <a:lnTo>
                    <a:pt x="368585" y="1090676"/>
                  </a:lnTo>
                  <a:lnTo>
                    <a:pt x="371648" y="1054857"/>
                  </a:lnTo>
                  <a:lnTo>
                    <a:pt x="375658" y="1012626"/>
                  </a:lnTo>
                  <a:lnTo>
                    <a:pt x="391295" y="857752"/>
                  </a:lnTo>
                  <a:lnTo>
                    <a:pt x="402651" y="741327"/>
                  </a:lnTo>
                  <a:lnTo>
                    <a:pt x="407987" y="682252"/>
                  </a:lnTo>
                  <a:lnTo>
                    <a:pt x="412817" y="623977"/>
                  </a:lnTo>
                  <a:lnTo>
                    <a:pt x="416935" y="567532"/>
                  </a:lnTo>
                  <a:lnTo>
                    <a:pt x="420134" y="513947"/>
                  </a:lnTo>
                  <a:lnTo>
                    <a:pt x="422205" y="464253"/>
                  </a:lnTo>
                  <a:lnTo>
                    <a:pt x="422941" y="419480"/>
                  </a:lnTo>
                  <a:lnTo>
                    <a:pt x="423442" y="301312"/>
                  </a:lnTo>
                  <a:lnTo>
                    <a:pt x="423045" y="245505"/>
                  </a:lnTo>
                  <a:lnTo>
                    <a:pt x="421305" y="192802"/>
                  </a:lnTo>
                  <a:lnTo>
                    <a:pt x="417541" y="143893"/>
                  </a:lnTo>
                  <a:lnTo>
                    <a:pt x="411069" y="99469"/>
                  </a:lnTo>
                  <a:lnTo>
                    <a:pt x="401208" y="60218"/>
                  </a:lnTo>
                  <a:lnTo>
                    <a:pt x="387274" y="26832"/>
                  </a:lnTo>
                  <a:lnTo>
                    <a:pt x="36858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30381" y="2744724"/>
              <a:ext cx="496570" cy="1090930"/>
            </a:xfrm>
            <a:custGeom>
              <a:avLst/>
              <a:gdLst/>
              <a:ahLst/>
              <a:cxnLst/>
              <a:rect l="l" t="t" r="r" b="b"/>
              <a:pathLst>
                <a:path w="496570" h="1090929">
                  <a:moveTo>
                    <a:pt x="496093" y="0"/>
                  </a:moveTo>
                  <a:lnTo>
                    <a:pt x="54768" y="126"/>
                  </a:lnTo>
                  <a:lnTo>
                    <a:pt x="36663" y="62392"/>
                  </a:lnTo>
                  <a:lnTo>
                    <a:pt x="28968" y="102130"/>
                  </a:lnTo>
                  <a:lnTo>
                    <a:pt x="22179" y="146783"/>
                  </a:lnTo>
                  <a:lnTo>
                    <a:pt x="16294" y="195739"/>
                  </a:lnTo>
                  <a:lnTo>
                    <a:pt x="11315" y="248382"/>
                  </a:lnTo>
                  <a:lnTo>
                    <a:pt x="7242" y="304099"/>
                  </a:lnTo>
                  <a:lnTo>
                    <a:pt x="4073" y="362273"/>
                  </a:lnTo>
                  <a:lnTo>
                    <a:pt x="1810" y="422292"/>
                  </a:lnTo>
                  <a:lnTo>
                    <a:pt x="452" y="483539"/>
                  </a:lnTo>
                  <a:lnTo>
                    <a:pt x="0" y="545401"/>
                  </a:lnTo>
                  <a:lnTo>
                    <a:pt x="452" y="607263"/>
                  </a:lnTo>
                  <a:lnTo>
                    <a:pt x="1810" y="668510"/>
                  </a:lnTo>
                  <a:lnTo>
                    <a:pt x="4073" y="728529"/>
                  </a:lnTo>
                  <a:lnTo>
                    <a:pt x="7242" y="786703"/>
                  </a:lnTo>
                  <a:lnTo>
                    <a:pt x="11315" y="842420"/>
                  </a:lnTo>
                  <a:lnTo>
                    <a:pt x="16294" y="895063"/>
                  </a:lnTo>
                  <a:lnTo>
                    <a:pt x="22179" y="944019"/>
                  </a:lnTo>
                  <a:lnTo>
                    <a:pt x="28968" y="988672"/>
                  </a:lnTo>
                  <a:lnTo>
                    <a:pt x="36663" y="1028410"/>
                  </a:lnTo>
                  <a:lnTo>
                    <a:pt x="54768" y="1090676"/>
                  </a:lnTo>
                  <a:lnTo>
                    <a:pt x="496093" y="1090676"/>
                  </a:lnTo>
                  <a:lnTo>
                    <a:pt x="494556" y="1029191"/>
                  </a:lnTo>
                  <a:lnTo>
                    <a:pt x="490559" y="967122"/>
                  </a:lnTo>
                  <a:lnTo>
                    <a:pt x="481971" y="867855"/>
                  </a:lnTo>
                  <a:lnTo>
                    <a:pt x="475860" y="794191"/>
                  </a:lnTo>
                  <a:lnTo>
                    <a:pt x="473036" y="754244"/>
                  </a:lnTo>
                  <a:lnTo>
                    <a:pt x="470519" y="711834"/>
                  </a:lnTo>
                  <a:lnTo>
                    <a:pt x="468424" y="666673"/>
                  </a:lnTo>
                  <a:lnTo>
                    <a:pt x="466868" y="618470"/>
                  </a:lnTo>
                  <a:lnTo>
                    <a:pt x="465965" y="566936"/>
                  </a:lnTo>
                  <a:lnTo>
                    <a:pt x="465830" y="511782"/>
                  </a:lnTo>
                  <a:lnTo>
                    <a:pt x="466580" y="452717"/>
                  </a:lnTo>
                  <a:lnTo>
                    <a:pt x="468328" y="389452"/>
                  </a:lnTo>
                  <a:lnTo>
                    <a:pt x="471191" y="321698"/>
                  </a:lnTo>
                  <a:lnTo>
                    <a:pt x="475284" y="249166"/>
                  </a:lnTo>
                  <a:lnTo>
                    <a:pt x="480722" y="171565"/>
                  </a:lnTo>
                  <a:lnTo>
                    <a:pt x="487620" y="88606"/>
                  </a:lnTo>
                  <a:lnTo>
                    <a:pt x="4960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40673" y="2744724"/>
              <a:ext cx="633730" cy="1090930"/>
            </a:xfrm>
            <a:custGeom>
              <a:avLst/>
              <a:gdLst/>
              <a:ahLst/>
              <a:cxnLst/>
              <a:rect l="l" t="t" r="r" b="b"/>
              <a:pathLst>
                <a:path w="633729" h="1090929">
                  <a:moveTo>
                    <a:pt x="633476" y="0"/>
                  </a:moveTo>
                  <a:lnTo>
                    <a:pt x="0" y="126"/>
                  </a:lnTo>
                  <a:lnTo>
                    <a:pt x="1255" y="41438"/>
                  </a:lnTo>
                  <a:lnTo>
                    <a:pt x="4750" y="87409"/>
                  </a:lnTo>
                  <a:lnTo>
                    <a:pt x="10077" y="137236"/>
                  </a:lnTo>
                  <a:lnTo>
                    <a:pt x="16830" y="190117"/>
                  </a:lnTo>
                  <a:lnTo>
                    <a:pt x="24600" y="245251"/>
                  </a:lnTo>
                  <a:lnTo>
                    <a:pt x="49948" y="416151"/>
                  </a:lnTo>
                  <a:lnTo>
                    <a:pt x="57718" y="472277"/>
                  </a:lnTo>
                  <a:lnTo>
                    <a:pt x="64471" y="526646"/>
                  </a:lnTo>
                  <a:lnTo>
                    <a:pt x="69798" y="578457"/>
                  </a:lnTo>
                  <a:lnTo>
                    <a:pt x="73293" y="626907"/>
                  </a:lnTo>
                  <a:lnTo>
                    <a:pt x="74549" y="671194"/>
                  </a:lnTo>
                  <a:lnTo>
                    <a:pt x="74446" y="727922"/>
                  </a:lnTo>
                  <a:lnTo>
                    <a:pt x="73732" y="778095"/>
                  </a:lnTo>
                  <a:lnTo>
                    <a:pt x="71792" y="823439"/>
                  </a:lnTo>
                  <a:lnTo>
                    <a:pt x="68015" y="865679"/>
                  </a:lnTo>
                  <a:lnTo>
                    <a:pt x="61788" y="906539"/>
                  </a:lnTo>
                  <a:lnTo>
                    <a:pt x="52498" y="947744"/>
                  </a:lnTo>
                  <a:lnTo>
                    <a:pt x="39532" y="991019"/>
                  </a:lnTo>
                  <a:lnTo>
                    <a:pt x="22280" y="1038088"/>
                  </a:lnTo>
                  <a:lnTo>
                    <a:pt x="126" y="1090676"/>
                  </a:lnTo>
                  <a:lnTo>
                    <a:pt x="633476" y="1090676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7070" y="2785999"/>
              <a:ext cx="476250" cy="1090930"/>
            </a:xfrm>
            <a:custGeom>
              <a:avLst/>
              <a:gdLst/>
              <a:ahLst/>
              <a:cxnLst/>
              <a:rect l="l" t="t" r="r" b="b"/>
              <a:pathLst>
                <a:path w="476250" h="1090929">
                  <a:moveTo>
                    <a:pt x="445572" y="0"/>
                  </a:moveTo>
                  <a:lnTo>
                    <a:pt x="30536" y="0"/>
                  </a:lnTo>
                  <a:lnTo>
                    <a:pt x="17841" y="27899"/>
                  </a:lnTo>
                  <a:lnTo>
                    <a:pt x="8902" y="62919"/>
                  </a:lnTo>
                  <a:lnTo>
                    <a:pt x="3268" y="104052"/>
                  </a:lnTo>
                  <a:lnTo>
                    <a:pt x="489" y="150288"/>
                  </a:lnTo>
                  <a:lnTo>
                    <a:pt x="114" y="200618"/>
                  </a:lnTo>
                  <a:lnTo>
                    <a:pt x="1691" y="254035"/>
                  </a:lnTo>
                  <a:lnTo>
                    <a:pt x="4771" y="309530"/>
                  </a:lnTo>
                  <a:lnTo>
                    <a:pt x="8902" y="366094"/>
                  </a:lnTo>
                  <a:lnTo>
                    <a:pt x="23099" y="532115"/>
                  </a:lnTo>
                  <a:lnTo>
                    <a:pt x="26930" y="582870"/>
                  </a:lnTo>
                  <a:lnTo>
                    <a:pt x="29559" y="629650"/>
                  </a:lnTo>
                  <a:lnTo>
                    <a:pt x="30536" y="671449"/>
                  </a:lnTo>
                  <a:lnTo>
                    <a:pt x="28274" y="731399"/>
                  </a:lnTo>
                  <a:lnTo>
                    <a:pt x="22619" y="789632"/>
                  </a:lnTo>
                  <a:lnTo>
                    <a:pt x="15268" y="845453"/>
                  </a:lnTo>
                  <a:lnTo>
                    <a:pt x="7916" y="898169"/>
                  </a:lnTo>
                  <a:lnTo>
                    <a:pt x="2261" y="947088"/>
                  </a:lnTo>
                  <a:lnTo>
                    <a:pt x="0" y="991517"/>
                  </a:lnTo>
                  <a:lnTo>
                    <a:pt x="2827" y="1030762"/>
                  </a:lnTo>
                  <a:lnTo>
                    <a:pt x="12440" y="1064130"/>
                  </a:lnTo>
                  <a:lnTo>
                    <a:pt x="30536" y="1090929"/>
                  </a:lnTo>
                  <a:lnTo>
                    <a:pt x="445572" y="1090929"/>
                  </a:lnTo>
                  <a:lnTo>
                    <a:pt x="445572" y="923163"/>
                  </a:lnTo>
                  <a:lnTo>
                    <a:pt x="446113" y="891200"/>
                  </a:lnTo>
                  <a:lnTo>
                    <a:pt x="447615" y="853231"/>
                  </a:lnTo>
                  <a:lnTo>
                    <a:pt x="449899" y="809990"/>
                  </a:lnTo>
                  <a:lnTo>
                    <a:pt x="452784" y="762211"/>
                  </a:lnTo>
                  <a:lnTo>
                    <a:pt x="459636" y="655974"/>
                  </a:lnTo>
                  <a:lnTo>
                    <a:pt x="466728" y="540392"/>
                  </a:lnTo>
                  <a:lnTo>
                    <a:pt x="469913" y="480930"/>
                  </a:lnTo>
                  <a:lnTo>
                    <a:pt x="472618" y="421335"/>
                  </a:lnTo>
                  <a:lnTo>
                    <a:pt x="474661" y="362338"/>
                  </a:lnTo>
                  <a:lnTo>
                    <a:pt x="475864" y="304674"/>
                  </a:lnTo>
                  <a:lnTo>
                    <a:pt x="476044" y="249077"/>
                  </a:lnTo>
                  <a:lnTo>
                    <a:pt x="475022" y="196281"/>
                  </a:lnTo>
                  <a:lnTo>
                    <a:pt x="472618" y="147020"/>
                  </a:lnTo>
                  <a:lnTo>
                    <a:pt x="468651" y="102027"/>
                  </a:lnTo>
                  <a:lnTo>
                    <a:pt x="462942" y="62037"/>
                  </a:lnTo>
                  <a:lnTo>
                    <a:pt x="455309" y="27783"/>
                  </a:lnTo>
                  <a:lnTo>
                    <a:pt x="44557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8304" y="2736850"/>
              <a:ext cx="662940" cy="1090930"/>
            </a:xfrm>
            <a:custGeom>
              <a:avLst/>
              <a:gdLst/>
              <a:ahLst/>
              <a:cxnLst/>
              <a:rect l="l" t="t" r="r" b="b"/>
              <a:pathLst>
                <a:path w="662939" h="1090929">
                  <a:moveTo>
                    <a:pt x="662870" y="0"/>
                  </a:moveTo>
                  <a:lnTo>
                    <a:pt x="29521" y="0"/>
                  </a:lnTo>
                  <a:lnTo>
                    <a:pt x="18050" y="22617"/>
                  </a:lnTo>
                  <a:lnTo>
                    <a:pt x="9645" y="45216"/>
                  </a:lnTo>
                  <a:lnTo>
                    <a:pt x="4023" y="68070"/>
                  </a:lnTo>
                  <a:lnTo>
                    <a:pt x="901" y="91453"/>
                  </a:lnTo>
                  <a:lnTo>
                    <a:pt x="0" y="115637"/>
                  </a:lnTo>
                  <a:lnTo>
                    <a:pt x="1035" y="140896"/>
                  </a:lnTo>
                  <a:lnTo>
                    <a:pt x="3725" y="167503"/>
                  </a:lnTo>
                  <a:lnTo>
                    <a:pt x="7789" y="195730"/>
                  </a:lnTo>
                  <a:lnTo>
                    <a:pt x="12945" y="225851"/>
                  </a:lnTo>
                  <a:lnTo>
                    <a:pt x="32140" y="330311"/>
                  </a:lnTo>
                  <a:lnTo>
                    <a:pt x="38841" y="370739"/>
                  </a:lnTo>
                  <a:lnTo>
                    <a:pt x="45225" y="414427"/>
                  </a:lnTo>
                  <a:lnTo>
                    <a:pt x="51008" y="461648"/>
                  </a:lnTo>
                  <a:lnTo>
                    <a:pt x="55908" y="512675"/>
                  </a:lnTo>
                  <a:lnTo>
                    <a:pt x="59645" y="567781"/>
                  </a:lnTo>
                  <a:lnTo>
                    <a:pt x="61935" y="627239"/>
                  </a:lnTo>
                  <a:lnTo>
                    <a:pt x="62498" y="691322"/>
                  </a:lnTo>
                  <a:lnTo>
                    <a:pt x="61050" y="760303"/>
                  </a:lnTo>
                  <a:lnTo>
                    <a:pt x="57310" y="834456"/>
                  </a:lnTo>
                  <a:lnTo>
                    <a:pt x="50997" y="914054"/>
                  </a:lnTo>
                  <a:lnTo>
                    <a:pt x="41828" y="999369"/>
                  </a:lnTo>
                  <a:lnTo>
                    <a:pt x="29521" y="1090676"/>
                  </a:lnTo>
                  <a:lnTo>
                    <a:pt x="662870" y="1090549"/>
                  </a:lnTo>
                  <a:lnTo>
                    <a:pt x="662870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1395" y="2735199"/>
              <a:ext cx="667385" cy="1092835"/>
            </a:xfrm>
            <a:custGeom>
              <a:avLst/>
              <a:gdLst/>
              <a:ahLst/>
              <a:cxnLst/>
              <a:rect l="l" t="t" r="r" b="b"/>
              <a:pathLst>
                <a:path w="667385" h="1092835">
                  <a:moveTo>
                    <a:pt x="666928" y="0"/>
                  </a:moveTo>
                  <a:lnTo>
                    <a:pt x="33579" y="126"/>
                  </a:lnTo>
                  <a:lnTo>
                    <a:pt x="41908" y="45256"/>
                  </a:lnTo>
                  <a:lnTo>
                    <a:pt x="47622" y="92774"/>
                  </a:lnTo>
                  <a:lnTo>
                    <a:pt x="50987" y="142371"/>
                  </a:lnTo>
                  <a:lnTo>
                    <a:pt x="52268" y="193735"/>
                  </a:lnTo>
                  <a:lnTo>
                    <a:pt x="51732" y="246555"/>
                  </a:lnTo>
                  <a:lnTo>
                    <a:pt x="49642" y="300522"/>
                  </a:lnTo>
                  <a:lnTo>
                    <a:pt x="46265" y="355325"/>
                  </a:lnTo>
                  <a:lnTo>
                    <a:pt x="41865" y="410652"/>
                  </a:lnTo>
                  <a:lnTo>
                    <a:pt x="36708" y="466194"/>
                  </a:lnTo>
                  <a:lnTo>
                    <a:pt x="31059" y="521640"/>
                  </a:lnTo>
                  <a:lnTo>
                    <a:pt x="13815" y="684292"/>
                  </a:lnTo>
                  <a:lnTo>
                    <a:pt x="8852" y="736246"/>
                  </a:lnTo>
                  <a:lnTo>
                    <a:pt x="4724" y="786550"/>
                  </a:lnTo>
                  <a:lnTo>
                    <a:pt x="1695" y="834895"/>
                  </a:lnTo>
                  <a:lnTo>
                    <a:pt x="32" y="880968"/>
                  </a:lnTo>
                  <a:lnTo>
                    <a:pt x="0" y="924460"/>
                  </a:lnTo>
                  <a:lnTo>
                    <a:pt x="1863" y="965060"/>
                  </a:lnTo>
                  <a:lnTo>
                    <a:pt x="5887" y="1002457"/>
                  </a:lnTo>
                  <a:lnTo>
                    <a:pt x="12338" y="1036341"/>
                  </a:lnTo>
                  <a:lnTo>
                    <a:pt x="21480" y="1066401"/>
                  </a:lnTo>
                  <a:lnTo>
                    <a:pt x="33579" y="1092327"/>
                  </a:lnTo>
                  <a:lnTo>
                    <a:pt x="667055" y="1092200"/>
                  </a:lnTo>
                  <a:lnTo>
                    <a:pt x="666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22320" y="2776474"/>
              <a:ext cx="425450" cy="1092200"/>
            </a:xfrm>
            <a:custGeom>
              <a:avLst/>
              <a:gdLst/>
              <a:ahLst/>
              <a:cxnLst/>
              <a:rect l="l" t="t" r="r" b="b"/>
              <a:pathLst>
                <a:path w="425450" h="1092200">
                  <a:moveTo>
                    <a:pt x="369919" y="0"/>
                  </a:moveTo>
                  <a:lnTo>
                    <a:pt x="40862" y="0"/>
                  </a:lnTo>
                  <a:lnTo>
                    <a:pt x="33770" y="28115"/>
                  </a:lnTo>
                  <a:lnTo>
                    <a:pt x="21613" y="102190"/>
                  </a:lnTo>
                  <a:lnTo>
                    <a:pt x="16547" y="146919"/>
                  </a:lnTo>
                  <a:lnTo>
                    <a:pt x="12157" y="195954"/>
                  </a:lnTo>
                  <a:lnTo>
                    <a:pt x="8442" y="248681"/>
                  </a:lnTo>
                  <a:lnTo>
                    <a:pt x="5403" y="304483"/>
                  </a:lnTo>
                  <a:lnTo>
                    <a:pt x="3039" y="362747"/>
                  </a:lnTo>
                  <a:lnTo>
                    <a:pt x="1350" y="422855"/>
                  </a:lnTo>
                  <a:lnTo>
                    <a:pt x="337" y="484194"/>
                  </a:lnTo>
                  <a:lnTo>
                    <a:pt x="0" y="546147"/>
                  </a:lnTo>
                  <a:lnTo>
                    <a:pt x="337" y="608100"/>
                  </a:lnTo>
                  <a:lnTo>
                    <a:pt x="1350" y="669436"/>
                  </a:lnTo>
                  <a:lnTo>
                    <a:pt x="3039" y="729541"/>
                  </a:lnTo>
                  <a:lnTo>
                    <a:pt x="5403" y="787798"/>
                  </a:lnTo>
                  <a:lnTo>
                    <a:pt x="8442" y="843594"/>
                  </a:lnTo>
                  <a:lnTo>
                    <a:pt x="12157" y="896312"/>
                  </a:lnTo>
                  <a:lnTo>
                    <a:pt x="16547" y="945337"/>
                  </a:lnTo>
                  <a:lnTo>
                    <a:pt x="21613" y="990054"/>
                  </a:lnTo>
                  <a:lnTo>
                    <a:pt x="27354" y="1029846"/>
                  </a:lnTo>
                  <a:lnTo>
                    <a:pt x="40862" y="1092200"/>
                  </a:lnTo>
                  <a:lnTo>
                    <a:pt x="369919" y="1092200"/>
                  </a:lnTo>
                  <a:lnTo>
                    <a:pt x="372984" y="1056346"/>
                  </a:lnTo>
                  <a:lnTo>
                    <a:pt x="377000" y="1014066"/>
                  </a:lnTo>
                  <a:lnTo>
                    <a:pt x="392670" y="858997"/>
                  </a:lnTo>
                  <a:lnTo>
                    <a:pt x="404056" y="742413"/>
                  </a:lnTo>
                  <a:lnTo>
                    <a:pt x="409405" y="683257"/>
                  </a:lnTo>
                  <a:lnTo>
                    <a:pt x="414249" y="624900"/>
                  </a:lnTo>
                  <a:lnTo>
                    <a:pt x="418379" y="568376"/>
                  </a:lnTo>
                  <a:lnTo>
                    <a:pt x="421586" y="514715"/>
                  </a:lnTo>
                  <a:lnTo>
                    <a:pt x="423663" y="464951"/>
                  </a:lnTo>
                  <a:lnTo>
                    <a:pt x="424402" y="420115"/>
                  </a:lnTo>
                  <a:lnTo>
                    <a:pt x="424916" y="301779"/>
                  </a:lnTo>
                  <a:lnTo>
                    <a:pt x="424529" y="245890"/>
                  </a:lnTo>
                  <a:lnTo>
                    <a:pt x="422796" y="193109"/>
                  </a:lnTo>
                  <a:lnTo>
                    <a:pt x="419032" y="144127"/>
                  </a:lnTo>
                  <a:lnTo>
                    <a:pt x="412548" y="99633"/>
                  </a:lnTo>
                  <a:lnTo>
                    <a:pt x="402660" y="60320"/>
                  </a:lnTo>
                  <a:lnTo>
                    <a:pt x="388679" y="26879"/>
                  </a:lnTo>
                  <a:lnTo>
                    <a:pt x="369919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28381" y="2735199"/>
              <a:ext cx="496570" cy="1092835"/>
            </a:xfrm>
            <a:custGeom>
              <a:avLst/>
              <a:gdLst/>
              <a:ahLst/>
              <a:cxnLst/>
              <a:rect l="l" t="t" r="r" b="b"/>
              <a:pathLst>
                <a:path w="496570" h="1092835">
                  <a:moveTo>
                    <a:pt x="496093" y="0"/>
                  </a:moveTo>
                  <a:lnTo>
                    <a:pt x="54768" y="126"/>
                  </a:lnTo>
                  <a:lnTo>
                    <a:pt x="36663" y="62480"/>
                  </a:lnTo>
                  <a:lnTo>
                    <a:pt x="28968" y="102272"/>
                  </a:lnTo>
                  <a:lnTo>
                    <a:pt x="22179" y="146989"/>
                  </a:lnTo>
                  <a:lnTo>
                    <a:pt x="16294" y="196014"/>
                  </a:lnTo>
                  <a:lnTo>
                    <a:pt x="11315" y="248732"/>
                  </a:lnTo>
                  <a:lnTo>
                    <a:pt x="7242" y="304528"/>
                  </a:lnTo>
                  <a:lnTo>
                    <a:pt x="4073" y="362785"/>
                  </a:lnTo>
                  <a:lnTo>
                    <a:pt x="1810" y="422890"/>
                  </a:lnTo>
                  <a:lnTo>
                    <a:pt x="452" y="484226"/>
                  </a:lnTo>
                  <a:lnTo>
                    <a:pt x="0" y="546179"/>
                  </a:lnTo>
                  <a:lnTo>
                    <a:pt x="452" y="608132"/>
                  </a:lnTo>
                  <a:lnTo>
                    <a:pt x="1810" y="669471"/>
                  </a:lnTo>
                  <a:lnTo>
                    <a:pt x="4073" y="729579"/>
                  </a:lnTo>
                  <a:lnTo>
                    <a:pt x="7242" y="787843"/>
                  </a:lnTo>
                  <a:lnTo>
                    <a:pt x="11315" y="843645"/>
                  </a:lnTo>
                  <a:lnTo>
                    <a:pt x="16294" y="896372"/>
                  </a:lnTo>
                  <a:lnTo>
                    <a:pt x="22179" y="945407"/>
                  </a:lnTo>
                  <a:lnTo>
                    <a:pt x="28968" y="990136"/>
                  </a:lnTo>
                  <a:lnTo>
                    <a:pt x="36663" y="1029942"/>
                  </a:lnTo>
                  <a:lnTo>
                    <a:pt x="54768" y="1092327"/>
                  </a:lnTo>
                  <a:lnTo>
                    <a:pt x="496093" y="1092200"/>
                  </a:lnTo>
                  <a:lnTo>
                    <a:pt x="494556" y="1030645"/>
                  </a:lnTo>
                  <a:lnTo>
                    <a:pt x="490559" y="968503"/>
                  </a:lnTo>
                  <a:lnTo>
                    <a:pt x="481971" y="869112"/>
                  </a:lnTo>
                  <a:lnTo>
                    <a:pt x="475860" y="795351"/>
                  </a:lnTo>
                  <a:lnTo>
                    <a:pt x="473036" y="755350"/>
                  </a:lnTo>
                  <a:lnTo>
                    <a:pt x="470519" y="712882"/>
                  </a:lnTo>
                  <a:lnTo>
                    <a:pt x="468424" y="667658"/>
                  </a:lnTo>
                  <a:lnTo>
                    <a:pt x="466868" y="619387"/>
                  </a:lnTo>
                  <a:lnTo>
                    <a:pt x="465965" y="567779"/>
                  </a:lnTo>
                  <a:lnTo>
                    <a:pt x="465830" y="512545"/>
                  </a:lnTo>
                  <a:lnTo>
                    <a:pt x="466580" y="453394"/>
                  </a:lnTo>
                  <a:lnTo>
                    <a:pt x="468328" y="390036"/>
                  </a:lnTo>
                  <a:lnTo>
                    <a:pt x="471191" y="322182"/>
                  </a:lnTo>
                  <a:lnTo>
                    <a:pt x="475284" y="249541"/>
                  </a:lnTo>
                  <a:lnTo>
                    <a:pt x="480722" y="171824"/>
                  </a:lnTo>
                  <a:lnTo>
                    <a:pt x="487620" y="88740"/>
                  </a:lnTo>
                  <a:lnTo>
                    <a:pt x="496093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41848" y="2736850"/>
              <a:ext cx="632460" cy="1090930"/>
            </a:xfrm>
            <a:custGeom>
              <a:avLst/>
              <a:gdLst/>
              <a:ahLst/>
              <a:cxnLst/>
              <a:rect l="l" t="t" r="r" b="b"/>
              <a:pathLst>
                <a:path w="632460" h="1090929">
                  <a:moveTo>
                    <a:pt x="631825" y="0"/>
                  </a:moveTo>
                  <a:lnTo>
                    <a:pt x="0" y="0"/>
                  </a:lnTo>
                  <a:lnTo>
                    <a:pt x="1253" y="41311"/>
                  </a:lnTo>
                  <a:lnTo>
                    <a:pt x="4742" y="87282"/>
                  </a:lnTo>
                  <a:lnTo>
                    <a:pt x="10060" y="137110"/>
                  </a:lnTo>
                  <a:lnTo>
                    <a:pt x="16801" y="189994"/>
                  </a:lnTo>
                  <a:lnTo>
                    <a:pt x="24558" y="245131"/>
                  </a:lnTo>
                  <a:lnTo>
                    <a:pt x="49863" y="416053"/>
                  </a:lnTo>
                  <a:lnTo>
                    <a:pt x="57620" y="472192"/>
                  </a:lnTo>
                  <a:lnTo>
                    <a:pt x="64361" y="526577"/>
                  </a:lnTo>
                  <a:lnTo>
                    <a:pt x="69679" y="578406"/>
                  </a:lnTo>
                  <a:lnTo>
                    <a:pt x="73168" y="626880"/>
                  </a:lnTo>
                  <a:lnTo>
                    <a:pt x="74422" y="671194"/>
                  </a:lnTo>
                  <a:lnTo>
                    <a:pt x="74320" y="727918"/>
                  </a:lnTo>
                  <a:lnTo>
                    <a:pt x="73606" y="778080"/>
                  </a:lnTo>
                  <a:lnTo>
                    <a:pt x="71670" y="823411"/>
                  </a:lnTo>
                  <a:lnTo>
                    <a:pt x="67899" y="865637"/>
                  </a:lnTo>
                  <a:lnTo>
                    <a:pt x="61682" y="906487"/>
                  </a:lnTo>
                  <a:lnTo>
                    <a:pt x="52408" y="947688"/>
                  </a:lnTo>
                  <a:lnTo>
                    <a:pt x="39465" y="990967"/>
                  </a:lnTo>
                  <a:lnTo>
                    <a:pt x="22242" y="1038054"/>
                  </a:lnTo>
                  <a:lnTo>
                    <a:pt x="126" y="1090676"/>
                  </a:lnTo>
                  <a:lnTo>
                    <a:pt x="631951" y="1090549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3594" y="2735198"/>
              <a:ext cx="4044315" cy="1100455"/>
            </a:xfrm>
            <a:custGeom>
              <a:avLst/>
              <a:gdLst/>
              <a:ahLst/>
              <a:cxnLst/>
              <a:rect l="l" t="t" r="r" b="b"/>
              <a:pathLst>
                <a:path w="4044315" h="1100454">
                  <a:moveTo>
                    <a:pt x="661581" y="1100201"/>
                  </a:moveTo>
                  <a:lnTo>
                    <a:pt x="661454" y="8001"/>
                  </a:lnTo>
                  <a:lnTo>
                    <a:pt x="29502" y="8001"/>
                  </a:lnTo>
                  <a:lnTo>
                    <a:pt x="9639" y="53289"/>
                  </a:lnTo>
                  <a:lnTo>
                    <a:pt x="901" y="99593"/>
                  </a:lnTo>
                  <a:lnTo>
                    <a:pt x="0" y="123812"/>
                  </a:lnTo>
                  <a:lnTo>
                    <a:pt x="1028" y="149110"/>
                  </a:lnTo>
                  <a:lnTo>
                    <a:pt x="3708" y="175755"/>
                  </a:lnTo>
                  <a:lnTo>
                    <a:pt x="7759" y="204025"/>
                  </a:lnTo>
                  <a:lnTo>
                    <a:pt x="12903" y="234188"/>
                  </a:lnTo>
                  <a:lnTo>
                    <a:pt x="32067" y="338797"/>
                  </a:lnTo>
                  <a:lnTo>
                    <a:pt x="38760" y="379285"/>
                  </a:lnTo>
                  <a:lnTo>
                    <a:pt x="45135" y="423037"/>
                  </a:lnTo>
                  <a:lnTo>
                    <a:pt x="50901" y="470319"/>
                  </a:lnTo>
                  <a:lnTo>
                    <a:pt x="55803" y="521411"/>
                  </a:lnTo>
                  <a:lnTo>
                    <a:pt x="59537" y="576605"/>
                  </a:lnTo>
                  <a:lnTo>
                    <a:pt x="61823" y="636143"/>
                  </a:lnTo>
                  <a:lnTo>
                    <a:pt x="62382" y="700316"/>
                  </a:lnTo>
                  <a:lnTo>
                    <a:pt x="60947" y="769391"/>
                  </a:lnTo>
                  <a:lnTo>
                    <a:pt x="57213" y="843635"/>
                  </a:lnTo>
                  <a:lnTo>
                    <a:pt x="50927" y="923340"/>
                  </a:lnTo>
                  <a:lnTo>
                    <a:pt x="41770" y="1008773"/>
                  </a:lnTo>
                  <a:lnTo>
                    <a:pt x="29502" y="1100201"/>
                  </a:lnTo>
                  <a:lnTo>
                    <a:pt x="661581" y="1100201"/>
                  </a:lnTo>
                  <a:close/>
                </a:path>
                <a:path w="4044315" h="1100454">
                  <a:moveTo>
                    <a:pt x="4044264" y="249466"/>
                  </a:moveTo>
                  <a:lnTo>
                    <a:pt x="4043248" y="196596"/>
                  </a:lnTo>
                  <a:lnTo>
                    <a:pt x="4040835" y="147256"/>
                  </a:lnTo>
                  <a:lnTo>
                    <a:pt x="4036860" y="102196"/>
                  </a:lnTo>
                  <a:lnTo>
                    <a:pt x="4031145" y="62141"/>
                  </a:lnTo>
                  <a:lnTo>
                    <a:pt x="4013746" y="0"/>
                  </a:lnTo>
                  <a:lnTo>
                    <a:pt x="3597440" y="0"/>
                  </a:lnTo>
                  <a:lnTo>
                    <a:pt x="3575723" y="63004"/>
                  </a:lnTo>
                  <a:lnTo>
                    <a:pt x="3570071" y="104190"/>
                  </a:lnTo>
                  <a:lnTo>
                    <a:pt x="3567277" y="150482"/>
                  </a:lnTo>
                  <a:lnTo>
                    <a:pt x="3566896" y="200875"/>
                  </a:lnTo>
                  <a:lnTo>
                    <a:pt x="3568484" y="254368"/>
                  </a:lnTo>
                  <a:lnTo>
                    <a:pt x="3571570" y="309930"/>
                  </a:lnTo>
                  <a:lnTo>
                    <a:pt x="3575723" y="366572"/>
                  </a:lnTo>
                  <a:lnTo>
                    <a:pt x="3589972" y="532815"/>
                  </a:lnTo>
                  <a:lnTo>
                    <a:pt x="3593820" y="583641"/>
                  </a:lnTo>
                  <a:lnTo>
                    <a:pt x="3596449" y="630491"/>
                  </a:lnTo>
                  <a:lnTo>
                    <a:pt x="3597440" y="672338"/>
                  </a:lnTo>
                  <a:lnTo>
                    <a:pt x="3595166" y="732409"/>
                  </a:lnTo>
                  <a:lnTo>
                    <a:pt x="3589502" y="790752"/>
                  </a:lnTo>
                  <a:lnTo>
                    <a:pt x="3582136" y="846658"/>
                  </a:lnTo>
                  <a:lnTo>
                    <a:pt x="3574770" y="899452"/>
                  </a:lnTo>
                  <a:lnTo>
                    <a:pt x="3569106" y="948448"/>
                  </a:lnTo>
                  <a:lnTo>
                    <a:pt x="3566845" y="992949"/>
                  </a:lnTo>
                  <a:lnTo>
                    <a:pt x="3569678" y="1032268"/>
                  </a:lnTo>
                  <a:lnTo>
                    <a:pt x="3579304" y="1065707"/>
                  </a:lnTo>
                  <a:lnTo>
                    <a:pt x="3597440" y="1092581"/>
                  </a:lnTo>
                  <a:lnTo>
                    <a:pt x="4013746" y="1092581"/>
                  </a:lnTo>
                  <a:lnTo>
                    <a:pt x="4013746" y="924433"/>
                  </a:lnTo>
                  <a:lnTo>
                    <a:pt x="4014279" y="892454"/>
                  </a:lnTo>
                  <a:lnTo>
                    <a:pt x="4015790" y="854443"/>
                  </a:lnTo>
                  <a:lnTo>
                    <a:pt x="4018076" y="811149"/>
                  </a:lnTo>
                  <a:lnTo>
                    <a:pt x="4020959" y="763320"/>
                  </a:lnTo>
                  <a:lnTo>
                    <a:pt x="4027830" y="656945"/>
                  </a:lnTo>
                  <a:lnTo>
                    <a:pt x="4034929" y="541210"/>
                  </a:lnTo>
                  <a:lnTo>
                    <a:pt x="4038130" y="481660"/>
                  </a:lnTo>
                  <a:lnTo>
                    <a:pt x="4040835" y="421982"/>
                  </a:lnTo>
                  <a:lnTo>
                    <a:pt x="4042880" y="362902"/>
                  </a:lnTo>
                  <a:lnTo>
                    <a:pt x="4044086" y="305155"/>
                  </a:lnTo>
                  <a:lnTo>
                    <a:pt x="4044264" y="249466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95382" y="2744724"/>
              <a:ext cx="667385" cy="1090930"/>
            </a:xfrm>
            <a:custGeom>
              <a:avLst/>
              <a:gdLst/>
              <a:ahLst/>
              <a:cxnLst/>
              <a:rect l="l" t="t" r="r" b="b"/>
              <a:pathLst>
                <a:path w="667385" h="1090929">
                  <a:moveTo>
                    <a:pt x="666942" y="0"/>
                  </a:moveTo>
                  <a:lnTo>
                    <a:pt x="33593" y="0"/>
                  </a:lnTo>
                  <a:lnTo>
                    <a:pt x="41906" y="45077"/>
                  </a:lnTo>
                  <a:lnTo>
                    <a:pt x="47608" y="92540"/>
                  </a:lnTo>
                  <a:lnTo>
                    <a:pt x="50963" y="142077"/>
                  </a:lnTo>
                  <a:lnTo>
                    <a:pt x="52237" y="193378"/>
                  </a:lnTo>
                  <a:lnTo>
                    <a:pt x="51695" y="246134"/>
                  </a:lnTo>
                  <a:lnTo>
                    <a:pt x="49602" y="300033"/>
                  </a:lnTo>
                  <a:lnTo>
                    <a:pt x="46223" y="354766"/>
                  </a:lnTo>
                  <a:lnTo>
                    <a:pt x="41823" y="410022"/>
                  </a:lnTo>
                  <a:lnTo>
                    <a:pt x="36667" y="465491"/>
                  </a:lnTo>
                  <a:lnTo>
                    <a:pt x="31021" y="520862"/>
                  </a:lnTo>
                  <a:lnTo>
                    <a:pt x="13789" y="683292"/>
                  </a:lnTo>
                  <a:lnTo>
                    <a:pt x="8831" y="735172"/>
                  </a:lnTo>
                  <a:lnTo>
                    <a:pt x="4708" y="785403"/>
                  </a:lnTo>
                  <a:lnTo>
                    <a:pt x="1685" y="833676"/>
                  </a:lnTo>
                  <a:lnTo>
                    <a:pt x="27" y="879679"/>
                  </a:lnTo>
                  <a:lnTo>
                    <a:pt x="0" y="923104"/>
                  </a:lnTo>
                  <a:lnTo>
                    <a:pt x="1867" y="963638"/>
                  </a:lnTo>
                  <a:lnTo>
                    <a:pt x="5895" y="1000973"/>
                  </a:lnTo>
                  <a:lnTo>
                    <a:pt x="12349" y="1034798"/>
                  </a:lnTo>
                  <a:lnTo>
                    <a:pt x="21493" y="1064802"/>
                  </a:lnTo>
                  <a:lnTo>
                    <a:pt x="33593" y="1090676"/>
                  </a:lnTo>
                  <a:lnTo>
                    <a:pt x="666942" y="1090676"/>
                  </a:lnTo>
                  <a:lnTo>
                    <a:pt x="66694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0770" y="2757424"/>
              <a:ext cx="425450" cy="1092200"/>
            </a:xfrm>
            <a:custGeom>
              <a:avLst/>
              <a:gdLst/>
              <a:ahLst/>
              <a:cxnLst/>
              <a:rect l="l" t="t" r="r" b="b"/>
              <a:pathLst>
                <a:path w="425450" h="1092200">
                  <a:moveTo>
                    <a:pt x="369919" y="0"/>
                  </a:moveTo>
                  <a:lnTo>
                    <a:pt x="40862" y="0"/>
                  </a:lnTo>
                  <a:lnTo>
                    <a:pt x="33770" y="28115"/>
                  </a:lnTo>
                  <a:lnTo>
                    <a:pt x="21613" y="102190"/>
                  </a:lnTo>
                  <a:lnTo>
                    <a:pt x="16547" y="146919"/>
                  </a:lnTo>
                  <a:lnTo>
                    <a:pt x="12157" y="195954"/>
                  </a:lnTo>
                  <a:lnTo>
                    <a:pt x="8442" y="248681"/>
                  </a:lnTo>
                  <a:lnTo>
                    <a:pt x="5403" y="304483"/>
                  </a:lnTo>
                  <a:lnTo>
                    <a:pt x="3039" y="362747"/>
                  </a:lnTo>
                  <a:lnTo>
                    <a:pt x="1350" y="422855"/>
                  </a:lnTo>
                  <a:lnTo>
                    <a:pt x="337" y="484194"/>
                  </a:lnTo>
                  <a:lnTo>
                    <a:pt x="0" y="546147"/>
                  </a:lnTo>
                  <a:lnTo>
                    <a:pt x="337" y="608100"/>
                  </a:lnTo>
                  <a:lnTo>
                    <a:pt x="1350" y="669436"/>
                  </a:lnTo>
                  <a:lnTo>
                    <a:pt x="3039" y="729541"/>
                  </a:lnTo>
                  <a:lnTo>
                    <a:pt x="5403" y="787798"/>
                  </a:lnTo>
                  <a:lnTo>
                    <a:pt x="8442" y="843594"/>
                  </a:lnTo>
                  <a:lnTo>
                    <a:pt x="12157" y="896312"/>
                  </a:lnTo>
                  <a:lnTo>
                    <a:pt x="16547" y="945337"/>
                  </a:lnTo>
                  <a:lnTo>
                    <a:pt x="21613" y="990054"/>
                  </a:lnTo>
                  <a:lnTo>
                    <a:pt x="27354" y="1029846"/>
                  </a:lnTo>
                  <a:lnTo>
                    <a:pt x="40862" y="1092200"/>
                  </a:lnTo>
                  <a:lnTo>
                    <a:pt x="369919" y="1092200"/>
                  </a:lnTo>
                  <a:lnTo>
                    <a:pt x="372984" y="1056346"/>
                  </a:lnTo>
                  <a:lnTo>
                    <a:pt x="377000" y="1014066"/>
                  </a:lnTo>
                  <a:lnTo>
                    <a:pt x="392670" y="858997"/>
                  </a:lnTo>
                  <a:lnTo>
                    <a:pt x="404056" y="742413"/>
                  </a:lnTo>
                  <a:lnTo>
                    <a:pt x="409405" y="683257"/>
                  </a:lnTo>
                  <a:lnTo>
                    <a:pt x="414249" y="624900"/>
                  </a:lnTo>
                  <a:lnTo>
                    <a:pt x="418379" y="568376"/>
                  </a:lnTo>
                  <a:lnTo>
                    <a:pt x="421586" y="514715"/>
                  </a:lnTo>
                  <a:lnTo>
                    <a:pt x="423663" y="464951"/>
                  </a:lnTo>
                  <a:lnTo>
                    <a:pt x="424402" y="420115"/>
                  </a:lnTo>
                  <a:lnTo>
                    <a:pt x="424916" y="301779"/>
                  </a:lnTo>
                  <a:lnTo>
                    <a:pt x="424529" y="245890"/>
                  </a:lnTo>
                  <a:lnTo>
                    <a:pt x="422796" y="193109"/>
                  </a:lnTo>
                  <a:lnTo>
                    <a:pt x="419032" y="144127"/>
                  </a:lnTo>
                  <a:lnTo>
                    <a:pt x="412548" y="99633"/>
                  </a:lnTo>
                  <a:lnTo>
                    <a:pt x="402660" y="60320"/>
                  </a:lnTo>
                  <a:lnTo>
                    <a:pt x="388679" y="26879"/>
                  </a:lnTo>
                  <a:lnTo>
                    <a:pt x="369919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2734056"/>
              <a:ext cx="506095" cy="1092835"/>
            </a:xfrm>
            <a:custGeom>
              <a:avLst/>
              <a:gdLst/>
              <a:ahLst/>
              <a:cxnLst/>
              <a:rect l="l" t="t" r="r" b="b"/>
              <a:pathLst>
                <a:path w="506095" h="1092835">
                  <a:moveTo>
                    <a:pt x="505967" y="0"/>
                  </a:moveTo>
                  <a:lnTo>
                    <a:pt x="0" y="10477"/>
                  </a:lnTo>
                  <a:lnTo>
                    <a:pt x="0" y="1092697"/>
                  </a:lnTo>
                  <a:lnTo>
                    <a:pt x="505967" y="1090930"/>
                  </a:lnTo>
                  <a:lnTo>
                    <a:pt x="504429" y="1029442"/>
                  </a:lnTo>
                  <a:lnTo>
                    <a:pt x="500431" y="967364"/>
                  </a:lnTo>
                  <a:lnTo>
                    <a:pt x="494895" y="902380"/>
                  </a:lnTo>
                  <a:lnTo>
                    <a:pt x="491839" y="868075"/>
                  </a:lnTo>
                  <a:lnTo>
                    <a:pt x="488744" y="832174"/>
                  </a:lnTo>
                  <a:lnTo>
                    <a:pt x="482900" y="754431"/>
                  </a:lnTo>
                  <a:lnTo>
                    <a:pt x="480382" y="712009"/>
                  </a:lnTo>
                  <a:lnTo>
                    <a:pt x="478287" y="666834"/>
                  </a:lnTo>
                  <a:lnTo>
                    <a:pt x="476730" y="618617"/>
                  </a:lnTo>
                  <a:lnTo>
                    <a:pt x="475827" y="567069"/>
                  </a:lnTo>
                  <a:lnTo>
                    <a:pt x="475692" y="511899"/>
                  </a:lnTo>
                  <a:lnTo>
                    <a:pt x="476442" y="452818"/>
                  </a:lnTo>
                  <a:lnTo>
                    <a:pt x="478191" y="389537"/>
                  </a:lnTo>
                  <a:lnTo>
                    <a:pt x="481055" y="321767"/>
                  </a:lnTo>
                  <a:lnTo>
                    <a:pt x="485149" y="249217"/>
                  </a:lnTo>
                  <a:lnTo>
                    <a:pt x="490589" y="171599"/>
                  </a:lnTo>
                  <a:lnTo>
                    <a:pt x="497490" y="88623"/>
                  </a:lnTo>
                  <a:lnTo>
                    <a:pt x="5059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0362" y="2736850"/>
              <a:ext cx="631825" cy="1090930"/>
            </a:xfrm>
            <a:custGeom>
              <a:avLst/>
              <a:gdLst/>
              <a:ahLst/>
              <a:cxnLst/>
              <a:rect l="l" t="t" r="r" b="b"/>
              <a:pathLst>
                <a:path w="631825" h="1090929">
                  <a:moveTo>
                    <a:pt x="631825" y="0"/>
                  </a:moveTo>
                  <a:lnTo>
                    <a:pt x="0" y="0"/>
                  </a:lnTo>
                  <a:lnTo>
                    <a:pt x="1251" y="41311"/>
                  </a:lnTo>
                  <a:lnTo>
                    <a:pt x="4736" y="87282"/>
                  </a:lnTo>
                  <a:lnTo>
                    <a:pt x="10048" y="137110"/>
                  </a:lnTo>
                  <a:lnTo>
                    <a:pt x="16781" y="189994"/>
                  </a:lnTo>
                  <a:lnTo>
                    <a:pt x="24529" y="245131"/>
                  </a:lnTo>
                  <a:lnTo>
                    <a:pt x="49803" y="416053"/>
                  </a:lnTo>
                  <a:lnTo>
                    <a:pt x="57551" y="472192"/>
                  </a:lnTo>
                  <a:lnTo>
                    <a:pt x="64284" y="526577"/>
                  </a:lnTo>
                  <a:lnTo>
                    <a:pt x="69596" y="578406"/>
                  </a:lnTo>
                  <a:lnTo>
                    <a:pt x="73081" y="626880"/>
                  </a:lnTo>
                  <a:lnTo>
                    <a:pt x="74333" y="671194"/>
                  </a:lnTo>
                  <a:lnTo>
                    <a:pt x="74231" y="727918"/>
                  </a:lnTo>
                  <a:lnTo>
                    <a:pt x="73517" y="778080"/>
                  </a:lnTo>
                  <a:lnTo>
                    <a:pt x="71580" y="823411"/>
                  </a:lnTo>
                  <a:lnTo>
                    <a:pt x="67807" y="865637"/>
                  </a:lnTo>
                  <a:lnTo>
                    <a:pt x="61587" y="906487"/>
                  </a:lnTo>
                  <a:lnTo>
                    <a:pt x="52308" y="947688"/>
                  </a:lnTo>
                  <a:lnTo>
                    <a:pt x="39358" y="990967"/>
                  </a:lnTo>
                  <a:lnTo>
                    <a:pt x="22126" y="1038054"/>
                  </a:lnTo>
                  <a:lnTo>
                    <a:pt x="0" y="1090676"/>
                  </a:lnTo>
                  <a:lnTo>
                    <a:pt x="631825" y="1090549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0640" y="2735326"/>
              <a:ext cx="476250" cy="1092835"/>
            </a:xfrm>
            <a:custGeom>
              <a:avLst/>
              <a:gdLst/>
              <a:ahLst/>
              <a:cxnLst/>
              <a:rect l="l" t="t" r="r" b="b"/>
              <a:pathLst>
                <a:path w="476250" h="1092835">
                  <a:moveTo>
                    <a:pt x="445653" y="0"/>
                  </a:moveTo>
                  <a:lnTo>
                    <a:pt x="30515" y="0"/>
                  </a:lnTo>
                  <a:lnTo>
                    <a:pt x="17828" y="27907"/>
                  </a:lnTo>
                  <a:lnTo>
                    <a:pt x="8894" y="62948"/>
                  </a:lnTo>
                  <a:lnTo>
                    <a:pt x="3263" y="104114"/>
                  </a:lnTo>
                  <a:lnTo>
                    <a:pt x="485" y="150394"/>
                  </a:lnTo>
                  <a:lnTo>
                    <a:pt x="110" y="200778"/>
                  </a:lnTo>
                  <a:lnTo>
                    <a:pt x="1686" y="254255"/>
                  </a:lnTo>
                  <a:lnTo>
                    <a:pt x="4764" y="309816"/>
                  </a:lnTo>
                  <a:lnTo>
                    <a:pt x="8894" y="366450"/>
                  </a:lnTo>
                  <a:lnTo>
                    <a:pt x="23083" y="532686"/>
                  </a:lnTo>
                  <a:lnTo>
                    <a:pt x="26912" y="583509"/>
                  </a:lnTo>
                  <a:lnTo>
                    <a:pt x="29539" y="630354"/>
                  </a:lnTo>
                  <a:lnTo>
                    <a:pt x="30515" y="672211"/>
                  </a:lnTo>
                  <a:lnTo>
                    <a:pt x="28255" y="732279"/>
                  </a:lnTo>
                  <a:lnTo>
                    <a:pt x="22603" y="790614"/>
                  </a:lnTo>
                  <a:lnTo>
                    <a:pt x="15256" y="846525"/>
                  </a:lnTo>
                  <a:lnTo>
                    <a:pt x="7909" y="899322"/>
                  </a:lnTo>
                  <a:lnTo>
                    <a:pt x="2259" y="948315"/>
                  </a:lnTo>
                  <a:lnTo>
                    <a:pt x="0" y="992815"/>
                  </a:lnTo>
                  <a:lnTo>
                    <a:pt x="2828" y="1032131"/>
                  </a:lnTo>
                  <a:lnTo>
                    <a:pt x="12439" y="1065574"/>
                  </a:lnTo>
                  <a:lnTo>
                    <a:pt x="30528" y="1092453"/>
                  </a:lnTo>
                  <a:lnTo>
                    <a:pt x="445653" y="1092453"/>
                  </a:lnTo>
                  <a:lnTo>
                    <a:pt x="445653" y="924305"/>
                  </a:lnTo>
                  <a:lnTo>
                    <a:pt x="446193" y="892316"/>
                  </a:lnTo>
                  <a:lnTo>
                    <a:pt x="447693" y="854310"/>
                  </a:lnTo>
                  <a:lnTo>
                    <a:pt x="449972" y="811022"/>
                  </a:lnTo>
                  <a:lnTo>
                    <a:pt x="452852" y="763187"/>
                  </a:lnTo>
                  <a:lnTo>
                    <a:pt x="459691" y="656817"/>
                  </a:lnTo>
                  <a:lnTo>
                    <a:pt x="466770" y="541083"/>
                  </a:lnTo>
                  <a:lnTo>
                    <a:pt x="469949" y="481542"/>
                  </a:lnTo>
                  <a:lnTo>
                    <a:pt x="472649" y="421866"/>
                  </a:lnTo>
                  <a:lnTo>
                    <a:pt x="474689" y="362790"/>
                  </a:lnTo>
                  <a:lnTo>
                    <a:pt x="475888" y="305048"/>
                  </a:lnTo>
                  <a:lnTo>
                    <a:pt x="476068" y="249377"/>
                  </a:lnTo>
                  <a:lnTo>
                    <a:pt x="475049" y="196512"/>
                  </a:lnTo>
                  <a:lnTo>
                    <a:pt x="472649" y="147187"/>
                  </a:lnTo>
                  <a:lnTo>
                    <a:pt x="468689" y="102138"/>
                  </a:lnTo>
                  <a:lnTo>
                    <a:pt x="462990" y="62101"/>
                  </a:lnTo>
                  <a:lnTo>
                    <a:pt x="455371" y="27809"/>
                  </a:lnTo>
                  <a:lnTo>
                    <a:pt x="445653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2688336"/>
              <a:ext cx="10081259" cy="4878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530186"/>
              <a:ext cx="10079736" cy="33010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923413" y="1424432"/>
            <a:ext cx="4142740" cy="932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i="1" dirty="0">
                <a:solidFill>
                  <a:srgbClr val="FF0000"/>
                </a:solidFill>
                <a:latin typeface="Times New Roman"/>
                <a:cs typeface="Times New Roman"/>
              </a:rPr>
              <a:t>Pointers in</a:t>
            </a:r>
            <a:r>
              <a:rPr sz="5950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5950" i="1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endParaRPr sz="5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070098" y="16510"/>
            <a:ext cx="390842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Basic</a:t>
            </a:r>
            <a:r>
              <a:rPr sz="4850" i="1" spc="-5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Concepts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964" y="1152906"/>
            <a:ext cx="9629775" cy="3961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715" indent="-378460">
              <a:lnSpc>
                <a:spcPct val="100000"/>
              </a:lnSpc>
              <a:spcBef>
                <a:spcPts val="1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latin typeface="Arial"/>
                <a:cs typeface="Arial"/>
              </a:rPr>
              <a:t>In </a:t>
            </a:r>
            <a:r>
              <a:rPr sz="2650" b="1" spc="-10" dirty="0">
                <a:latin typeface="Arial"/>
                <a:cs typeface="Arial"/>
              </a:rPr>
              <a:t>memory, </a:t>
            </a:r>
            <a:r>
              <a:rPr sz="2650" b="1" dirty="0">
                <a:latin typeface="Arial"/>
                <a:cs typeface="Arial"/>
              </a:rPr>
              <a:t>every </a:t>
            </a:r>
            <a:r>
              <a:rPr sz="2650" b="1" spc="-5" dirty="0">
                <a:latin typeface="Arial"/>
                <a:cs typeface="Arial"/>
              </a:rPr>
              <a:t>stored data item occupies one </a:t>
            </a:r>
            <a:r>
              <a:rPr sz="2650" b="1" spc="-10" dirty="0">
                <a:latin typeface="Arial"/>
                <a:cs typeface="Arial"/>
              </a:rPr>
              <a:t>or </a:t>
            </a:r>
            <a:r>
              <a:rPr sz="2650" b="1" dirty="0">
                <a:latin typeface="Arial"/>
                <a:cs typeface="Arial"/>
              </a:rPr>
              <a:t>more  </a:t>
            </a:r>
            <a:r>
              <a:rPr sz="2650" b="1" spc="-5" dirty="0">
                <a:latin typeface="Arial"/>
                <a:cs typeface="Arial"/>
              </a:rPr>
              <a:t>contiguous memory </a:t>
            </a:r>
            <a:r>
              <a:rPr sz="2650" b="1" dirty="0">
                <a:latin typeface="Arial"/>
                <a:cs typeface="Arial"/>
              </a:rPr>
              <a:t>cells (each cell </a:t>
            </a:r>
            <a:r>
              <a:rPr sz="2650" b="1" spc="-5" dirty="0">
                <a:latin typeface="Arial"/>
                <a:cs typeface="Arial"/>
              </a:rPr>
              <a:t>is of </a:t>
            </a:r>
            <a:r>
              <a:rPr sz="2650" b="1" dirty="0">
                <a:latin typeface="Arial"/>
                <a:cs typeface="Arial"/>
              </a:rPr>
              <a:t>1</a:t>
            </a:r>
            <a:r>
              <a:rPr sz="2650" b="1" spc="-65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byte).</a:t>
            </a:r>
            <a:endParaRPr sz="2650">
              <a:latin typeface="Arial"/>
              <a:cs typeface="Arial"/>
            </a:endParaRPr>
          </a:p>
          <a:p>
            <a:pPr marL="927100" marR="6350">
              <a:lnSpc>
                <a:spcPts val="3170"/>
              </a:lnSpc>
              <a:spcBef>
                <a:spcPts val="715"/>
              </a:spcBef>
              <a:tabLst>
                <a:tab pos="1916430" algn="l"/>
                <a:tab pos="3350260" algn="l"/>
                <a:tab pos="3870325" algn="l"/>
                <a:tab pos="5380990" algn="l"/>
                <a:tab pos="6333490" algn="l"/>
                <a:tab pos="7880350" algn="l"/>
                <a:tab pos="8401685" algn="l"/>
                <a:tab pos="9427845" algn="l"/>
              </a:tabLst>
            </a:pPr>
            <a:r>
              <a:rPr sz="265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Th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e	</a:t>
            </a:r>
            <a:r>
              <a:rPr sz="2650" b="1" spc="-15" dirty="0">
                <a:solidFill>
                  <a:srgbClr val="C00000"/>
                </a:solidFill>
                <a:latin typeface="Arial"/>
                <a:cs typeface="Arial"/>
              </a:rPr>
              <a:t>nu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mber	</a:t>
            </a:r>
            <a:r>
              <a:rPr sz="2650" b="1" spc="-1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f	me</a:t>
            </a:r>
            <a:r>
              <a:rPr sz="2650" b="1" spc="-15" dirty="0">
                <a:solidFill>
                  <a:srgbClr val="C00000"/>
                </a:solidFill>
                <a:latin typeface="Arial"/>
                <a:cs typeface="Arial"/>
              </a:rPr>
              <a:t>mo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ry	cells	re</a:t>
            </a:r>
            <a:r>
              <a:rPr sz="2650" b="1" spc="-15" dirty="0">
                <a:solidFill>
                  <a:srgbClr val="C00000"/>
                </a:solidFill>
                <a:latin typeface="Arial"/>
                <a:cs typeface="Arial"/>
              </a:rPr>
              <a:t>q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uired	to	store	a  data item depends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on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its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type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(char, int, double,</a:t>
            </a:r>
            <a:r>
              <a:rPr sz="2650" b="1" spc="-1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etc.).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Arial"/>
              <a:cs typeface="Arial"/>
            </a:endParaRPr>
          </a:p>
          <a:p>
            <a:pPr marL="390525" marR="6350" indent="-378460">
              <a:lnSpc>
                <a:spcPct val="100000"/>
              </a:lnSpc>
              <a:tabLst>
                <a:tab pos="390525" algn="l"/>
                <a:tab pos="2185670" algn="l"/>
                <a:tab pos="2829560" algn="l"/>
                <a:tab pos="4197985" algn="l"/>
                <a:tab pos="4575810" algn="l"/>
                <a:tab pos="6132195" algn="l"/>
                <a:tab pos="6825615" algn="l"/>
                <a:tab pos="817435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Whenev</a:t>
            </a:r>
            <a:r>
              <a:rPr sz="2650" b="1" spc="-15" dirty="0">
                <a:latin typeface="Arial"/>
                <a:cs typeface="Arial"/>
              </a:rPr>
              <a:t>e</a:t>
            </a:r>
            <a:r>
              <a:rPr sz="2650" b="1" dirty="0">
                <a:latin typeface="Arial"/>
                <a:cs typeface="Arial"/>
              </a:rPr>
              <a:t>r	</a:t>
            </a:r>
            <a:r>
              <a:rPr sz="2650" b="1" spc="20" dirty="0">
                <a:latin typeface="Arial"/>
                <a:cs typeface="Arial"/>
              </a:rPr>
              <a:t>w</a:t>
            </a:r>
            <a:r>
              <a:rPr sz="2650" b="1" dirty="0">
                <a:latin typeface="Arial"/>
                <a:cs typeface="Arial"/>
              </a:rPr>
              <a:t>e	de</a:t>
            </a:r>
            <a:r>
              <a:rPr sz="2650" b="1" spc="-15" dirty="0">
                <a:latin typeface="Arial"/>
                <a:cs typeface="Arial"/>
              </a:rPr>
              <a:t>c</a:t>
            </a:r>
            <a:r>
              <a:rPr sz="2650" b="1" dirty="0">
                <a:latin typeface="Arial"/>
                <a:cs typeface="Arial"/>
              </a:rPr>
              <a:t>lare	a	variable,	t</a:t>
            </a:r>
            <a:r>
              <a:rPr sz="2650" b="1" spc="-20" dirty="0">
                <a:latin typeface="Arial"/>
                <a:cs typeface="Arial"/>
              </a:rPr>
              <a:t>h</a:t>
            </a:r>
            <a:r>
              <a:rPr sz="2650" b="1" dirty="0">
                <a:latin typeface="Arial"/>
                <a:cs typeface="Arial"/>
              </a:rPr>
              <a:t>e	</a:t>
            </a:r>
            <a:r>
              <a:rPr sz="2650" b="1" spc="10" dirty="0">
                <a:latin typeface="Arial"/>
                <a:cs typeface="Arial"/>
              </a:rPr>
              <a:t>s</a:t>
            </a:r>
            <a:r>
              <a:rPr sz="2650" b="1" spc="-25" dirty="0">
                <a:latin typeface="Arial"/>
                <a:cs typeface="Arial"/>
              </a:rPr>
              <a:t>y</a:t>
            </a:r>
            <a:r>
              <a:rPr sz="2650" b="1" dirty="0">
                <a:latin typeface="Arial"/>
                <a:cs typeface="Arial"/>
              </a:rPr>
              <a:t>stem	al</a:t>
            </a:r>
            <a:r>
              <a:rPr sz="2650" b="1" spc="-10" dirty="0">
                <a:latin typeface="Arial"/>
                <a:cs typeface="Arial"/>
              </a:rPr>
              <a:t>l</a:t>
            </a:r>
            <a:r>
              <a:rPr sz="2650" b="1" dirty="0">
                <a:latin typeface="Arial"/>
                <a:cs typeface="Arial"/>
              </a:rPr>
              <a:t>ocates  memory </a:t>
            </a:r>
            <a:r>
              <a:rPr sz="2650" b="1" spc="-5" dirty="0">
                <a:latin typeface="Arial"/>
                <a:cs typeface="Arial"/>
              </a:rPr>
              <a:t>location(s) </a:t>
            </a:r>
            <a:r>
              <a:rPr sz="2650" b="1" dirty="0">
                <a:latin typeface="Arial"/>
                <a:cs typeface="Arial"/>
              </a:rPr>
              <a:t>to </a:t>
            </a:r>
            <a:r>
              <a:rPr sz="2650" b="1" spc="-5" dirty="0">
                <a:latin typeface="Arial"/>
                <a:cs typeface="Arial"/>
              </a:rPr>
              <a:t>hold </a:t>
            </a:r>
            <a:r>
              <a:rPr sz="2650" b="1" dirty="0">
                <a:latin typeface="Arial"/>
                <a:cs typeface="Arial"/>
              </a:rPr>
              <a:t>the value </a:t>
            </a:r>
            <a:r>
              <a:rPr sz="2650" b="1" spc="-5" dirty="0">
                <a:latin typeface="Arial"/>
                <a:cs typeface="Arial"/>
              </a:rPr>
              <a:t>of </a:t>
            </a:r>
            <a:r>
              <a:rPr sz="2650" b="1" dirty="0">
                <a:latin typeface="Arial"/>
                <a:cs typeface="Arial"/>
              </a:rPr>
              <a:t>the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variable.</a:t>
            </a:r>
            <a:endParaRPr sz="2650">
              <a:latin typeface="Arial"/>
              <a:cs typeface="Arial"/>
            </a:endParaRPr>
          </a:p>
          <a:p>
            <a:pPr marL="927100" marR="5080">
              <a:lnSpc>
                <a:spcPts val="3170"/>
              </a:lnSpc>
              <a:spcBef>
                <a:spcPts val="715"/>
              </a:spcBef>
            </a:pPr>
            <a:r>
              <a:rPr sz="2650" dirty="0">
                <a:solidFill>
                  <a:srgbClr val="C00000"/>
                </a:solidFill>
                <a:latin typeface="Arial"/>
                <a:cs typeface="Arial"/>
              </a:rPr>
              <a:t>–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Since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every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byte in memory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has a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unique address, 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this location </a:t>
            </a:r>
            <a:r>
              <a:rPr sz="2650" b="1" spc="5" dirty="0">
                <a:solidFill>
                  <a:srgbClr val="C00000"/>
                </a:solidFill>
                <a:latin typeface="Arial"/>
                <a:cs typeface="Arial"/>
              </a:rPr>
              <a:t>will </a:t>
            </a:r>
            <a:r>
              <a:rPr sz="2650" b="1" dirty="0">
                <a:solidFill>
                  <a:srgbClr val="C00000"/>
                </a:solidFill>
                <a:latin typeface="Arial"/>
                <a:cs typeface="Arial"/>
              </a:rPr>
              <a:t>also have its </a:t>
            </a:r>
            <a:r>
              <a:rPr sz="2650" b="1" spc="5" dirty="0">
                <a:solidFill>
                  <a:srgbClr val="C00000"/>
                </a:solidFill>
                <a:latin typeface="Arial"/>
                <a:cs typeface="Arial"/>
              </a:rPr>
              <a:t>own </a:t>
            </a:r>
            <a:r>
              <a:rPr sz="2650" b="1" spc="-10" dirty="0">
                <a:solidFill>
                  <a:srgbClr val="C00000"/>
                </a:solidFill>
                <a:latin typeface="Arial"/>
                <a:cs typeface="Arial"/>
              </a:rPr>
              <a:t>(unique)</a:t>
            </a:r>
            <a:r>
              <a:rPr sz="2650" b="1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C00000"/>
                </a:solidFill>
                <a:latin typeface="Arial"/>
                <a:cs typeface="Arial"/>
              </a:rPr>
              <a:t>address.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739" y="1106729"/>
            <a:ext cx="8597265" cy="29038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dirty="0">
                <a:latin typeface="Arial"/>
                <a:cs typeface="Arial"/>
              </a:rPr>
              <a:t>Consider the</a:t>
            </a:r>
            <a:r>
              <a:rPr sz="2650" spc="-2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declaration,</a:t>
            </a:r>
            <a:endParaRPr sz="2650">
              <a:latin typeface="Arial"/>
              <a:cs typeface="Arial"/>
            </a:endParaRPr>
          </a:p>
          <a:p>
            <a:pPr marL="1608455">
              <a:lnSpc>
                <a:spcPct val="100000"/>
              </a:lnSpc>
              <a:spcBef>
                <a:spcPts val="605"/>
              </a:spcBef>
            </a:pPr>
            <a:r>
              <a:rPr sz="2650" dirty="0">
                <a:latin typeface="Arial"/>
                <a:cs typeface="Arial"/>
              </a:rPr>
              <a:t>int i = 3</a:t>
            </a:r>
            <a:r>
              <a:rPr sz="2650" spc="-1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;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dirty="0">
                <a:latin typeface="Arial"/>
                <a:cs typeface="Arial"/>
              </a:rPr>
              <a:t>This declaration tells the C compiler</a:t>
            </a:r>
            <a:r>
              <a:rPr sz="2650" spc="-65" dirty="0">
                <a:latin typeface="Arial"/>
                <a:cs typeface="Arial"/>
              </a:rPr>
              <a:t> </a:t>
            </a:r>
            <a:r>
              <a:rPr sz="2650" spc="-5" dirty="0">
                <a:latin typeface="Arial"/>
                <a:cs typeface="Arial"/>
              </a:rPr>
              <a:t>to:</a:t>
            </a:r>
            <a:endParaRPr sz="2650">
              <a:latin typeface="Arial"/>
              <a:cs typeface="Arial"/>
            </a:endParaRPr>
          </a:p>
          <a:p>
            <a:pPr marL="893444" indent="-503555">
              <a:lnSpc>
                <a:spcPct val="100000"/>
              </a:lnSpc>
              <a:spcBef>
                <a:spcPts val="585"/>
              </a:spcBef>
              <a:buAutoNum type="alphaLcParenBoth"/>
              <a:tabLst>
                <a:tab pos="894080" algn="l"/>
              </a:tabLst>
            </a:pPr>
            <a:r>
              <a:rPr sz="2650" dirty="0">
                <a:latin typeface="Arial"/>
                <a:cs typeface="Arial"/>
              </a:rPr>
              <a:t>Reserve space </a:t>
            </a:r>
            <a:r>
              <a:rPr sz="2650" spc="-5" dirty="0">
                <a:latin typeface="Arial"/>
                <a:cs typeface="Arial"/>
              </a:rPr>
              <a:t>in </a:t>
            </a:r>
            <a:r>
              <a:rPr sz="2650" dirty="0">
                <a:latin typeface="Arial"/>
                <a:cs typeface="Arial"/>
              </a:rPr>
              <a:t>memory </a:t>
            </a:r>
            <a:r>
              <a:rPr sz="2650" spc="-5" dirty="0">
                <a:latin typeface="Arial"/>
                <a:cs typeface="Arial"/>
              </a:rPr>
              <a:t>to </a:t>
            </a:r>
            <a:r>
              <a:rPr sz="2650" dirty="0">
                <a:latin typeface="Arial"/>
                <a:cs typeface="Arial"/>
              </a:rPr>
              <a:t>hold the integer</a:t>
            </a:r>
            <a:r>
              <a:rPr sz="2650" spc="-9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value.</a:t>
            </a:r>
            <a:endParaRPr sz="2650">
              <a:latin typeface="Arial"/>
              <a:cs typeface="Arial"/>
            </a:endParaRPr>
          </a:p>
          <a:p>
            <a:pPr marL="893444" indent="-503555">
              <a:lnSpc>
                <a:spcPct val="100000"/>
              </a:lnSpc>
              <a:spcBef>
                <a:spcPts val="600"/>
              </a:spcBef>
              <a:buAutoNum type="alphaLcParenBoth"/>
              <a:tabLst>
                <a:tab pos="894080" algn="l"/>
              </a:tabLst>
            </a:pPr>
            <a:r>
              <a:rPr sz="2650" dirty="0">
                <a:latin typeface="Arial"/>
                <a:cs typeface="Arial"/>
              </a:rPr>
              <a:t>Associate the name </a:t>
            </a:r>
            <a:r>
              <a:rPr sz="2650" b="1" dirty="0">
                <a:latin typeface="Arial"/>
                <a:cs typeface="Arial"/>
              </a:rPr>
              <a:t>i </a:t>
            </a:r>
            <a:r>
              <a:rPr sz="2650" b="1" spc="5" dirty="0">
                <a:latin typeface="Arial"/>
                <a:cs typeface="Arial"/>
              </a:rPr>
              <a:t>with </a:t>
            </a:r>
            <a:r>
              <a:rPr sz="2650" b="1" dirty="0">
                <a:latin typeface="Arial"/>
                <a:cs typeface="Arial"/>
              </a:rPr>
              <a:t>this memory</a:t>
            </a:r>
            <a:r>
              <a:rPr sz="2650" b="1" spc="-1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location.</a:t>
            </a:r>
            <a:endParaRPr sz="2650">
              <a:latin typeface="Arial"/>
              <a:cs typeface="Arial"/>
            </a:endParaRPr>
          </a:p>
          <a:p>
            <a:pPr marL="875030" indent="-485140">
              <a:lnSpc>
                <a:spcPct val="100000"/>
              </a:lnSpc>
              <a:spcBef>
                <a:spcPts val="590"/>
              </a:spcBef>
              <a:buAutoNum type="alphaLcParenBoth"/>
              <a:tabLst>
                <a:tab pos="875665" algn="l"/>
              </a:tabLst>
            </a:pPr>
            <a:r>
              <a:rPr sz="2650" dirty="0">
                <a:latin typeface="Arial"/>
                <a:cs typeface="Arial"/>
              </a:rPr>
              <a:t>Store the value 3 at this</a:t>
            </a:r>
            <a:r>
              <a:rPr sz="2650" spc="-40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location.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32416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Introduction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178161" y="5051401"/>
            <a:ext cx="5498617" cy="1726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171958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Contd.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8539" y="1007534"/>
            <a:ext cx="9817735" cy="32308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Consider the</a:t>
            </a:r>
            <a:r>
              <a:rPr sz="2650" b="1" spc="-6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statement</a:t>
            </a:r>
            <a:endParaRPr sz="265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solidFill>
                  <a:srgbClr val="296FFF"/>
                </a:solidFill>
                <a:latin typeface="Arial"/>
                <a:cs typeface="Arial"/>
              </a:rPr>
              <a:t>int </a:t>
            </a:r>
            <a:r>
              <a:rPr sz="2650" b="1" spc="-10" dirty="0">
                <a:solidFill>
                  <a:srgbClr val="296FFF"/>
                </a:solidFill>
                <a:latin typeface="Arial"/>
                <a:cs typeface="Arial"/>
              </a:rPr>
              <a:t>xyz </a:t>
            </a:r>
            <a:r>
              <a:rPr sz="2650" b="1" dirty="0">
                <a:solidFill>
                  <a:srgbClr val="296FFF"/>
                </a:solidFill>
                <a:latin typeface="Arial"/>
                <a:cs typeface="Arial"/>
              </a:rPr>
              <a:t>=</a:t>
            </a:r>
            <a:r>
              <a:rPr sz="2650" b="1" spc="15" dirty="0">
                <a:solidFill>
                  <a:srgbClr val="296FFF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296FFF"/>
                </a:solidFill>
                <a:latin typeface="Arial"/>
                <a:cs typeface="Arial"/>
              </a:rPr>
              <a:t>50;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Arial"/>
              <a:cs typeface="Arial"/>
            </a:endParaRPr>
          </a:p>
          <a:p>
            <a:pPr marL="390525" marR="5080" algn="just">
              <a:lnSpc>
                <a:spcPct val="99800"/>
              </a:lnSpc>
              <a:buFont typeface="Arial"/>
              <a:buChar char="–"/>
              <a:tabLst>
                <a:tab pos="812165" algn="l"/>
              </a:tabLst>
            </a:pPr>
            <a:r>
              <a:rPr sz="2650" b="1" dirty="0">
                <a:latin typeface="Arial"/>
                <a:cs typeface="Arial"/>
              </a:rPr>
              <a:t>This </a:t>
            </a:r>
            <a:r>
              <a:rPr sz="2650" b="1" spc="-5" dirty="0">
                <a:latin typeface="Arial"/>
                <a:cs typeface="Arial"/>
              </a:rPr>
              <a:t>statement instructs </a:t>
            </a:r>
            <a:r>
              <a:rPr sz="2650" b="1" dirty="0">
                <a:latin typeface="Arial"/>
                <a:cs typeface="Arial"/>
              </a:rPr>
              <a:t>the </a:t>
            </a:r>
            <a:r>
              <a:rPr sz="2650" b="1" spc="-5" dirty="0">
                <a:latin typeface="Arial"/>
                <a:cs typeface="Arial"/>
              </a:rPr>
              <a:t>compiler to allocate </a:t>
            </a:r>
            <a:r>
              <a:rPr sz="2650" b="1" dirty="0">
                <a:latin typeface="Arial"/>
                <a:cs typeface="Arial"/>
              </a:rPr>
              <a:t>a  </a:t>
            </a:r>
            <a:r>
              <a:rPr sz="2650" b="1" spc="-5" dirty="0">
                <a:latin typeface="Arial"/>
                <a:cs typeface="Arial"/>
              </a:rPr>
              <a:t>location </a:t>
            </a:r>
            <a:r>
              <a:rPr sz="2650" b="1" dirty="0">
                <a:latin typeface="Arial"/>
                <a:cs typeface="Arial"/>
              </a:rPr>
              <a:t>for the </a:t>
            </a:r>
            <a:r>
              <a:rPr sz="2650" b="1" spc="-5" dirty="0">
                <a:latin typeface="Arial"/>
                <a:cs typeface="Arial"/>
              </a:rPr>
              <a:t>integer variable </a:t>
            </a:r>
            <a:r>
              <a:rPr sz="2650" b="1" spc="-5" dirty="0">
                <a:solidFill>
                  <a:srgbClr val="FF0000"/>
                </a:solidFill>
                <a:latin typeface="Arial"/>
                <a:cs typeface="Arial"/>
              </a:rPr>
              <a:t>xyz</a:t>
            </a:r>
            <a:r>
              <a:rPr sz="2650" b="1" spc="-5" dirty="0">
                <a:latin typeface="Arial"/>
                <a:cs typeface="Arial"/>
              </a:rPr>
              <a:t>, </a:t>
            </a:r>
            <a:r>
              <a:rPr sz="2650" b="1" dirty="0">
                <a:latin typeface="Arial"/>
                <a:cs typeface="Arial"/>
              </a:rPr>
              <a:t>and </a:t>
            </a:r>
            <a:r>
              <a:rPr sz="2650" b="1" spc="-5" dirty="0">
                <a:latin typeface="Arial"/>
                <a:cs typeface="Arial"/>
              </a:rPr>
              <a:t>put </a:t>
            </a:r>
            <a:r>
              <a:rPr sz="2650" b="1" dirty="0">
                <a:latin typeface="Arial"/>
                <a:cs typeface="Arial"/>
              </a:rPr>
              <a:t>the value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50 </a:t>
            </a:r>
            <a:r>
              <a:rPr sz="2650" b="1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in </a:t>
            </a:r>
            <a:r>
              <a:rPr sz="2650" b="1" dirty="0">
                <a:latin typeface="Arial"/>
                <a:cs typeface="Arial"/>
              </a:rPr>
              <a:t>that</a:t>
            </a:r>
            <a:r>
              <a:rPr sz="2650" b="1" spc="-3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location.</a:t>
            </a:r>
            <a:endParaRPr sz="2650">
              <a:latin typeface="Arial"/>
              <a:cs typeface="Arial"/>
            </a:endParaRPr>
          </a:p>
          <a:p>
            <a:pPr marL="671195" indent="-281305" algn="just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671830" algn="l"/>
              </a:tabLst>
            </a:pPr>
            <a:r>
              <a:rPr sz="2650" b="1" dirty="0">
                <a:latin typeface="Arial"/>
                <a:cs typeface="Arial"/>
              </a:rPr>
              <a:t>Suppose that the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 location chosen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2650" b="1" spc="-1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1380.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87879" y="4803978"/>
            <a:ext cx="505968" cy="3767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06167" y="5372989"/>
            <a:ext cx="505968" cy="3764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06167" y="5941466"/>
            <a:ext cx="505968" cy="376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044194" y="4811527"/>
          <a:ext cx="5311140" cy="151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797">
                <a:tc>
                  <a:txBody>
                    <a:bodyPr/>
                    <a:lstStyle/>
                    <a:p>
                      <a:pPr marL="31750">
                        <a:lnSpc>
                          <a:spcPts val="2935"/>
                        </a:lnSpc>
                      </a:pPr>
                      <a:r>
                        <a:rPr sz="265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xyz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ts val="2935"/>
                        </a:lnSpc>
                      </a:pPr>
                      <a:r>
                        <a:rPr sz="265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Variable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54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650" b="1" dirty="0">
                          <a:solidFill>
                            <a:srgbClr val="002573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650" b="1" dirty="0">
                          <a:solidFill>
                            <a:srgbClr val="002573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362">
                <a:tc>
                  <a:txBody>
                    <a:bodyPr/>
                    <a:lstStyle/>
                    <a:p>
                      <a:pPr marL="31750">
                        <a:lnSpc>
                          <a:spcPts val="3110"/>
                        </a:lnSpc>
                        <a:spcBef>
                          <a:spcPts val="505"/>
                        </a:spcBef>
                      </a:pPr>
                      <a:r>
                        <a:rPr sz="265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1380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463550">
                        <a:lnSpc>
                          <a:spcPts val="3110"/>
                        </a:lnSpc>
                        <a:spcBef>
                          <a:spcPts val="505"/>
                        </a:spcBef>
                      </a:pPr>
                      <a:r>
                        <a:rPr sz="265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110"/>
                        </a:lnSpc>
                        <a:spcBef>
                          <a:spcPts val="505"/>
                        </a:spcBef>
                      </a:pPr>
                      <a:r>
                        <a:rPr sz="265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(assumption)</a:t>
                      </a:r>
                      <a:endParaRPr sz="265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171958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Contd.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135507"/>
            <a:ext cx="9890125" cy="248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8255" indent="-378460">
              <a:lnSpc>
                <a:spcPct val="100000"/>
              </a:lnSpc>
              <a:spcBef>
                <a:spcPts val="100"/>
              </a:spcBef>
              <a:tabLst>
                <a:tab pos="390525" algn="l"/>
                <a:tab pos="1728470" algn="l"/>
                <a:tab pos="3551554" algn="l"/>
                <a:tab pos="4124960" algn="l"/>
                <a:tab pos="4883785" algn="l"/>
                <a:tab pos="6593840" algn="l"/>
                <a:tab pos="7354570" algn="l"/>
                <a:tab pos="8770620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Dur</a:t>
            </a:r>
            <a:r>
              <a:rPr sz="2650" b="1" spc="-15" dirty="0">
                <a:latin typeface="Arial"/>
                <a:cs typeface="Arial"/>
              </a:rPr>
              <a:t>in</a:t>
            </a:r>
            <a:r>
              <a:rPr sz="2650" b="1" dirty="0">
                <a:latin typeface="Arial"/>
                <a:cs typeface="Arial"/>
              </a:rPr>
              <a:t>g	</a:t>
            </a:r>
            <a:r>
              <a:rPr sz="2650" b="1" spc="-15" dirty="0">
                <a:latin typeface="Arial"/>
                <a:cs typeface="Arial"/>
              </a:rPr>
              <a:t>e</a:t>
            </a:r>
            <a:r>
              <a:rPr sz="2650" b="1" dirty="0">
                <a:latin typeface="Arial"/>
                <a:cs typeface="Arial"/>
              </a:rPr>
              <a:t>xecut</a:t>
            </a:r>
            <a:r>
              <a:rPr sz="2650" b="1" spc="-10" dirty="0">
                <a:latin typeface="Arial"/>
                <a:cs typeface="Arial"/>
              </a:rPr>
              <a:t>i</a:t>
            </a:r>
            <a:r>
              <a:rPr sz="2650" b="1" spc="-15" dirty="0">
                <a:latin typeface="Arial"/>
                <a:cs typeface="Arial"/>
              </a:rPr>
              <a:t>o</a:t>
            </a:r>
            <a:r>
              <a:rPr sz="2650" b="1" dirty="0">
                <a:latin typeface="Arial"/>
                <a:cs typeface="Arial"/>
              </a:rPr>
              <a:t>n	</a:t>
            </a:r>
            <a:r>
              <a:rPr sz="2650" b="1" spc="-15" dirty="0">
                <a:latin typeface="Arial"/>
                <a:cs typeface="Arial"/>
              </a:rPr>
              <a:t>o</a:t>
            </a:r>
            <a:r>
              <a:rPr sz="2650" b="1" dirty="0">
                <a:latin typeface="Arial"/>
                <a:cs typeface="Arial"/>
              </a:rPr>
              <a:t>f	the	p</a:t>
            </a:r>
            <a:r>
              <a:rPr sz="2650" b="1" spc="-15" dirty="0">
                <a:latin typeface="Arial"/>
                <a:cs typeface="Arial"/>
              </a:rPr>
              <a:t>r</a:t>
            </a:r>
            <a:r>
              <a:rPr sz="2650" b="1" dirty="0">
                <a:latin typeface="Arial"/>
                <a:cs typeface="Arial"/>
              </a:rPr>
              <a:t>o</a:t>
            </a:r>
            <a:r>
              <a:rPr sz="2650" b="1" spc="-15" dirty="0">
                <a:latin typeface="Arial"/>
                <a:cs typeface="Arial"/>
              </a:rPr>
              <a:t>g</a:t>
            </a:r>
            <a:r>
              <a:rPr sz="2650" b="1" dirty="0">
                <a:latin typeface="Arial"/>
                <a:cs typeface="Arial"/>
              </a:rPr>
              <a:t>r</a:t>
            </a:r>
            <a:r>
              <a:rPr sz="2650" b="1" spc="-15" dirty="0">
                <a:latin typeface="Arial"/>
                <a:cs typeface="Arial"/>
              </a:rPr>
              <a:t>a</a:t>
            </a:r>
            <a:r>
              <a:rPr sz="2650" b="1" spc="5" dirty="0">
                <a:latin typeface="Arial"/>
                <a:cs typeface="Arial"/>
              </a:rPr>
              <a:t>m</a:t>
            </a:r>
            <a:r>
              <a:rPr sz="2650" b="1" dirty="0">
                <a:latin typeface="Arial"/>
                <a:cs typeface="Arial"/>
              </a:rPr>
              <a:t>,	the	</a:t>
            </a:r>
            <a:r>
              <a:rPr sz="2650" b="1" spc="10" dirty="0">
                <a:latin typeface="Arial"/>
                <a:cs typeface="Arial"/>
              </a:rPr>
              <a:t>s</a:t>
            </a:r>
            <a:r>
              <a:rPr sz="2650" b="1" spc="-25" dirty="0">
                <a:latin typeface="Arial"/>
                <a:cs typeface="Arial"/>
              </a:rPr>
              <a:t>y</a:t>
            </a:r>
            <a:r>
              <a:rPr sz="2650" b="1" dirty="0">
                <a:latin typeface="Arial"/>
                <a:cs typeface="Arial"/>
              </a:rPr>
              <a:t>stem	a</a:t>
            </a:r>
            <a:r>
              <a:rPr sz="2650" b="1" spc="-20" dirty="0">
                <a:latin typeface="Arial"/>
                <a:cs typeface="Arial"/>
              </a:rPr>
              <a:t>l</a:t>
            </a:r>
            <a:r>
              <a:rPr sz="2650" b="1" spc="20" dirty="0">
                <a:latin typeface="Arial"/>
                <a:cs typeface="Arial"/>
              </a:rPr>
              <a:t>w</a:t>
            </a:r>
            <a:r>
              <a:rPr sz="2650" b="1" dirty="0">
                <a:latin typeface="Arial"/>
                <a:cs typeface="Arial"/>
              </a:rPr>
              <a:t>a</a:t>
            </a:r>
            <a:r>
              <a:rPr sz="2650" b="1" spc="-25" dirty="0">
                <a:latin typeface="Arial"/>
                <a:cs typeface="Arial"/>
              </a:rPr>
              <a:t>y</a:t>
            </a:r>
            <a:r>
              <a:rPr sz="2650" b="1" dirty="0">
                <a:latin typeface="Arial"/>
                <a:cs typeface="Arial"/>
              </a:rPr>
              <a:t>s  associates the name </a:t>
            </a:r>
            <a:r>
              <a:rPr sz="2650" b="1" spc="-10" dirty="0">
                <a:solidFill>
                  <a:srgbClr val="FF0000"/>
                </a:solidFill>
                <a:latin typeface="Arial"/>
                <a:cs typeface="Arial"/>
              </a:rPr>
              <a:t>xyz </a:t>
            </a:r>
            <a:r>
              <a:rPr sz="2650" b="1" spc="5" dirty="0">
                <a:latin typeface="Arial"/>
                <a:cs typeface="Arial"/>
              </a:rPr>
              <a:t>with </a:t>
            </a:r>
            <a:r>
              <a:rPr sz="2650" b="1" dirty="0">
                <a:latin typeface="Arial"/>
                <a:cs typeface="Arial"/>
              </a:rPr>
              <a:t>the address</a:t>
            </a:r>
            <a:r>
              <a:rPr sz="2650" b="1" spc="-120" dirty="0"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1380</a:t>
            </a:r>
            <a:r>
              <a:rPr sz="2650" b="1" spc="-5" dirty="0"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900">
              <a:latin typeface="Arial"/>
              <a:cs typeface="Arial"/>
            </a:endParaRPr>
          </a:p>
          <a:p>
            <a:pPr marL="390525" marR="5080">
              <a:lnSpc>
                <a:spcPct val="100899"/>
              </a:lnSpc>
              <a:tabLst>
                <a:tab pos="757555" algn="l"/>
                <a:tab pos="1789430" algn="l"/>
                <a:tab pos="3170555" algn="l"/>
                <a:tab pos="3905250" algn="l"/>
                <a:tab pos="4196080" algn="l"/>
                <a:tab pos="4912360" algn="l"/>
                <a:tab pos="5671820" algn="l"/>
                <a:tab pos="7924800" algn="l"/>
                <a:tab pos="8683625" algn="l"/>
              </a:tabLst>
            </a:pPr>
            <a:r>
              <a:rPr sz="2650" dirty="0">
                <a:latin typeface="Arial"/>
                <a:cs typeface="Arial"/>
              </a:rPr>
              <a:t>–	</a:t>
            </a:r>
            <a:r>
              <a:rPr sz="3500" b="1" spc="15" dirty="0">
                <a:latin typeface="Arial"/>
                <a:cs typeface="Arial"/>
              </a:rPr>
              <a:t>The	</a:t>
            </a:r>
            <a:r>
              <a:rPr sz="3500" b="1" spc="10" dirty="0">
                <a:latin typeface="Arial"/>
                <a:cs typeface="Arial"/>
              </a:rPr>
              <a:t>value	</a:t>
            </a:r>
            <a:r>
              <a:rPr sz="3500" b="1" spc="20" dirty="0">
                <a:solidFill>
                  <a:srgbClr val="002573"/>
                </a:solidFill>
                <a:latin typeface="Arial"/>
                <a:cs typeface="Arial"/>
              </a:rPr>
              <a:t>5</a:t>
            </a:r>
            <a:r>
              <a:rPr sz="3500" b="1" spc="15" dirty="0">
                <a:solidFill>
                  <a:srgbClr val="002573"/>
                </a:solidFill>
                <a:latin typeface="Arial"/>
                <a:cs typeface="Arial"/>
              </a:rPr>
              <a:t>0</a:t>
            </a:r>
            <a:r>
              <a:rPr sz="3500" b="1" dirty="0">
                <a:solidFill>
                  <a:srgbClr val="002573"/>
                </a:solidFill>
                <a:latin typeface="Arial"/>
                <a:cs typeface="Arial"/>
              </a:rPr>
              <a:t>	</a:t>
            </a:r>
            <a:r>
              <a:rPr sz="3500" b="1" spc="15" dirty="0">
                <a:latin typeface="Arial"/>
                <a:cs typeface="Arial"/>
              </a:rPr>
              <a:t>can</a:t>
            </a:r>
            <a:r>
              <a:rPr sz="3500" b="1" dirty="0">
                <a:latin typeface="Arial"/>
                <a:cs typeface="Arial"/>
              </a:rPr>
              <a:t>	</a:t>
            </a:r>
            <a:r>
              <a:rPr sz="3500" b="1" spc="20" dirty="0">
                <a:latin typeface="Arial"/>
                <a:cs typeface="Arial"/>
              </a:rPr>
              <a:t>b</a:t>
            </a:r>
            <a:r>
              <a:rPr sz="3500" b="1" spc="15" dirty="0">
                <a:latin typeface="Arial"/>
                <a:cs typeface="Arial"/>
              </a:rPr>
              <a:t>e</a:t>
            </a:r>
            <a:r>
              <a:rPr sz="3500" b="1" dirty="0">
                <a:latin typeface="Arial"/>
                <a:cs typeface="Arial"/>
              </a:rPr>
              <a:t>	</a:t>
            </a:r>
            <a:r>
              <a:rPr sz="3500" b="1" spc="15" dirty="0">
                <a:latin typeface="Arial"/>
                <a:cs typeface="Arial"/>
              </a:rPr>
              <a:t>a</a:t>
            </a:r>
            <a:r>
              <a:rPr sz="3500" b="1" dirty="0">
                <a:latin typeface="Arial"/>
                <a:cs typeface="Arial"/>
              </a:rPr>
              <a:t>c</a:t>
            </a:r>
            <a:r>
              <a:rPr sz="3500" b="1" spc="15" dirty="0">
                <a:latin typeface="Arial"/>
                <a:cs typeface="Arial"/>
              </a:rPr>
              <a:t>c</a:t>
            </a:r>
            <a:r>
              <a:rPr sz="3500" b="1" spc="25" dirty="0">
                <a:latin typeface="Arial"/>
                <a:cs typeface="Arial"/>
              </a:rPr>
              <a:t>e</a:t>
            </a:r>
            <a:r>
              <a:rPr sz="3500" b="1" spc="15" dirty="0">
                <a:latin typeface="Arial"/>
                <a:cs typeface="Arial"/>
              </a:rPr>
              <a:t>ssed</a:t>
            </a:r>
            <a:r>
              <a:rPr sz="3500" b="1" dirty="0">
                <a:latin typeface="Arial"/>
                <a:cs typeface="Arial"/>
              </a:rPr>
              <a:t>	</a:t>
            </a:r>
            <a:r>
              <a:rPr sz="3500" b="1" spc="15" dirty="0">
                <a:latin typeface="Arial"/>
                <a:cs typeface="Arial"/>
              </a:rPr>
              <a:t>by</a:t>
            </a:r>
            <a:r>
              <a:rPr sz="3500" b="1" dirty="0">
                <a:latin typeface="Arial"/>
                <a:cs typeface="Arial"/>
              </a:rPr>
              <a:t>	</a:t>
            </a:r>
            <a:r>
              <a:rPr sz="3500" b="1" spc="15" dirty="0">
                <a:latin typeface="Arial"/>
                <a:cs typeface="Arial"/>
              </a:rPr>
              <a:t>u</a:t>
            </a:r>
            <a:r>
              <a:rPr sz="3500" b="1" dirty="0">
                <a:latin typeface="Arial"/>
                <a:cs typeface="Arial"/>
              </a:rPr>
              <a:t>s</a:t>
            </a:r>
            <a:r>
              <a:rPr sz="3500" b="1" spc="10" dirty="0">
                <a:latin typeface="Arial"/>
                <a:cs typeface="Arial"/>
              </a:rPr>
              <a:t>ing  either</a:t>
            </a:r>
            <a:r>
              <a:rPr sz="3500" b="1" dirty="0">
                <a:latin typeface="Arial"/>
                <a:cs typeface="Arial"/>
              </a:rPr>
              <a:t> </a:t>
            </a:r>
            <a:r>
              <a:rPr sz="3500" b="1" spc="10" dirty="0">
                <a:latin typeface="Arial"/>
                <a:cs typeface="Arial"/>
              </a:rPr>
              <a:t>the</a:t>
            </a:r>
            <a:r>
              <a:rPr sz="3500" b="1" spc="20" dirty="0">
                <a:latin typeface="Arial"/>
                <a:cs typeface="Arial"/>
              </a:rPr>
              <a:t> </a:t>
            </a:r>
            <a:r>
              <a:rPr sz="3500" b="1" spc="15" dirty="0">
                <a:latin typeface="Arial"/>
                <a:cs typeface="Arial"/>
              </a:rPr>
              <a:t>name		</a:t>
            </a:r>
            <a:r>
              <a:rPr sz="3500" b="1" spc="15" dirty="0">
                <a:solidFill>
                  <a:srgbClr val="FF0000"/>
                </a:solidFill>
                <a:latin typeface="Arial"/>
                <a:cs typeface="Arial"/>
              </a:rPr>
              <a:t>xyz </a:t>
            </a:r>
            <a:r>
              <a:rPr sz="3500" b="1" spc="15" dirty="0">
                <a:latin typeface="Arial"/>
                <a:cs typeface="Arial"/>
              </a:rPr>
              <a:t>or </a:t>
            </a:r>
            <a:r>
              <a:rPr sz="3500" b="1" spc="10" dirty="0">
                <a:latin typeface="Arial"/>
                <a:cs typeface="Arial"/>
              </a:rPr>
              <a:t>the </a:t>
            </a:r>
            <a:r>
              <a:rPr sz="3500" b="1" spc="15" dirty="0">
                <a:latin typeface="Arial"/>
                <a:cs typeface="Arial"/>
              </a:rPr>
              <a:t>address</a:t>
            </a:r>
            <a:r>
              <a:rPr sz="3500" b="1" spc="-125" dirty="0">
                <a:latin typeface="Arial"/>
                <a:cs typeface="Arial"/>
              </a:rPr>
              <a:t> </a:t>
            </a:r>
            <a:r>
              <a:rPr sz="3500" b="1" spc="15" dirty="0">
                <a:solidFill>
                  <a:srgbClr val="00AF50"/>
                </a:solidFill>
                <a:latin typeface="Arial"/>
                <a:cs typeface="Arial"/>
              </a:rPr>
              <a:t>1380</a:t>
            </a:r>
            <a:r>
              <a:rPr sz="3500" b="1" spc="1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45243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Address vs.</a:t>
            </a:r>
            <a:r>
              <a:rPr sz="4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083056"/>
            <a:ext cx="87947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Each memory cell has an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 associated </a:t>
            </a:r>
            <a:r>
              <a:rPr sz="2650" b="1" spc="5" dirty="0">
                <a:solidFill>
                  <a:srgbClr val="002573"/>
                </a:solidFill>
                <a:latin typeface="Arial"/>
                <a:cs typeface="Arial"/>
              </a:rPr>
              <a:t>with</a:t>
            </a:r>
            <a:r>
              <a:rPr sz="2650" b="1" spc="-200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it.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1511" y="4441063"/>
            <a:ext cx="4917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5980" algn="l"/>
                <a:tab pos="1605915" algn="l"/>
                <a:tab pos="2543175" algn="l"/>
                <a:tab pos="3387090" algn="l"/>
              </a:tabLst>
            </a:pPr>
            <a:r>
              <a:rPr sz="2650" b="1" spc="-5" dirty="0">
                <a:latin typeface="Arial"/>
                <a:cs typeface="Arial"/>
              </a:rPr>
              <a:t>101	102	103	</a:t>
            </a:r>
            <a:r>
              <a:rPr sz="2650" b="1" dirty="0">
                <a:latin typeface="Arial"/>
                <a:cs typeface="Arial"/>
              </a:rPr>
              <a:t>104	</a:t>
            </a:r>
            <a:r>
              <a:rPr sz="2650" b="1" spc="-5" dirty="0">
                <a:latin typeface="Arial"/>
                <a:cs typeface="Arial"/>
              </a:rPr>
              <a:t>105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……..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739" y="53999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85553" y="53999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754061" y="4981574"/>
          <a:ext cx="8227059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38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45243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Address vs.</a:t>
            </a:r>
            <a:r>
              <a:rPr sz="4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007534"/>
            <a:ext cx="8794750" cy="98551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Each memory cell has an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 associated </a:t>
            </a:r>
            <a:r>
              <a:rPr sz="2650" b="1" spc="5" dirty="0">
                <a:solidFill>
                  <a:srgbClr val="002573"/>
                </a:solidFill>
                <a:latin typeface="Arial"/>
                <a:cs typeface="Arial"/>
              </a:rPr>
              <a:t>with</a:t>
            </a:r>
            <a:r>
              <a:rPr sz="2650" b="1" spc="-200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it.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Each </a:t>
            </a:r>
            <a:r>
              <a:rPr sz="2650" b="1" spc="-5" dirty="0">
                <a:solidFill>
                  <a:srgbClr val="002573"/>
                </a:solidFill>
                <a:latin typeface="Arial"/>
                <a:cs typeface="Arial"/>
              </a:rPr>
              <a:t>cell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also stores some</a:t>
            </a:r>
            <a:r>
              <a:rPr sz="2650" b="1" spc="-80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1511" y="4441063"/>
            <a:ext cx="4917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5980" algn="l"/>
                <a:tab pos="1605915" algn="l"/>
                <a:tab pos="2543175" algn="l"/>
                <a:tab pos="3387090" algn="l"/>
              </a:tabLst>
            </a:pPr>
            <a:r>
              <a:rPr sz="2650" b="1" spc="-5" dirty="0">
                <a:latin typeface="Arial"/>
                <a:cs typeface="Arial"/>
              </a:rPr>
              <a:t>101	102	103	</a:t>
            </a:r>
            <a:r>
              <a:rPr sz="2650" b="1" dirty="0">
                <a:latin typeface="Arial"/>
                <a:cs typeface="Arial"/>
              </a:rPr>
              <a:t>104	</a:t>
            </a:r>
            <a:r>
              <a:rPr sz="2650" b="1" spc="-5" dirty="0">
                <a:latin typeface="Arial"/>
                <a:cs typeface="Arial"/>
              </a:rPr>
              <a:t>105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……..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739" y="53999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85553" y="53999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754061" y="4981574"/>
          <a:ext cx="8227059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38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4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50</a:t>
                      </a:r>
                      <a:endParaRPr sz="4000">
                        <a:latin typeface="Carlito"/>
                        <a:cs typeface="Carlito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4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76</a:t>
                      </a:r>
                      <a:endParaRPr sz="4000">
                        <a:latin typeface="Carlito"/>
                        <a:cs typeface="Carlito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45243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Address vs.</a:t>
            </a:r>
            <a:r>
              <a:rPr sz="4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007534"/>
            <a:ext cx="9570085" cy="18681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Each memory cell has an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 associated </a:t>
            </a:r>
            <a:r>
              <a:rPr sz="2650" b="1" spc="5" dirty="0">
                <a:solidFill>
                  <a:srgbClr val="002573"/>
                </a:solidFill>
                <a:latin typeface="Arial"/>
                <a:cs typeface="Arial"/>
              </a:rPr>
              <a:t>with</a:t>
            </a:r>
            <a:r>
              <a:rPr sz="2650" b="1" spc="-180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it.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Each </a:t>
            </a:r>
            <a:r>
              <a:rPr sz="2650" b="1" spc="-5" dirty="0">
                <a:solidFill>
                  <a:srgbClr val="002573"/>
                </a:solidFill>
                <a:latin typeface="Arial"/>
                <a:cs typeface="Arial"/>
              </a:rPr>
              <a:t>cell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also stores some</a:t>
            </a:r>
            <a:r>
              <a:rPr sz="2650" b="1" spc="-75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value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  <a:p>
            <a:pPr marL="390525" marR="5080" indent="-378460">
              <a:lnSpc>
                <a:spcPts val="3170"/>
              </a:lnSpc>
              <a:spcBef>
                <a:spcPts val="715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latin typeface="Arial"/>
                <a:cs typeface="Arial"/>
              </a:rPr>
              <a:t>Don’t confuse </a:t>
            </a:r>
            <a:r>
              <a:rPr sz="2650" b="1" dirty="0">
                <a:latin typeface="Arial"/>
                <a:cs typeface="Arial"/>
              </a:rPr>
              <a:t>the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 referring to a memory</a:t>
            </a:r>
            <a:r>
              <a:rPr sz="2650" b="1" spc="-1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location </a:t>
            </a:r>
            <a:r>
              <a:rPr sz="2650" b="1" spc="-5" dirty="0">
                <a:latin typeface="Arial"/>
                <a:cs typeface="Arial"/>
              </a:rPr>
              <a:t> </a:t>
            </a:r>
            <a:r>
              <a:rPr sz="2650" b="1" spc="5" dirty="0">
                <a:latin typeface="Arial"/>
                <a:cs typeface="Arial"/>
              </a:rPr>
              <a:t>with </a:t>
            </a:r>
            <a:r>
              <a:rPr sz="2650" b="1" dirty="0">
                <a:latin typeface="Arial"/>
                <a:cs typeface="Arial"/>
              </a:rPr>
              <a:t>the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value </a:t>
            </a:r>
            <a:r>
              <a:rPr sz="2650" b="1" dirty="0">
                <a:latin typeface="Arial"/>
                <a:cs typeface="Arial"/>
              </a:rPr>
              <a:t>stored in that</a:t>
            </a:r>
            <a:r>
              <a:rPr sz="2650" b="1" spc="-15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location.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1511" y="4364863"/>
            <a:ext cx="4917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5980" algn="l"/>
                <a:tab pos="1605915" algn="l"/>
                <a:tab pos="2543175" algn="l"/>
                <a:tab pos="3387090" algn="l"/>
              </a:tabLst>
            </a:pPr>
            <a:r>
              <a:rPr sz="2650" b="1" spc="-5" dirty="0">
                <a:latin typeface="Arial"/>
                <a:cs typeface="Arial"/>
              </a:rPr>
              <a:t>101	102	103	</a:t>
            </a:r>
            <a:r>
              <a:rPr sz="2650" b="1" dirty="0">
                <a:latin typeface="Arial"/>
                <a:cs typeface="Arial"/>
              </a:rPr>
              <a:t>104	</a:t>
            </a:r>
            <a:r>
              <a:rPr sz="2650" b="1" spc="-5" dirty="0">
                <a:latin typeface="Arial"/>
                <a:cs typeface="Arial"/>
              </a:rPr>
              <a:t>105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……..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739" y="53237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85553" y="5323713"/>
            <a:ext cx="6991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……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754061" y="4981574"/>
          <a:ext cx="8227059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10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382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4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50</a:t>
                      </a:r>
                      <a:endParaRPr sz="4000">
                        <a:latin typeface="Carlito"/>
                        <a:cs typeface="Carlito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4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76</a:t>
                      </a:r>
                      <a:endParaRPr sz="4000">
                        <a:latin typeface="Carlito"/>
                        <a:cs typeface="Carlito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53086"/>
            <a:ext cx="47656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solidFill>
                  <a:srgbClr val="3366CC"/>
                </a:solidFill>
                <a:latin typeface="Times New Roman"/>
                <a:cs typeface="Times New Roman"/>
              </a:rPr>
              <a:t>Values vs.</a:t>
            </a:r>
            <a:r>
              <a:rPr i="1" spc="-6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3366CC"/>
                </a:solidFill>
                <a:latin typeface="Times New Roman"/>
                <a:cs typeface="Times New Roman"/>
              </a:rPr>
              <a:t>Locations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31165" y="1447292"/>
            <a:ext cx="866267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latin typeface="Arial"/>
                <a:cs typeface="Arial"/>
              </a:rPr>
              <a:t>Variables </a:t>
            </a:r>
            <a:r>
              <a:rPr sz="2650" b="1" dirty="0">
                <a:latin typeface="Arial"/>
                <a:cs typeface="Arial"/>
              </a:rPr>
              <a:t>name and memory locations, hold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values</a:t>
            </a:r>
            <a:r>
              <a:rPr sz="2650" b="1" dirty="0"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60245" y="2886201"/>
            <a:ext cx="7753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1024</a:t>
            </a:r>
            <a:endParaRPr sz="2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89426" y="3364738"/>
            <a:ext cx="92329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Va</a:t>
            </a:r>
            <a:r>
              <a:rPr sz="2650" b="1" spc="-1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ue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165" y="4500803"/>
            <a:ext cx="3875404" cy="9855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Address</a:t>
            </a:r>
            <a:endParaRPr sz="2650">
              <a:latin typeface="Arial"/>
              <a:cs typeface="Arial"/>
            </a:endParaRPr>
          </a:p>
          <a:p>
            <a:pPr marL="2943225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solidFill>
                  <a:srgbClr val="296FFF"/>
                </a:solidFill>
                <a:latin typeface="Arial"/>
                <a:cs typeface="Arial"/>
              </a:rPr>
              <a:t>Na</a:t>
            </a:r>
            <a:r>
              <a:rPr sz="2650" b="1" spc="10" dirty="0">
                <a:solidFill>
                  <a:srgbClr val="296FFF"/>
                </a:solidFill>
                <a:latin typeface="Arial"/>
                <a:cs typeface="Arial"/>
              </a:rPr>
              <a:t>m</a:t>
            </a:r>
            <a:r>
              <a:rPr sz="2650" b="1" dirty="0">
                <a:solidFill>
                  <a:srgbClr val="296FFF"/>
                </a:solidFill>
                <a:latin typeface="Arial"/>
                <a:cs typeface="Arial"/>
              </a:rPr>
              <a:t>e</a:t>
            </a:r>
            <a:endParaRPr sz="26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78760" y="3322572"/>
            <a:ext cx="1607820" cy="751205"/>
            <a:chOff x="1778760" y="3322572"/>
            <a:chExt cx="1607820" cy="751205"/>
          </a:xfrm>
        </p:grpSpPr>
        <p:sp>
          <p:nvSpPr>
            <p:cNvPr id="29" name="object 29"/>
            <p:cNvSpPr/>
            <p:nvPr/>
          </p:nvSpPr>
          <p:spPr>
            <a:xfrm>
              <a:off x="1791462" y="3335274"/>
              <a:ext cx="1582420" cy="725805"/>
            </a:xfrm>
            <a:custGeom>
              <a:avLst/>
              <a:gdLst/>
              <a:ahLst/>
              <a:cxnLst/>
              <a:rect l="l" t="t" r="r" b="b"/>
              <a:pathLst>
                <a:path w="1582420" h="725804">
                  <a:moveTo>
                    <a:pt x="1581912" y="0"/>
                  </a:moveTo>
                  <a:lnTo>
                    <a:pt x="0" y="0"/>
                  </a:lnTo>
                  <a:lnTo>
                    <a:pt x="0" y="725424"/>
                  </a:lnTo>
                  <a:lnTo>
                    <a:pt x="1581912" y="725424"/>
                  </a:lnTo>
                  <a:lnTo>
                    <a:pt x="1581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91462" y="3335274"/>
              <a:ext cx="1582420" cy="725805"/>
            </a:xfrm>
            <a:custGeom>
              <a:avLst/>
              <a:gdLst/>
              <a:ahLst/>
              <a:cxnLst/>
              <a:rect l="l" t="t" r="r" b="b"/>
              <a:pathLst>
                <a:path w="1582420" h="725804">
                  <a:moveTo>
                    <a:pt x="0" y="725424"/>
                  </a:moveTo>
                  <a:lnTo>
                    <a:pt x="1581912" y="725424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725424"/>
                  </a:lnTo>
                  <a:close/>
                </a:path>
              </a:pathLst>
            </a:custGeom>
            <a:ln w="254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287904" y="3352292"/>
            <a:ext cx="530225" cy="1169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25"/>
              </a:spcBef>
            </a:pPr>
            <a:r>
              <a:rPr sz="3500" spc="10" dirty="0">
                <a:solidFill>
                  <a:srgbClr val="FF0000"/>
                </a:solidFill>
                <a:latin typeface="Times New Roman"/>
                <a:cs typeface="Times New Roman"/>
              </a:rPr>
              <a:t>32</a:t>
            </a:r>
            <a:endParaRPr sz="3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950" b="1" spc="10" dirty="0">
                <a:solidFill>
                  <a:srgbClr val="296FFF"/>
                </a:solidFill>
                <a:latin typeface="Arial"/>
                <a:cs typeface="Arial"/>
              </a:rPr>
              <a:t>x</a:t>
            </a:r>
            <a:endParaRPr sz="39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1024" y="3154680"/>
            <a:ext cx="1343025" cy="1300480"/>
          </a:xfrm>
          <a:custGeom>
            <a:avLst/>
            <a:gdLst/>
            <a:ahLst/>
            <a:cxnLst/>
            <a:rect l="l" t="t" r="r" b="b"/>
            <a:pathLst>
              <a:path w="1343025" h="1300479">
                <a:moveTo>
                  <a:pt x="1324578" y="17456"/>
                </a:moveTo>
                <a:lnTo>
                  <a:pt x="1312506" y="20429"/>
                </a:lnTo>
                <a:lnTo>
                  <a:pt x="0" y="1290828"/>
                </a:lnTo>
                <a:lnTo>
                  <a:pt x="8839" y="1299972"/>
                </a:lnTo>
                <a:lnTo>
                  <a:pt x="1321162" y="29678"/>
                </a:lnTo>
                <a:lnTo>
                  <a:pt x="1324578" y="17456"/>
                </a:lnTo>
                <a:close/>
              </a:path>
              <a:path w="1343025" h="1300479">
                <a:moveTo>
                  <a:pt x="1341568" y="4190"/>
                </a:moveTo>
                <a:lnTo>
                  <a:pt x="1329283" y="4190"/>
                </a:lnTo>
                <a:lnTo>
                  <a:pt x="1338046" y="13335"/>
                </a:lnTo>
                <a:lnTo>
                  <a:pt x="1321162" y="29678"/>
                </a:lnTo>
                <a:lnTo>
                  <a:pt x="1303756" y="91948"/>
                </a:lnTo>
                <a:lnTo>
                  <a:pt x="1302740" y="95376"/>
                </a:lnTo>
                <a:lnTo>
                  <a:pt x="1304772" y="98806"/>
                </a:lnTo>
                <a:lnTo>
                  <a:pt x="1308074" y="99822"/>
                </a:lnTo>
                <a:lnTo>
                  <a:pt x="1311503" y="100711"/>
                </a:lnTo>
                <a:lnTo>
                  <a:pt x="1314932" y="98806"/>
                </a:lnTo>
                <a:lnTo>
                  <a:pt x="1315948" y="95376"/>
                </a:lnTo>
                <a:lnTo>
                  <a:pt x="1341568" y="4190"/>
                </a:lnTo>
                <a:close/>
              </a:path>
              <a:path w="1343025" h="1300479">
                <a:moveTo>
                  <a:pt x="1342745" y="0"/>
                </a:moveTo>
                <a:lnTo>
                  <a:pt x="1246479" y="23622"/>
                </a:lnTo>
                <a:lnTo>
                  <a:pt x="1243050" y="24511"/>
                </a:lnTo>
                <a:lnTo>
                  <a:pt x="1241018" y="27939"/>
                </a:lnTo>
                <a:lnTo>
                  <a:pt x="1241780" y="31369"/>
                </a:lnTo>
                <a:lnTo>
                  <a:pt x="1242669" y="34671"/>
                </a:lnTo>
                <a:lnTo>
                  <a:pt x="1246098" y="36830"/>
                </a:lnTo>
                <a:lnTo>
                  <a:pt x="1249527" y="35940"/>
                </a:lnTo>
                <a:lnTo>
                  <a:pt x="1312506" y="20429"/>
                </a:lnTo>
                <a:lnTo>
                  <a:pt x="1329283" y="4190"/>
                </a:lnTo>
                <a:lnTo>
                  <a:pt x="1341568" y="4190"/>
                </a:lnTo>
                <a:lnTo>
                  <a:pt x="1342745" y="0"/>
                </a:lnTo>
                <a:close/>
              </a:path>
              <a:path w="1343025" h="1300479">
                <a:moveTo>
                  <a:pt x="1331961" y="6985"/>
                </a:moveTo>
                <a:lnTo>
                  <a:pt x="1327505" y="6985"/>
                </a:lnTo>
                <a:lnTo>
                  <a:pt x="1335125" y="14859"/>
                </a:lnTo>
                <a:lnTo>
                  <a:pt x="1324578" y="17456"/>
                </a:lnTo>
                <a:lnTo>
                  <a:pt x="1321162" y="29678"/>
                </a:lnTo>
                <a:lnTo>
                  <a:pt x="1338046" y="13335"/>
                </a:lnTo>
                <a:lnTo>
                  <a:pt x="1331961" y="6985"/>
                </a:lnTo>
                <a:close/>
              </a:path>
              <a:path w="1343025" h="1300479">
                <a:moveTo>
                  <a:pt x="1329283" y="4190"/>
                </a:moveTo>
                <a:lnTo>
                  <a:pt x="1312506" y="20429"/>
                </a:lnTo>
                <a:lnTo>
                  <a:pt x="1324578" y="17456"/>
                </a:lnTo>
                <a:lnTo>
                  <a:pt x="1327505" y="6985"/>
                </a:lnTo>
                <a:lnTo>
                  <a:pt x="1331961" y="6985"/>
                </a:lnTo>
                <a:lnTo>
                  <a:pt x="1329283" y="4190"/>
                </a:lnTo>
                <a:close/>
              </a:path>
              <a:path w="1343025" h="1300479">
                <a:moveTo>
                  <a:pt x="1327505" y="6985"/>
                </a:moveTo>
                <a:lnTo>
                  <a:pt x="1324578" y="17456"/>
                </a:lnTo>
                <a:lnTo>
                  <a:pt x="1335125" y="14859"/>
                </a:lnTo>
                <a:lnTo>
                  <a:pt x="1327505" y="69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11450" y="4343400"/>
            <a:ext cx="560705" cy="699770"/>
          </a:xfrm>
          <a:custGeom>
            <a:avLst/>
            <a:gdLst/>
            <a:ahLst/>
            <a:cxnLst/>
            <a:rect l="l" t="t" r="r" b="b"/>
            <a:pathLst>
              <a:path w="560704" h="699770">
                <a:moveTo>
                  <a:pt x="15677" y="19640"/>
                </a:moveTo>
                <a:lnTo>
                  <a:pt x="17508" y="32097"/>
                </a:lnTo>
                <a:lnTo>
                  <a:pt x="550672" y="699262"/>
                </a:lnTo>
                <a:lnTo>
                  <a:pt x="560577" y="691388"/>
                </a:lnTo>
                <a:lnTo>
                  <a:pt x="27493" y="24198"/>
                </a:lnTo>
                <a:lnTo>
                  <a:pt x="15677" y="19640"/>
                </a:lnTo>
                <a:close/>
              </a:path>
              <a:path w="560704" h="699770">
                <a:moveTo>
                  <a:pt x="0" y="0"/>
                </a:moveTo>
                <a:lnTo>
                  <a:pt x="14858" y="101472"/>
                </a:lnTo>
                <a:lnTo>
                  <a:pt x="18161" y="103885"/>
                </a:lnTo>
                <a:lnTo>
                  <a:pt x="25145" y="102869"/>
                </a:lnTo>
                <a:lnTo>
                  <a:pt x="27431" y="99694"/>
                </a:lnTo>
                <a:lnTo>
                  <a:pt x="26924" y="96138"/>
                </a:lnTo>
                <a:lnTo>
                  <a:pt x="17508" y="32097"/>
                </a:lnTo>
                <a:lnTo>
                  <a:pt x="2920" y="13842"/>
                </a:lnTo>
                <a:lnTo>
                  <a:pt x="12826" y="5841"/>
                </a:lnTo>
                <a:lnTo>
                  <a:pt x="15135" y="5841"/>
                </a:lnTo>
                <a:lnTo>
                  <a:pt x="0" y="0"/>
                </a:lnTo>
                <a:close/>
              </a:path>
              <a:path w="560704" h="699770">
                <a:moveTo>
                  <a:pt x="15135" y="5841"/>
                </a:moveTo>
                <a:lnTo>
                  <a:pt x="12826" y="5841"/>
                </a:lnTo>
                <a:lnTo>
                  <a:pt x="27493" y="24198"/>
                </a:lnTo>
                <a:lnTo>
                  <a:pt x="91186" y="48767"/>
                </a:lnTo>
                <a:lnTo>
                  <a:pt x="94742" y="47116"/>
                </a:lnTo>
                <a:lnTo>
                  <a:pt x="96012" y="43941"/>
                </a:lnTo>
                <a:lnTo>
                  <a:pt x="97281" y="40639"/>
                </a:lnTo>
                <a:lnTo>
                  <a:pt x="95757" y="36956"/>
                </a:lnTo>
                <a:lnTo>
                  <a:pt x="15135" y="5841"/>
                </a:lnTo>
                <a:close/>
              </a:path>
              <a:path w="560704" h="699770">
                <a:moveTo>
                  <a:pt x="12826" y="5841"/>
                </a:moveTo>
                <a:lnTo>
                  <a:pt x="2920" y="13842"/>
                </a:lnTo>
                <a:lnTo>
                  <a:pt x="17508" y="32097"/>
                </a:lnTo>
                <a:lnTo>
                  <a:pt x="15677" y="19640"/>
                </a:lnTo>
                <a:lnTo>
                  <a:pt x="5587" y="15747"/>
                </a:lnTo>
                <a:lnTo>
                  <a:pt x="14097" y="8889"/>
                </a:lnTo>
                <a:lnTo>
                  <a:pt x="15262" y="8889"/>
                </a:lnTo>
                <a:lnTo>
                  <a:pt x="12826" y="5841"/>
                </a:lnTo>
                <a:close/>
              </a:path>
              <a:path w="560704" h="699770">
                <a:moveTo>
                  <a:pt x="15262" y="8889"/>
                </a:moveTo>
                <a:lnTo>
                  <a:pt x="14097" y="8889"/>
                </a:lnTo>
                <a:lnTo>
                  <a:pt x="15677" y="19640"/>
                </a:lnTo>
                <a:lnTo>
                  <a:pt x="27493" y="24198"/>
                </a:lnTo>
                <a:lnTo>
                  <a:pt x="15262" y="8889"/>
                </a:lnTo>
                <a:close/>
              </a:path>
              <a:path w="560704" h="699770">
                <a:moveTo>
                  <a:pt x="14097" y="8889"/>
                </a:moveTo>
                <a:lnTo>
                  <a:pt x="5587" y="15747"/>
                </a:lnTo>
                <a:lnTo>
                  <a:pt x="15677" y="19640"/>
                </a:lnTo>
                <a:lnTo>
                  <a:pt x="14097" y="88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75000" y="3615436"/>
            <a:ext cx="927100" cy="103505"/>
          </a:xfrm>
          <a:custGeom>
            <a:avLst/>
            <a:gdLst/>
            <a:ahLst/>
            <a:cxnLst/>
            <a:rect l="l" t="t" r="r" b="b"/>
            <a:pathLst>
              <a:path w="927100" h="103504">
                <a:moveTo>
                  <a:pt x="88646" y="0"/>
                </a:moveTo>
                <a:lnTo>
                  <a:pt x="0" y="51688"/>
                </a:lnTo>
                <a:lnTo>
                  <a:pt x="88646" y="103377"/>
                </a:lnTo>
                <a:lnTo>
                  <a:pt x="92455" y="102362"/>
                </a:lnTo>
                <a:lnTo>
                  <a:pt x="96012" y="96265"/>
                </a:lnTo>
                <a:lnTo>
                  <a:pt x="94996" y="92455"/>
                </a:lnTo>
                <a:lnTo>
                  <a:pt x="35995" y="58038"/>
                </a:lnTo>
                <a:lnTo>
                  <a:pt x="12573" y="58038"/>
                </a:lnTo>
                <a:lnTo>
                  <a:pt x="12573" y="45338"/>
                </a:lnTo>
                <a:lnTo>
                  <a:pt x="35995" y="45338"/>
                </a:lnTo>
                <a:lnTo>
                  <a:pt x="94996" y="10921"/>
                </a:lnTo>
                <a:lnTo>
                  <a:pt x="96012" y="7112"/>
                </a:lnTo>
                <a:lnTo>
                  <a:pt x="92455" y="1015"/>
                </a:lnTo>
                <a:lnTo>
                  <a:pt x="88646" y="0"/>
                </a:lnTo>
                <a:close/>
              </a:path>
              <a:path w="927100" h="103504">
                <a:moveTo>
                  <a:pt x="35995" y="45338"/>
                </a:moveTo>
                <a:lnTo>
                  <a:pt x="12573" y="45338"/>
                </a:lnTo>
                <a:lnTo>
                  <a:pt x="12573" y="58038"/>
                </a:lnTo>
                <a:lnTo>
                  <a:pt x="35995" y="58038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7"/>
                </a:lnTo>
                <a:lnTo>
                  <a:pt x="34471" y="46227"/>
                </a:lnTo>
                <a:lnTo>
                  <a:pt x="35995" y="45338"/>
                </a:lnTo>
                <a:close/>
              </a:path>
              <a:path w="927100" h="103504">
                <a:moveTo>
                  <a:pt x="927100" y="45338"/>
                </a:moveTo>
                <a:lnTo>
                  <a:pt x="35995" y="45338"/>
                </a:lnTo>
                <a:lnTo>
                  <a:pt x="25109" y="51688"/>
                </a:lnTo>
                <a:lnTo>
                  <a:pt x="35995" y="58038"/>
                </a:lnTo>
                <a:lnTo>
                  <a:pt x="927100" y="58038"/>
                </a:lnTo>
                <a:lnTo>
                  <a:pt x="927100" y="45338"/>
                </a:lnTo>
                <a:close/>
              </a:path>
              <a:path w="927100" h="103504">
                <a:moveTo>
                  <a:pt x="15748" y="46227"/>
                </a:moveTo>
                <a:lnTo>
                  <a:pt x="15748" y="57150"/>
                </a:lnTo>
                <a:lnTo>
                  <a:pt x="25109" y="51688"/>
                </a:lnTo>
                <a:lnTo>
                  <a:pt x="15748" y="46227"/>
                </a:lnTo>
                <a:close/>
              </a:path>
              <a:path w="927100" h="103504">
                <a:moveTo>
                  <a:pt x="25109" y="51688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8"/>
                </a:lnTo>
                <a:close/>
              </a:path>
              <a:path w="927100" h="103504">
                <a:moveTo>
                  <a:pt x="34471" y="46227"/>
                </a:moveTo>
                <a:lnTo>
                  <a:pt x="15748" y="46227"/>
                </a:lnTo>
                <a:lnTo>
                  <a:pt x="25109" y="51688"/>
                </a:lnTo>
                <a:lnTo>
                  <a:pt x="34471" y="4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098292" y="4504943"/>
            <a:ext cx="5765291" cy="30540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196464" y="16510"/>
            <a:ext cx="565531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L- Value and</a:t>
            </a:r>
            <a:r>
              <a:rPr sz="4850" i="1" spc="-5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dirty="0">
                <a:solidFill>
                  <a:srgbClr val="3366CC"/>
                </a:solidFill>
                <a:latin typeface="Times New Roman"/>
                <a:cs typeface="Times New Roman"/>
              </a:rPr>
              <a:t>R-Value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1665" y="1094359"/>
            <a:ext cx="8637905" cy="421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0160">
              <a:lnSpc>
                <a:spcPct val="99900"/>
              </a:lnSpc>
              <a:spcBef>
                <a:spcPts val="105"/>
              </a:spcBef>
            </a:pPr>
            <a:r>
              <a:rPr sz="265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L-value</a:t>
            </a:r>
            <a:r>
              <a:rPr sz="2650" b="1" dirty="0">
                <a:latin typeface="Arial"/>
                <a:cs typeface="Arial"/>
              </a:rPr>
              <a:t>: </a:t>
            </a:r>
            <a:r>
              <a:rPr sz="2650" dirty="0">
                <a:latin typeface="Arial"/>
                <a:cs typeface="Arial"/>
              </a:rPr>
              <a:t>“l-value” </a:t>
            </a:r>
            <a:r>
              <a:rPr sz="2650" spc="-5" dirty="0">
                <a:latin typeface="Arial"/>
                <a:cs typeface="Arial"/>
              </a:rPr>
              <a:t>refers </a:t>
            </a:r>
            <a:r>
              <a:rPr sz="2650" spc="-10" dirty="0">
                <a:latin typeface="Arial"/>
                <a:cs typeface="Arial"/>
              </a:rPr>
              <a:t>to </a:t>
            </a:r>
            <a:r>
              <a:rPr sz="2650" dirty="0">
                <a:latin typeface="Arial"/>
                <a:cs typeface="Arial"/>
              </a:rPr>
              <a:t>memory </a:t>
            </a:r>
            <a:r>
              <a:rPr sz="2650" spc="-5" dirty="0">
                <a:latin typeface="Arial"/>
                <a:cs typeface="Arial"/>
              </a:rPr>
              <a:t>location </a:t>
            </a:r>
            <a:r>
              <a:rPr sz="2650" dirty="0">
                <a:latin typeface="Arial"/>
                <a:cs typeface="Arial"/>
              </a:rPr>
              <a:t>which  </a:t>
            </a:r>
            <a:r>
              <a:rPr sz="2650" spc="-5" dirty="0">
                <a:latin typeface="Arial"/>
                <a:cs typeface="Arial"/>
              </a:rPr>
              <a:t>identifies </a:t>
            </a:r>
            <a:r>
              <a:rPr sz="2650" dirty="0">
                <a:latin typeface="Arial"/>
                <a:cs typeface="Arial"/>
              </a:rPr>
              <a:t>an object. l-value may appear as either left</a:t>
            </a:r>
            <a:r>
              <a:rPr sz="2650" spc="-6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hand  or right hand side of an assignment operator(=). l-value  </a:t>
            </a:r>
            <a:r>
              <a:rPr sz="2650" spc="-5" dirty="0">
                <a:latin typeface="Arial"/>
                <a:cs typeface="Arial"/>
              </a:rPr>
              <a:t>often </a:t>
            </a:r>
            <a:r>
              <a:rPr sz="2650" dirty="0">
                <a:latin typeface="Arial"/>
                <a:cs typeface="Arial"/>
              </a:rPr>
              <a:t>represents as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identifier.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65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R-value</a:t>
            </a:r>
            <a:r>
              <a:rPr sz="2650" dirty="0">
                <a:latin typeface="Arial"/>
                <a:cs typeface="Arial"/>
              </a:rPr>
              <a:t>: r-value” refers to </a:t>
            </a:r>
            <a:r>
              <a:rPr sz="2650" spc="-5" dirty="0">
                <a:latin typeface="Arial"/>
                <a:cs typeface="Arial"/>
              </a:rPr>
              <a:t>data </a:t>
            </a:r>
            <a:r>
              <a:rPr sz="2650" dirty="0">
                <a:latin typeface="Arial"/>
                <a:cs typeface="Arial"/>
              </a:rPr>
              <a:t>value that </a:t>
            </a:r>
            <a:r>
              <a:rPr sz="2650" spc="-5" dirty="0">
                <a:latin typeface="Arial"/>
                <a:cs typeface="Arial"/>
              </a:rPr>
              <a:t>is </a:t>
            </a:r>
            <a:r>
              <a:rPr sz="2650" dirty="0">
                <a:latin typeface="Arial"/>
                <a:cs typeface="Arial"/>
              </a:rPr>
              <a:t>stored </a:t>
            </a:r>
            <a:r>
              <a:rPr sz="2650" spc="-5" dirty="0">
                <a:latin typeface="Arial"/>
                <a:cs typeface="Arial"/>
              </a:rPr>
              <a:t>at  </a:t>
            </a:r>
            <a:r>
              <a:rPr sz="2650" dirty="0">
                <a:latin typeface="Arial"/>
                <a:cs typeface="Arial"/>
              </a:rPr>
              <a:t>some address in memory. A r-value is an expression that  can’t </a:t>
            </a:r>
            <a:r>
              <a:rPr sz="2650" spc="-5" dirty="0">
                <a:latin typeface="Arial"/>
                <a:cs typeface="Arial"/>
              </a:rPr>
              <a:t>have </a:t>
            </a:r>
            <a:r>
              <a:rPr sz="2650" dirty="0">
                <a:latin typeface="Arial"/>
                <a:cs typeface="Arial"/>
              </a:rPr>
              <a:t>a value </a:t>
            </a:r>
            <a:r>
              <a:rPr sz="2650" spc="-5" dirty="0">
                <a:latin typeface="Arial"/>
                <a:cs typeface="Arial"/>
              </a:rPr>
              <a:t>assigned </a:t>
            </a:r>
            <a:r>
              <a:rPr sz="2650" dirty="0">
                <a:latin typeface="Arial"/>
                <a:cs typeface="Arial"/>
              </a:rPr>
              <a:t>to </a:t>
            </a:r>
            <a:r>
              <a:rPr sz="2650" spc="-5" dirty="0">
                <a:latin typeface="Arial"/>
                <a:cs typeface="Arial"/>
              </a:rPr>
              <a:t>it which </a:t>
            </a:r>
            <a:r>
              <a:rPr sz="2650" dirty="0">
                <a:latin typeface="Arial"/>
                <a:cs typeface="Arial"/>
              </a:rPr>
              <a:t>means r-value can  appear on right but not on left hand side of an</a:t>
            </a:r>
            <a:r>
              <a:rPr sz="2650" spc="-75" dirty="0">
                <a:latin typeface="Arial"/>
                <a:cs typeface="Arial"/>
              </a:rPr>
              <a:t> </a:t>
            </a:r>
            <a:r>
              <a:rPr sz="2650" dirty="0">
                <a:latin typeface="Arial"/>
                <a:cs typeface="Arial"/>
              </a:rPr>
              <a:t>assignment  operator(=).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946529" y="16510"/>
            <a:ext cx="615251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Introduction to</a:t>
            </a:r>
            <a:r>
              <a:rPr sz="4850" i="1" spc="10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Pointers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216203"/>
            <a:ext cx="9890125" cy="59537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latin typeface="Arial"/>
                <a:cs typeface="Arial"/>
              </a:rPr>
              <a:t>Pointer is </a:t>
            </a:r>
            <a:r>
              <a:rPr sz="2650" b="1" dirty="0">
                <a:latin typeface="Arial"/>
                <a:cs typeface="Arial"/>
              </a:rPr>
              <a:t>variable, just </a:t>
            </a:r>
            <a:r>
              <a:rPr sz="2650" b="1" spc="-5" dirty="0">
                <a:latin typeface="Arial"/>
                <a:cs typeface="Arial"/>
              </a:rPr>
              <a:t>like </a:t>
            </a:r>
            <a:r>
              <a:rPr sz="2650" b="1" dirty="0">
                <a:latin typeface="Arial"/>
                <a:cs typeface="Arial"/>
              </a:rPr>
              <a:t>other variables </a:t>
            </a:r>
            <a:r>
              <a:rPr sz="2650" b="1" spc="-10" dirty="0">
                <a:latin typeface="Arial"/>
                <a:cs typeface="Arial"/>
              </a:rPr>
              <a:t>you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studied.</a:t>
            </a:r>
            <a:endParaRPr sz="2650">
              <a:latin typeface="Arial"/>
              <a:cs typeface="Arial"/>
            </a:endParaRPr>
          </a:p>
          <a:p>
            <a:pPr marL="1136015" marR="7215505" indent="-116205">
              <a:lnSpc>
                <a:spcPct val="106100"/>
              </a:lnSpc>
              <a:spcBef>
                <a:spcPts val="10"/>
              </a:spcBef>
            </a:pPr>
            <a:r>
              <a:rPr sz="2650" dirty="0">
                <a:latin typeface="Arial"/>
                <a:cs typeface="Arial"/>
              </a:rPr>
              <a:t>– </a:t>
            </a:r>
            <a:r>
              <a:rPr sz="2650" b="1" dirty="0">
                <a:latin typeface="Arial"/>
                <a:cs typeface="Arial"/>
              </a:rPr>
              <a:t>so </a:t>
            </a:r>
            <a:r>
              <a:rPr sz="2650" b="1" spc="-5" dirty="0">
                <a:latin typeface="Arial"/>
                <a:cs typeface="Arial"/>
              </a:rPr>
              <a:t>it</a:t>
            </a:r>
            <a:r>
              <a:rPr sz="2650" b="1" spc="-11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has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FF0000"/>
                </a:solidFill>
                <a:latin typeface="Arial"/>
                <a:cs typeface="Arial"/>
              </a:rPr>
              <a:t>type,</a:t>
            </a:r>
            <a:endParaRPr sz="2650">
              <a:latin typeface="Arial"/>
              <a:cs typeface="Arial"/>
            </a:endParaRPr>
          </a:p>
          <a:p>
            <a:pPr marL="1042669" marR="6147435">
              <a:lnSpc>
                <a:spcPct val="106000"/>
              </a:lnSpc>
              <a:spcBef>
                <a:spcPts val="5"/>
              </a:spcBef>
            </a:pP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storage</a:t>
            </a:r>
            <a:r>
              <a:rPr sz="2650" b="1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address,  value</a:t>
            </a:r>
            <a:r>
              <a:rPr sz="265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etc.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00">
              <a:latin typeface="Arial"/>
              <a:cs typeface="Arial"/>
            </a:endParaRPr>
          </a:p>
          <a:p>
            <a:pPr marL="390525" marR="5080" indent="-378460">
              <a:lnSpc>
                <a:spcPct val="100000"/>
              </a:lnSpc>
              <a:tabLst>
                <a:tab pos="390525" algn="l"/>
                <a:tab pos="777240" algn="l"/>
                <a:tab pos="2058035" algn="l"/>
                <a:tab pos="2481580" algn="l"/>
                <a:tab pos="2813685" algn="l"/>
                <a:tab pos="4229735" algn="l"/>
                <a:tab pos="4987290" algn="l"/>
                <a:tab pos="6026785" algn="l"/>
                <a:tab pos="6674484" algn="l"/>
                <a:tab pos="8124190" algn="l"/>
                <a:tab pos="955865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A	po</a:t>
            </a:r>
            <a:r>
              <a:rPr sz="2650" b="1" spc="-15" dirty="0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2650" b="1" spc="5" dirty="0">
                <a:solidFill>
                  <a:srgbClr val="006FC0"/>
                </a:solidFill>
                <a:latin typeface="Arial"/>
                <a:cs typeface="Arial"/>
              </a:rPr>
              <a:t>e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r	</a:t>
            </a:r>
            <a:r>
              <a:rPr sz="2650" b="1" spc="-10" dirty="0">
                <a:solidFill>
                  <a:srgbClr val="006FC0"/>
                </a:solidFill>
                <a:latin typeface="Arial"/>
                <a:cs typeface="Arial"/>
              </a:rPr>
              <a:t>i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s	a	variable	th</a:t>
            </a:r>
            <a:r>
              <a:rPr sz="2650" b="1" spc="-2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t	holds	the	me</a:t>
            </a:r>
            <a:r>
              <a:rPr sz="2650" b="1" spc="-15" dirty="0">
                <a:solidFill>
                  <a:srgbClr val="006FC0"/>
                </a:solidFill>
                <a:latin typeface="Arial"/>
                <a:cs typeface="Arial"/>
              </a:rPr>
              <a:t>m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2650" b="1" spc="-15" dirty="0">
                <a:solidFill>
                  <a:srgbClr val="006FC0"/>
                </a:solidFill>
                <a:latin typeface="Arial"/>
                <a:cs typeface="Arial"/>
              </a:rPr>
              <a:t>r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y	address	</a:t>
            </a:r>
            <a:r>
              <a:rPr sz="2650" b="1" spc="-5" dirty="0">
                <a:solidFill>
                  <a:srgbClr val="006FC0"/>
                </a:solidFill>
                <a:latin typeface="Arial"/>
                <a:cs typeface="Arial"/>
              </a:rPr>
              <a:t>of  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another</a:t>
            </a:r>
            <a:r>
              <a:rPr sz="265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6FC0"/>
                </a:solidFill>
                <a:latin typeface="Arial"/>
                <a:cs typeface="Arial"/>
              </a:rPr>
              <a:t>variable.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Arial"/>
              <a:cs typeface="Arial"/>
            </a:endParaRPr>
          </a:p>
          <a:p>
            <a:pPr marL="390525" marR="6350" indent="-378460">
              <a:lnSpc>
                <a:spcPct val="100000"/>
              </a:lnSpc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Since pointer is also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a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kind </a:t>
            </a:r>
            <a:r>
              <a:rPr sz="2650" b="1" spc="-10" dirty="0">
                <a:solidFill>
                  <a:srgbClr val="00AF50"/>
                </a:solidFill>
                <a:latin typeface="Arial"/>
                <a:cs typeface="Arial"/>
              </a:rPr>
              <a:t>of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variable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,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thus pointer itself  </a:t>
            </a:r>
            <a:r>
              <a:rPr sz="2650" b="1" spc="5" dirty="0">
                <a:solidFill>
                  <a:srgbClr val="00AF50"/>
                </a:solidFill>
                <a:latin typeface="Arial"/>
                <a:cs typeface="Arial"/>
              </a:rPr>
              <a:t>will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be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stored at different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memory</a:t>
            </a:r>
            <a:r>
              <a:rPr sz="2650" b="1" spc="-1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location.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100">
              <a:latin typeface="Arial"/>
              <a:cs typeface="Arial"/>
            </a:endParaRPr>
          </a:p>
          <a:p>
            <a:pPr marL="390525" marR="5080" indent="-378460">
              <a:lnSpc>
                <a:spcPct val="100000"/>
              </a:lnSpc>
              <a:spcBef>
                <a:spcPts val="5"/>
              </a:spcBef>
              <a:tabLst>
                <a:tab pos="390525" algn="l"/>
                <a:tab pos="2296795" algn="l"/>
                <a:tab pos="2653665" algn="l"/>
                <a:tab pos="3385820" algn="l"/>
                <a:tab pos="4226560" algn="l"/>
                <a:tab pos="5199380" algn="l"/>
                <a:tab pos="5855970" algn="l"/>
                <a:tab pos="7296784" algn="l"/>
                <a:tab pos="8511540" algn="l"/>
                <a:tab pos="9371330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Diff</a:t>
            </a:r>
            <a:r>
              <a:rPr sz="2650" b="1" spc="-15" dirty="0">
                <a:latin typeface="Arial"/>
                <a:cs typeface="Arial"/>
              </a:rPr>
              <a:t>e</a:t>
            </a:r>
            <a:r>
              <a:rPr sz="2650" b="1" dirty="0">
                <a:latin typeface="Arial"/>
                <a:cs typeface="Arial"/>
              </a:rPr>
              <a:t>r</a:t>
            </a:r>
            <a:r>
              <a:rPr sz="2650" b="1" spc="-15" dirty="0">
                <a:latin typeface="Arial"/>
                <a:cs typeface="Arial"/>
              </a:rPr>
              <a:t>e</a:t>
            </a:r>
            <a:r>
              <a:rPr sz="2650" b="1" dirty="0">
                <a:latin typeface="Arial"/>
                <a:cs typeface="Arial"/>
              </a:rPr>
              <a:t>n</a:t>
            </a:r>
            <a:r>
              <a:rPr sz="2650" b="1" spc="-15" dirty="0">
                <a:latin typeface="Arial"/>
                <a:cs typeface="Arial"/>
              </a:rPr>
              <a:t>c</a:t>
            </a:r>
            <a:r>
              <a:rPr sz="2650" b="1" dirty="0">
                <a:latin typeface="Arial"/>
                <a:cs typeface="Arial"/>
              </a:rPr>
              <a:t>e:	</a:t>
            </a:r>
            <a:r>
              <a:rPr sz="2650" b="1" spc="-10" dirty="0">
                <a:latin typeface="Arial"/>
                <a:cs typeface="Arial"/>
              </a:rPr>
              <a:t>i</a:t>
            </a:r>
            <a:r>
              <a:rPr sz="2650" b="1" dirty="0">
                <a:latin typeface="Arial"/>
                <a:cs typeface="Arial"/>
              </a:rPr>
              <a:t>t	can	only	sto</a:t>
            </a:r>
            <a:r>
              <a:rPr sz="2650" b="1" spc="-20" dirty="0">
                <a:latin typeface="Arial"/>
                <a:cs typeface="Arial"/>
              </a:rPr>
              <a:t>r</a:t>
            </a:r>
            <a:r>
              <a:rPr sz="2650" b="1" dirty="0">
                <a:latin typeface="Arial"/>
                <a:cs typeface="Arial"/>
              </a:rPr>
              <a:t>e	the	a</a:t>
            </a:r>
            <a:r>
              <a:rPr sz="2650" b="1" spc="-15" dirty="0">
                <a:latin typeface="Arial"/>
                <a:cs typeface="Arial"/>
              </a:rPr>
              <a:t>d</a:t>
            </a:r>
            <a:r>
              <a:rPr sz="2650" b="1" dirty="0">
                <a:latin typeface="Arial"/>
                <a:cs typeface="Arial"/>
              </a:rPr>
              <a:t>dress	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(ra</a:t>
            </a:r>
            <a:r>
              <a:rPr sz="2650" b="1" spc="-1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her	than	the  value) </a:t>
            </a:r>
            <a:r>
              <a:rPr sz="2650" b="1" spc="-5" dirty="0">
                <a:latin typeface="Arial"/>
                <a:cs typeface="Arial"/>
              </a:rPr>
              <a:t>of </a:t>
            </a:r>
            <a:r>
              <a:rPr sz="2650" b="1" dirty="0">
                <a:latin typeface="Arial"/>
                <a:cs typeface="Arial"/>
              </a:rPr>
              <a:t>a data</a:t>
            </a:r>
            <a:r>
              <a:rPr sz="2650" b="1" spc="-5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item.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531050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Pointer</a:t>
            </a:r>
            <a:r>
              <a:rPr sz="4850" i="1" spc="-2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Declarations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084580"/>
            <a:ext cx="9889490" cy="4809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90525" marR="5715" indent="-378460">
              <a:lnSpc>
                <a:spcPct val="101600"/>
              </a:lnSpc>
              <a:spcBef>
                <a:spcPts val="80"/>
              </a:spcBef>
              <a:tabLst>
                <a:tab pos="390525" algn="l"/>
              </a:tabLst>
            </a:pPr>
            <a:r>
              <a:rPr sz="1750" spc="10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500" b="1" spc="15" dirty="0">
                <a:latin typeface="Arial"/>
                <a:cs typeface="Arial"/>
              </a:rPr>
              <a:t>Like any </a:t>
            </a:r>
            <a:r>
              <a:rPr sz="2500" b="1" spc="10" dirty="0">
                <a:latin typeface="Arial"/>
                <a:cs typeface="Arial"/>
              </a:rPr>
              <a:t>variable, </a:t>
            </a:r>
            <a:r>
              <a:rPr sz="2500" b="1" spc="15" dirty="0">
                <a:latin typeface="Arial"/>
                <a:cs typeface="Arial"/>
              </a:rPr>
              <a:t>you must declare a pointer before using </a:t>
            </a:r>
            <a:r>
              <a:rPr sz="2500" b="1" spc="10" dirty="0">
                <a:latin typeface="Arial"/>
                <a:cs typeface="Arial"/>
              </a:rPr>
              <a:t>it  to </a:t>
            </a:r>
            <a:r>
              <a:rPr sz="2500" b="1" spc="15" dirty="0">
                <a:latin typeface="Arial"/>
                <a:cs typeface="Arial"/>
              </a:rPr>
              <a:t>store any </a:t>
            </a:r>
            <a:r>
              <a:rPr sz="2500" b="1" spc="10" dirty="0">
                <a:latin typeface="Arial"/>
                <a:cs typeface="Arial"/>
              </a:rPr>
              <a:t>variable</a:t>
            </a:r>
            <a:r>
              <a:rPr sz="2500" b="1" spc="45" dirty="0">
                <a:latin typeface="Arial"/>
                <a:cs typeface="Arial"/>
              </a:rPr>
              <a:t> </a:t>
            </a:r>
            <a:r>
              <a:rPr sz="2500" b="1" spc="10" dirty="0">
                <a:latin typeface="Arial"/>
                <a:cs typeface="Arial"/>
              </a:rPr>
              <a:t>address.</a:t>
            </a:r>
            <a:endParaRPr sz="2500">
              <a:latin typeface="Arial"/>
              <a:cs typeface="Arial"/>
            </a:endParaRPr>
          </a:p>
          <a:p>
            <a:pPr marL="390525" marR="5080" indent="-378460">
              <a:lnSpc>
                <a:spcPct val="101600"/>
              </a:lnSpc>
              <a:spcBef>
                <a:spcPts val="595"/>
              </a:spcBef>
              <a:tabLst>
                <a:tab pos="390525" algn="l"/>
                <a:tab pos="1975485" algn="l"/>
              </a:tabLst>
            </a:pPr>
            <a:r>
              <a:rPr sz="1750" spc="10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500" b="1" spc="20" dirty="0">
                <a:latin typeface="Arial"/>
                <a:cs typeface="Arial"/>
              </a:rPr>
              <a:t>A</a:t>
            </a:r>
            <a:r>
              <a:rPr sz="2500" b="1" spc="330" dirty="0">
                <a:latin typeface="Arial"/>
                <a:cs typeface="Arial"/>
              </a:rPr>
              <a:t> </a:t>
            </a:r>
            <a:r>
              <a:rPr sz="2500" b="1" spc="15" dirty="0">
                <a:latin typeface="Arial"/>
                <a:cs typeface="Arial"/>
              </a:rPr>
              <a:t>pointer	</a:t>
            </a:r>
            <a:r>
              <a:rPr sz="2500" b="1" spc="10" dirty="0">
                <a:latin typeface="Arial"/>
                <a:cs typeface="Arial"/>
              </a:rPr>
              <a:t>is just </a:t>
            </a:r>
            <a:r>
              <a:rPr sz="2500" b="1" spc="15" dirty="0">
                <a:latin typeface="Arial"/>
                <a:cs typeface="Arial"/>
              </a:rPr>
              <a:t>a </a:t>
            </a:r>
            <a:r>
              <a:rPr sz="2500" b="1" spc="20" dirty="0">
                <a:latin typeface="Arial"/>
                <a:cs typeface="Arial"/>
              </a:rPr>
              <a:t>C </a:t>
            </a:r>
            <a:r>
              <a:rPr sz="2500" b="1" spc="15" dirty="0">
                <a:latin typeface="Arial"/>
                <a:cs typeface="Arial"/>
              </a:rPr>
              <a:t>variable </a:t>
            </a:r>
            <a:r>
              <a:rPr sz="2500" b="1" spc="25" dirty="0">
                <a:latin typeface="Arial"/>
                <a:cs typeface="Arial"/>
              </a:rPr>
              <a:t>whose </a:t>
            </a:r>
            <a:r>
              <a:rPr sz="2500" b="1" spc="15" dirty="0">
                <a:latin typeface="Arial"/>
                <a:cs typeface="Arial"/>
              </a:rPr>
              <a:t>value </a:t>
            </a:r>
            <a:r>
              <a:rPr sz="2500" b="1" spc="10" dirty="0">
                <a:latin typeface="Arial"/>
                <a:cs typeface="Arial"/>
              </a:rPr>
              <a:t>is </a:t>
            </a:r>
            <a:r>
              <a:rPr sz="2500" b="1" spc="15" dirty="0">
                <a:latin typeface="Arial"/>
                <a:cs typeface="Arial"/>
              </a:rPr>
              <a:t>the </a:t>
            </a:r>
            <a:r>
              <a:rPr sz="2500" b="1" spc="20" dirty="0">
                <a:solidFill>
                  <a:srgbClr val="00AF50"/>
                </a:solidFill>
                <a:latin typeface="Arial"/>
                <a:cs typeface="Arial"/>
              </a:rPr>
              <a:t>address </a:t>
            </a:r>
            <a:r>
              <a:rPr sz="2500" b="1" spc="25" dirty="0">
                <a:latin typeface="Arial"/>
                <a:cs typeface="Arial"/>
              </a:rPr>
              <a:t>of  </a:t>
            </a:r>
            <a:r>
              <a:rPr sz="2500" b="1" spc="15" dirty="0">
                <a:latin typeface="Arial"/>
                <a:cs typeface="Arial"/>
              </a:rPr>
              <a:t>another</a:t>
            </a:r>
            <a:r>
              <a:rPr sz="2500" b="1" spc="30" dirty="0">
                <a:latin typeface="Arial"/>
                <a:cs typeface="Arial"/>
              </a:rPr>
              <a:t> </a:t>
            </a:r>
            <a:r>
              <a:rPr sz="2500" b="1" spc="10" dirty="0">
                <a:latin typeface="Arial"/>
                <a:cs typeface="Arial"/>
              </a:rPr>
              <a:t>variable!</a:t>
            </a:r>
            <a:endParaRPr sz="2500">
              <a:latin typeface="Arial"/>
              <a:cs typeface="Arial"/>
            </a:endParaRPr>
          </a:p>
          <a:p>
            <a:pPr marL="1128395" indent="-201930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129030" algn="l"/>
              </a:tabLst>
            </a:pPr>
            <a:r>
              <a:rPr sz="2500" b="1" spc="15" dirty="0">
                <a:latin typeface="Arial"/>
                <a:cs typeface="Arial"/>
              </a:rPr>
              <a:t>General</a:t>
            </a:r>
            <a:r>
              <a:rPr sz="2500" b="1" spc="30" dirty="0">
                <a:latin typeface="Arial"/>
                <a:cs typeface="Arial"/>
              </a:rPr>
              <a:t> </a:t>
            </a:r>
            <a:r>
              <a:rPr sz="2500" b="1" spc="15" dirty="0">
                <a:latin typeface="Arial"/>
                <a:cs typeface="Arial"/>
              </a:rPr>
              <a:t>form:</a:t>
            </a:r>
            <a:endParaRPr sz="25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645"/>
              </a:spcBef>
              <a:tabLst>
                <a:tab pos="3525520" algn="l"/>
              </a:tabLst>
            </a:pPr>
            <a:r>
              <a:rPr sz="2500" b="1" spc="10" dirty="0">
                <a:solidFill>
                  <a:srgbClr val="FF0000"/>
                </a:solidFill>
                <a:latin typeface="Arial"/>
                <a:cs typeface="Arial"/>
              </a:rPr>
              <a:t>data_type	</a:t>
            </a:r>
            <a:r>
              <a:rPr sz="2500" b="1" spc="15" dirty="0">
                <a:solidFill>
                  <a:srgbClr val="FF0000"/>
                </a:solidFill>
                <a:latin typeface="Arial"/>
                <a:cs typeface="Arial"/>
              </a:rPr>
              <a:t>*pointer_name;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390525" algn="l"/>
              </a:tabLst>
            </a:pPr>
            <a:r>
              <a:rPr sz="1750" spc="10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500" b="1" spc="15" dirty="0">
                <a:latin typeface="Arial"/>
                <a:cs typeface="Arial"/>
              </a:rPr>
              <a:t>Three things are specified </a:t>
            </a:r>
            <a:r>
              <a:rPr sz="2500" b="1" spc="10" dirty="0">
                <a:latin typeface="Arial"/>
                <a:cs typeface="Arial"/>
              </a:rPr>
              <a:t>in </a:t>
            </a:r>
            <a:r>
              <a:rPr sz="2500" b="1" spc="15" dirty="0">
                <a:latin typeface="Arial"/>
                <a:cs typeface="Arial"/>
              </a:rPr>
              <a:t>the above</a:t>
            </a:r>
            <a:r>
              <a:rPr sz="2500" b="1" spc="50" dirty="0">
                <a:latin typeface="Arial"/>
                <a:cs typeface="Arial"/>
              </a:rPr>
              <a:t> </a:t>
            </a:r>
            <a:r>
              <a:rPr sz="2500" b="1" spc="10" dirty="0">
                <a:latin typeface="Arial"/>
                <a:cs typeface="Arial"/>
              </a:rPr>
              <a:t>declaration:</a:t>
            </a:r>
            <a:endParaRPr sz="2500">
              <a:latin typeface="Arial"/>
              <a:cs typeface="Arial"/>
            </a:endParaRPr>
          </a:p>
          <a:p>
            <a:pPr marL="390525" marR="187325" indent="536575">
              <a:lnSpc>
                <a:spcPct val="101200"/>
              </a:lnSpc>
              <a:spcBef>
                <a:spcPts val="615"/>
              </a:spcBef>
              <a:buClr>
                <a:srgbClr val="000000"/>
              </a:buClr>
              <a:buFont typeface="Arial"/>
              <a:buChar char="•"/>
              <a:tabLst>
                <a:tab pos="1129030" algn="l"/>
                <a:tab pos="9424670" algn="l"/>
              </a:tabLst>
            </a:pP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2500" b="1" spc="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as</a:t>
            </a:r>
            <a:r>
              <a:rPr sz="2500" b="1" spc="-5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erisk</a:t>
            </a:r>
            <a:r>
              <a:rPr sz="2500" b="1" spc="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(*)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tells</a:t>
            </a:r>
            <a:r>
              <a:rPr sz="2500" b="1" spc="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 the</a:t>
            </a:r>
            <a:r>
              <a:rPr sz="2500" b="1" spc="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va</a:t>
            </a:r>
            <a:r>
              <a:rPr sz="2500" b="1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iable</a:t>
            </a:r>
            <a:r>
              <a:rPr sz="2500" b="1" spc="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pointer_name</a:t>
            </a:r>
            <a:r>
              <a:rPr sz="2500" b="1" dirty="0">
                <a:solidFill>
                  <a:srgbClr val="00AF50"/>
                </a:solidFill>
                <a:latin typeface="Arial"/>
                <a:cs typeface="Arial"/>
              </a:rPr>
              <a:t>	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is  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a pointer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 variable.</a:t>
            </a:r>
            <a:endParaRPr sz="2500">
              <a:latin typeface="Arial"/>
              <a:cs typeface="Arial"/>
            </a:endParaRPr>
          </a:p>
          <a:p>
            <a:pPr marL="1128395" indent="-20193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1129030" algn="l"/>
              </a:tabLst>
            </a:pP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pointer_name needs a </a:t>
            </a:r>
            <a:r>
              <a:rPr sz="2500" b="1" spc="20" dirty="0">
                <a:solidFill>
                  <a:srgbClr val="00AF50"/>
                </a:solidFill>
                <a:latin typeface="Arial"/>
                <a:cs typeface="Arial"/>
              </a:rPr>
              <a:t>memory</a:t>
            </a:r>
            <a:r>
              <a:rPr sz="2500" b="1" spc="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location.</a:t>
            </a:r>
            <a:endParaRPr sz="2500">
              <a:latin typeface="Arial"/>
              <a:cs typeface="Arial"/>
            </a:endParaRPr>
          </a:p>
          <a:p>
            <a:pPr marL="1128395" indent="-20193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129030" algn="l"/>
              </a:tabLst>
            </a:pP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pointer_name points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to </a:t>
            </a:r>
            <a:r>
              <a:rPr sz="2500" b="1" spc="15" dirty="0">
                <a:solidFill>
                  <a:srgbClr val="00AF50"/>
                </a:solidFill>
                <a:latin typeface="Arial"/>
                <a:cs typeface="Arial"/>
              </a:rPr>
              <a:t>a variable of type</a:t>
            </a:r>
            <a:r>
              <a:rPr sz="2500" b="1" spc="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500" b="1" spc="10" dirty="0">
                <a:solidFill>
                  <a:srgbClr val="00AF50"/>
                </a:solidFill>
                <a:latin typeface="Arial"/>
                <a:cs typeface="Arial"/>
              </a:rPr>
              <a:t>data_type.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37961" y="6075934"/>
            <a:ext cx="2776220" cy="1238250"/>
            <a:chOff x="5537961" y="6075934"/>
            <a:chExt cx="2776220" cy="1238250"/>
          </a:xfrm>
        </p:grpSpPr>
        <p:sp>
          <p:nvSpPr>
            <p:cNvPr id="26" name="object 26"/>
            <p:cNvSpPr/>
            <p:nvPr/>
          </p:nvSpPr>
          <p:spPr>
            <a:xfrm>
              <a:off x="5544311" y="6082284"/>
              <a:ext cx="2763520" cy="1225550"/>
            </a:xfrm>
            <a:custGeom>
              <a:avLst/>
              <a:gdLst/>
              <a:ahLst/>
              <a:cxnLst/>
              <a:rect l="l" t="t" r="r" b="b"/>
              <a:pathLst>
                <a:path w="2763520" h="1225550">
                  <a:moveTo>
                    <a:pt x="1381506" y="0"/>
                  </a:moveTo>
                  <a:lnTo>
                    <a:pt x="1316469" y="666"/>
                  </a:lnTo>
                  <a:lnTo>
                    <a:pt x="1252207" y="2647"/>
                  </a:lnTo>
                  <a:lnTo>
                    <a:pt x="1188785" y="5913"/>
                  </a:lnTo>
                  <a:lnTo>
                    <a:pt x="1126271" y="10434"/>
                  </a:lnTo>
                  <a:lnTo>
                    <a:pt x="1064729" y="16180"/>
                  </a:lnTo>
                  <a:lnTo>
                    <a:pt x="1004227" y="23123"/>
                  </a:lnTo>
                  <a:lnTo>
                    <a:pt x="944831" y="31233"/>
                  </a:lnTo>
                  <a:lnTo>
                    <a:pt x="886607" y="40480"/>
                  </a:lnTo>
                  <a:lnTo>
                    <a:pt x="829621" y="50836"/>
                  </a:lnTo>
                  <a:lnTo>
                    <a:pt x="773940" y="62270"/>
                  </a:lnTo>
                  <a:lnTo>
                    <a:pt x="719631" y="74754"/>
                  </a:lnTo>
                  <a:lnTo>
                    <a:pt x="666759" y="88257"/>
                  </a:lnTo>
                  <a:lnTo>
                    <a:pt x="615391" y="102751"/>
                  </a:lnTo>
                  <a:lnTo>
                    <a:pt x="565592" y="118206"/>
                  </a:lnTo>
                  <a:lnTo>
                    <a:pt x="517431" y="134592"/>
                  </a:lnTo>
                  <a:lnTo>
                    <a:pt x="470972" y="151881"/>
                  </a:lnTo>
                  <a:lnTo>
                    <a:pt x="426282" y="170042"/>
                  </a:lnTo>
                  <a:lnTo>
                    <a:pt x="383428" y="189047"/>
                  </a:lnTo>
                  <a:lnTo>
                    <a:pt x="342475" y="208865"/>
                  </a:lnTo>
                  <a:lnTo>
                    <a:pt x="303491" y="229469"/>
                  </a:lnTo>
                  <a:lnTo>
                    <a:pt x="266541" y="250827"/>
                  </a:lnTo>
                  <a:lnTo>
                    <a:pt x="231692" y="272911"/>
                  </a:lnTo>
                  <a:lnTo>
                    <a:pt x="199010" y="295691"/>
                  </a:lnTo>
                  <a:lnTo>
                    <a:pt x="168561" y="319137"/>
                  </a:lnTo>
                  <a:lnTo>
                    <a:pt x="114629" y="367914"/>
                  </a:lnTo>
                  <a:lnTo>
                    <a:pt x="70427" y="419004"/>
                  </a:lnTo>
                  <a:lnTo>
                    <a:pt x="36484" y="472174"/>
                  </a:lnTo>
                  <a:lnTo>
                    <a:pt x="13333" y="527187"/>
                  </a:lnTo>
                  <a:lnTo>
                    <a:pt x="1503" y="583808"/>
                  </a:lnTo>
                  <a:lnTo>
                    <a:pt x="0" y="612647"/>
                  </a:lnTo>
                  <a:lnTo>
                    <a:pt x="1503" y="641487"/>
                  </a:lnTo>
                  <a:lnTo>
                    <a:pt x="13333" y="698108"/>
                  </a:lnTo>
                  <a:lnTo>
                    <a:pt x="36484" y="753121"/>
                  </a:lnTo>
                  <a:lnTo>
                    <a:pt x="70427" y="806291"/>
                  </a:lnTo>
                  <a:lnTo>
                    <a:pt x="114629" y="857381"/>
                  </a:lnTo>
                  <a:lnTo>
                    <a:pt x="168561" y="906158"/>
                  </a:lnTo>
                  <a:lnTo>
                    <a:pt x="199010" y="929604"/>
                  </a:lnTo>
                  <a:lnTo>
                    <a:pt x="231692" y="952384"/>
                  </a:lnTo>
                  <a:lnTo>
                    <a:pt x="266541" y="974468"/>
                  </a:lnTo>
                  <a:lnTo>
                    <a:pt x="303491" y="995826"/>
                  </a:lnTo>
                  <a:lnTo>
                    <a:pt x="342475" y="1016430"/>
                  </a:lnTo>
                  <a:lnTo>
                    <a:pt x="383428" y="1036248"/>
                  </a:lnTo>
                  <a:lnTo>
                    <a:pt x="426282" y="1055253"/>
                  </a:lnTo>
                  <a:lnTo>
                    <a:pt x="470972" y="1073414"/>
                  </a:lnTo>
                  <a:lnTo>
                    <a:pt x="517431" y="1090703"/>
                  </a:lnTo>
                  <a:lnTo>
                    <a:pt x="565592" y="1107089"/>
                  </a:lnTo>
                  <a:lnTo>
                    <a:pt x="615391" y="1122544"/>
                  </a:lnTo>
                  <a:lnTo>
                    <a:pt x="666759" y="1137038"/>
                  </a:lnTo>
                  <a:lnTo>
                    <a:pt x="719631" y="1150541"/>
                  </a:lnTo>
                  <a:lnTo>
                    <a:pt x="773940" y="1163025"/>
                  </a:lnTo>
                  <a:lnTo>
                    <a:pt x="829621" y="1174459"/>
                  </a:lnTo>
                  <a:lnTo>
                    <a:pt x="886607" y="1184815"/>
                  </a:lnTo>
                  <a:lnTo>
                    <a:pt x="944831" y="1194062"/>
                  </a:lnTo>
                  <a:lnTo>
                    <a:pt x="1004227" y="1202172"/>
                  </a:lnTo>
                  <a:lnTo>
                    <a:pt x="1064729" y="1209115"/>
                  </a:lnTo>
                  <a:lnTo>
                    <a:pt x="1126271" y="1214861"/>
                  </a:lnTo>
                  <a:lnTo>
                    <a:pt x="1188785" y="1219382"/>
                  </a:lnTo>
                  <a:lnTo>
                    <a:pt x="1252207" y="1222648"/>
                  </a:lnTo>
                  <a:lnTo>
                    <a:pt x="1316469" y="1224629"/>
                  </a:lnTo>
                  <a:lnTo>
                    <a:pt x="1381506" y="1225295"/>
                  </a:lnTo>
                  <a:lnTo>
                    <a:pt x="1446542" y="1224629"/>
                  </a:lnTo>
                  <a:lnTo>
                    <a:pt x="1510804" y="1222648"/>
                  </a:lnTo>
                  <a:lnTo>
                    <a:pt x="1574226" y="1219382"/>
                  </a:lnTo>
                  <a:lnTo>
                    <a:pt x="1636740" y="1214861"/>
                  </a:lnTo>
                  <a:lnTo>
                    <a:pt x="1698282" y="1209115"/>
                  </a:lnTo>
                  <a:lnTo>
                    <a:pt x="1758784" y="1202172"/>
                  </a:lnTo>
                  <a:lnTo>
                    <a:pt x="1818180" y="1194062"/>
                  </a:lnTo>
                  <a:lnTo>
                    <a:pt x="1876404" y="1184815"/>
                  </a:lnTo>
                  <a:lnTo>
                    <a:pt x="1933390" y="1174459"/>
                  </a:lnTo>
                  <a:lnTo>
                    <a:pt x="1989071" y="1163025"/>
                  </a:lnTo>
                  <a:lnTo>
                    <a:pt x="2043380" y="1150541"/>
                  </a:lnTo>
                  <a:lnTo>
                    <a:pt x="2096252" y="1137038"/>
                  </a:lnTo>
                  <a:lnTo>
                    <a:pt x="2147620" y="1122544"/>
                  </a:lnTo>
                  <a:lnTo>
                    <a:pt x="2197419" y="1107089"/>
                  </a:lnTo>
                  <a:lnTo>
                    <a:pt x="2245580" y="1090703"/>
                  </a:lnTo>
                  <a:lnTo>
                    <a:pt x="2292039" y="1073414"/>
                  </a:lnTo>
                  <a:lnTo>
                    <a:pt x="2336729" y="1055253"/>
                  </a:lnTo>
                  <a:lnTo>
                    <a:pt x="2379583" y="1036248"/>
                  </a:lnTo>
                  <a:lnTo>
                    <a:pt x="2420536" y="1016430"/>
                  </a:lnTo>
                  <a:lnTo>
                    <a:pt x="2459520" y="995826"/>
                  </a:lnTo>
                  <a:lnTo>
                    <a:pt x="2496470" y="974468"/>
                  </a:lnTo>
                  <a:lnTo>
                    <a:pt x="2531319" y="952384"/>
                  </a:lnTo>
                  <a:lnTo>
                    <a:pt x="2564001" y="929604"/>
                  </a:lnTo>
                  <a:lnTo>
                    <a:pt x="2594450" y="906158"/>
                  </a:lnTo>
                  <a:lnTo>
                    <a:pt x="2648382" y="857381"/>
                  </a:lnTo>
                  <a:lnTo>
                    <a:pt x="2692584" y="806291"/>
                  </a:lnTo>
                  <a:lnTo>
                    <a:pt x="2726527" y="753121"/>
                  </a:lnTo>
                  <a:lnTo>
                    <a:pt x="2749678" y="698108"/>
                  </a:lnTo>
                  <a:lnTo>
                    <a:pt x="2761508" y="641487"/>
                  </a:lnTo>
                  <a:lnTo>
                    <a:pt x="2763012" y="612647"/>
                  </a:lnTo>
                  <a:lnTo>
                    <a:pt x="2761508" y="583808"/>
                  </a:lnTo>
                  <a:lnTo>
                    <a:pt x="2749678" y="527187"/>
                  </a:lnTo>
                  <a:lnTo>
                    <a:pt x="2726527" y="472174"/>
                  </a:lnTo>
                  <a:lnTo>
                    <a:pt x="2692584" y="419004"/>
                  </a:lnTo>
                  <a:lnTo>
                    <a:pt x="2648382" y="367914"/>
                  </a:lnTo>
                  <a:lnTo>
                    <a:pt x="2594450" y="319137"/>
                  </a:lnTo>
                  <a:lnTo>
                    <a:pt x="2564001" y="295691"/>
                  </a:lnTo>
                  <a:lnTo>
                    <a:pt x="2531319" y="272911"/>
                  </a:lnTo>
                  <a:lnTo>
                    <a:pt x="2496470" y="250827"/>
                  </a:lnTo>
                  <a:lnTo>
                    <a:pt x="2459520" y="229469"/>
                  </a:lnTo>
                  <a:lnTo>
                    <a:pt x="2420536" y="208865"/>
                  </a:lnTo>
                  <a:lnTo>
                    <a:pt x="2379583" y="189047"/>
                  </a:lnTo>
                  <a:lnTo>
                    <a:pt x="2336729" y="170042"/>
                  </a:lnTo>
                  <a:lnTo>
                    <a:pt x="2292039" y="151881"/>
                  </a:lnTo>
                  <a:lnTo>
                    <a:pt x="2245580" y="134592"/>
                  </a:lnTo>
                  <a:lnTo>
                    <a:pt x="2197419" y="118206"/>
                  </a:lnTo>
                  <a:lnTo>
                    <a:pt x="2147620" y="102751"/>
                  </a:lnTo>
                  <a:lnTo>
                    <a:pt x="2096252" y="88257"/>
                  </a:lnTo>
                  <a:lnTo>
                    <a:pt x="2043380" y="74754"/>
                  </a:lnTo>
                  <a:lnTo>
                    <a:pt x="1989071" y="62270"/>
                  </a:lnTo>
                  <a:lnTo>
                    <a:pt x="1933390" y="50836"/>
                  </a:lnTo>
                  <a:lnTo>
                    <a:pt x="1876404" y="40480"/>
                  </a:lnTo>
                  <a:lnTo>
                    <a:pt x="1818180" y="31233"/>
                  </a:lnTo>
                  <a:lnTo>
                    <a:pt x="1758784" y="23123"/>
                  </a:lnTo>
                  <a:lnTo>
                    <a:pt x="1698282" y="16180"/>
                  </a:lnTo>
                  <a:lnTo>
                    <a:pt x="1636740" y="10434"/>
                  </a:lnTo>
                  <a:lnTo>
                    <a:pt x="1574226" y="5913"/>
                  </a:lnTo>
                  <a:lnTo>
                    <a:pt x="1510804" y="2647"/>
                  </a:lnTo>
                  <a:lnTo>
                    <a:pt x="1446542" y="666"/>
                  </a:lnTo>
                  <a:lnTo>
                    <a:pt x="138150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44311" y="6082284"/>
              <a:ext cx="2763520" cy="1225550"/>
            </a:xfrm>
            <a:custGeom>
              <a:avLst/>
              <a:gdLst/>
              <a:ahLst/>
              <a:cxnLst/>
              <a:rect l="l" t="t" r="r" b="b"/>
              <a:pathLst>
                <a:path w="2763520" h="1225550">
                  <a:moveTo>
                    <a:pt x="0" y="612647"/>
                  </a:moveTo>
                  <a:lnTo>
                    <a:pt x="5970" y="555311"/>
                  </a:lnTo>
                  <a:lnTo>
                    <a:pt x="23527" y="499465"/>
                  </a:lnTo>
                  <a:lnTo>
                    <a:pt x="52140" y="445344"/>
                  </a:lnTo>
                  <a:lnTo>
                    <a:pt x="91278" y="393185"/>
                  </a:lnTo>
                  <a:lnTo>
                    <a:pt x="140412" y="343222"/>
                  </a:lnTo>
                  <a:lnTo>
                    <a:pt x="199010" y="295691"/>
                  </a:lnTo>
                  <a:lnTo>
                    <a:pt x="231692" y="272911"/>
                  </a:lnTo>
                  <a:lnTo>
                    <a:pt x="266541" y="250827"/>
                  </a:lnTo>
                  <a:lnTo>
                    <a:pt x="303491" y="229469"/>
                  </a:lnTo>
                  <a:lnTo>
                    <a:pt x="342475" y="208865"/>
                  </a:lnTo>
                  <a:lnTo>
                    <a:pt x="383428" y="189047"/>
                  </a:lnTo>
                  <a:lnTo>
                    <a:pt x="426282" y="170042"/>
                  </a:lnTo>
                  <a:lnTo>
                    <a:pt x="470972" y="151881"/>
                  </a:lnTo>
                  <a:lnTo>
                    <a:pt x="517431" y="134592"/>
                  </a:lnTo>
                  <a:lnTo>
                    <a:pt x="565592" y="118206"/>
                  </a:lnTo>
                  <a:lnTo>
                    <a:pt x="615391" y="102751"/>
                  </a:lnTo>
                  <a:lnTo>
                    <a:pt x="666759" y="88257"/>
                  </a:lnTo>
                  <a:lnTo>
                    <a:pt x="719631" y="74754"/>
                  </a:lnTo>
                  <a:lnTo>
                    <a:pt x="773940" y="62270"/>
                  </a:lnTo>
                  <a:lnTo>
                    <a:pt x="829621" y="50836"/>
                  </a:lnTo>
                  <a:lnTo>
                    <a:pt x="886607" y="40480"/>
                  </a:lnTo>
                  <a:lnTo>
                    <a:pt x="944831" y="31233"/>
                  </a:lnTo>
                  <a:lnTo>
                    <a:pt x="1004227" y="23123"/>
                  </a:lnTo>
                  <a:lnTo>
                    <a:pt x="1064729" y="16180"/>
                  </a:lnTo>
                  <a:lnTo>
                    <a:pt x="1126271" y="10434"/>
                  </a:lnTo>
                  <a:lnTo>
                    <a:pt x="1188785" y="5913"/>
                  </a:lnTo>
                  <a:lnTo>
                    <a:pt x="1252207" y="2647"/>
                  </a:lnTo>
                  <a:lnTo>
                    <a:pt x="1316469" y="666"/>
                  </a:lnTo>
                  <a:lnTo>
                    <a:pt x="1381506" y="0"/>
                  </a:lnTo>
                  <a:lnTo>
                    <a:pt x="1446542" y="666"/>
                  </a:lnTo>
                  <a:lnTo>
                    <a:pt x="1510804" y="2647"/>
                  </a:lnTo>
                  <a:lnTo>
                    <a:pt x="1574226" y="5913"/>
                  </a:lnTo>
                  <a:lnTo>
                    <a:pt x="1636740" y="10434"/>
                  </a:lnTo>
                  <a:lnTo>
                    <a:pt x="1698282" y="16180"/>
                  </a:lnTo>
                  <a:lnTo>
                    <a:pt x="1758784" y="23123"/>
                  </a:lnTo>
                  <a:lnTo>
                    <a:pt x="1818180" y="31233"/>
                  </a:lnTo>
                  <a:lnTo>
                    <a:pt x="1876404" y="40480"/>
                  </a:lnTo>
                  <a:lnTo>
                    <a:pt x="1933390" y="50836"/>
                  </a:lnTo>
                  <a:lnTo>
                    <a:pt x="1989071" y="62270"/>
                  </a:lnTo>
                  <a:lnTo>
                    <a:pt x="2043380" y="74754"/>
                  </a:lnTo>
                  <a:lnTo>
                    <a:pt x="2096252" y="88257"/>
                  </a:lnTo>
                  <a:lnTo>
                    <a:pt x="2147620" y="102751"/>
                  </a:lnTo>
                  <a:lnTo>
                    <a:pt x="2197419" y="118206"/>
                  </a:lnTo>
                  <a:lnTo>
                    <a:pt x="2245580" y="134592"/>
                  </a:lnTo>
                  <a:lnTo>
                    <a:pt x="2292039" y="151881"/>
                  </a:lnTo>
                  <a:lnTo>
                    <a:pt x="2336729" y="170042"/>
                  </a:lnTo>
                  <a:lnTo>
                    <a:pt x="2379583" y="189047"/>
                  </a:lnTo>
                  <a:lnTo>
                    <a:pt x="2420536" y="208865"/>
                  </a:lnTo>
                  <a:lnTo>
                    <a:pt x="2459520" y="229469"/>
                  </a:lnTo>
                  <a:lnTo>
                    <a:pt x="2496470" y="250827"/>
                  </a:lnTo>
                  <a:lnTo>
                    <a:pt x="2531319" y="272911"/>
                  </a:lnTo>
                  <a:lnTo>
                    <a:pt x="2564001" y="295691"/>
                  </a:lnTo>
                  <a:lnTo>
                    <a:pt x="2594450" y="319137"/>
                  </a:lnTo>
                  <a:lnTo>
                    <a:pt x="2648382" y="367914"/>
                  </a:lnTo>
                  <a:lnTo>
                    <a:pt x="2692584" y="419004"/>
                  </a:lnTo>
                  <a:lnTo>
                    <a:pt x="2726527" y="472174"/>
                  </a:lnTo>
                  <a:lnTo>
                    <a:pt x="2749678" y="527187"/>
                  </a:lnTo>
                  <a:lnTo>
                    <a:pt x="2761508" y="583808"/>
                  </a:lnTo>
                  <a:lnTo>
                    <a:pt x="2763012" y="612647"/>
                  </a:lnTo>
                  <a:lnTo>
                    <a:pt x="2761508" y="641487"/>
                  </a:lnTo>
                  <a:lnTo>
                    <a:pt x="2749678" y="698108"/>
                  </a:lnTo>
                  <a:lnTo>
                    <a:pt x="2726527" y="753121"/>
                  </a:lnTo>
                  <a:lnTo>
                    <a:pt x="2692584" y="806291"/>
                  </a:lnTo>
                  <a:lnTo>
                    <a:pt x="2648382" y="857381"/>
                  </a:lnTo>
                  <a:lnTo>
                    <a:pt x="2594450" y="906158"/>
                  </a:lnTo>
                  <a:lnTo>
                    <a:pt x="2564001" y="929604"/>
                  </a:lnTo>
                  <a:lnTo>
                    <a:pt x="2531319" y="952384"/>
                  </a:lnTo>
                  <a:lnTo>
                    <a:pt x="2496470" y="974468"/>
                  </a:lnTo>
                  <a:lnTo>
                    <a:pt x="2459520" y="995826"/>
                  </a:lnTo>
                  <a:lnTo>
                    <a:pt x="2420536" y="1016430"/>
                  </a:lnTo>
                  <a:lnTo>
                    <a:pt x="2379583" y="1036248"/>
                  </a:lnTo>
                  <a:lnTo>
                    <a:pt x="2336729" y="1055253"/>
                  </a:lnTo>
                  <a:lnTo>
                    <a:pt x="2292039" y="1073414"/>
                  </a:lnTo>
                  <a:lnTo>
                    <a:pt x="2245580" y="1090703"/>
                  </a:lnTo>
                  <a:lnTo>
                    <a:pt x="2197419" y="1107089"/>
                  </a:lnTo>
                  <a:lnTo>
                    <a:pt x="2147620" y="1122544"/>
                  </a:lnTo>
                  <a:lnTo>
                    <a:pt x="2096252" y="1137038"/>
                  </a:lnTo>
                  <a:lnTo>
                    <a:pt x="2043380" y="1150541"/>
                  </a:lnTo>
                  <a:lnTo>
                    <a:pt x="1989071" y="1163025"/>
                  </a:lnTo>
                  <a:lnTo>
                    <a:pt x="1933390" y="1174459"/>
                  </a:lnTo>
                  <a:lnTo>
                    <a:pt x="1876404" y="1184815"/>
                  </a:lnTo>
                  <a:lnTo>
                    <a:pt x="1818180" y="1194062"/>
                  </a:lnTo>
                  <a:lnTo>
                    <a:pt x="1758784" y="1202172"/>
                  </a:lnTo>
                  <a:lnTo>
                    <a:pt x="1698282" y="1209115"/>
                  </a:lnTo>
                  <a:lnTo>
                    <a:pt x="1636740" y="1214861"/>
                  </a:lnTo>
                  <a:lnTo>
                    <a:pt x="1574226" y="1219382"/>
                  </a:lnTo>
                  <a:lnTo>
                    <a:pt x="1510804" y="1222648"/>
                  </a:lnTo>
                  <a:lnTo>
                    <a:pt x="1446542" y="1224629"/>
                  </a:lnTo>
                  <a:lnTo>
                    <a:pt x="1381506" y="1225295"/>
                  </a:lnTo>
                  <a:lnTo>
                    <a:pt x="1316469" y="1224629"/>
                  </a:lnTo>
                  <a:lnTo>
                    <a:pt x="1252207" y="1222648"/>
                  </a:lnTo>
                  <a:lnTo>
                    <a:pt x="1188785" y="1219382"/>
                  </a:lnTo>
                  <a:lnTo>
                    <a:pt x="1126271" y="1214861"/>
                  </a:lnTo>
                  <a:lnTo>
                    <a:pt x="1064729" y="1209115"/>
                  </a:lnTo>
                  <a:lnTo>
                    <a:pt x="1004227" y="1202172"/>
                  </a:lnTo>
                  <a:lnTo>
                    <a:pt x="944831" y="1194062"/>
                  </a:lnTo>
                  <a:lnTo>
                    <a:pt x="886607" y="1184815"/>
                  </a:lnTo>
                  <a:lnTo>
                    <a:pt x="829621" y="1174459"/>
                  </a:lnTo>
                  <a:lnTo>
                    <a:pt x="773940" y="1163025"/>
                  </a:lnTo>
                  <a:lnTo>
                    <a:pt x="719631" y="1150541"/>
                  </a:lnTo>
                  <a:lnTo>
                    <a:pt x="666759" y="1137038"/>
                  </a:lnTo>
                  <a:lnTo>
                    <a:pt x="615391" y="1122544"/>
                  </a:lnTo>
                  <a:lnTo>
                    <a:pt x="565592" y="1107089"/>
                  </a:lnTo>
                  <a:lnTo>
                    <a:pt x="517431" y="1090703"/>
                  </a:lnTo>
                  <a:lnTo>
                    <a:pt x="470972" y="1073414"/>
                  </a:lnTo>
                  <a:lnTo>
                    <a:pt x="426282" y="1055253"/>
                  </a:lnTo>
                  <a:lnTo>
                    <a:pt x="383428" y="1036248"/>
                  </a:lnTo>
                  <a:lnTo>
                    <a:pt x="342475" y="1016430"/>
                  </a:lnTo>
                  <a:lnTo>
                    <a:pt x="303491" y="995826"/>
                  </a:lnTo>
                  <a:lnTo>
                    <a:pt x="266541" y="974468"/>
                  </a:lnTo>
                  <a:lnTo>
                    <a:pt x="231692" y="952384"/>
                  </a:lnTo>
                  <a:lnTo>
                    <a:pt x="199010" y="929604"/>
                  </a:lnTo>
                  <a:lnTo>
                    <a:pt x="168561" y="906158"/>
                  </a:lnTo>
                  <a:lnTo>
                    <a:pt x="114629" y="857381"/>
                  </a:lnTo>
                  <a:lnTo>
                    <a:pt x="70427" y="806291"/>
                  </a:lnTo>
                  <a:lnTo>
                    <a:pt x="36484" y="753121"/>
                  </a:lnTo>
                  <a:lnTo>
                    <a:pt x="13333" y="698108"/>
                  </a:lnTo>
                  <a:lnTo>
                    <a:pt x="1503" y="641487"/>
                  </a:lnTo>
                  <a:lnTo>
                    <a:pt x="0" y="612647"/>
                  </a:lnTo>
                  <a:close/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37326" y="6287516"/>
            <a:ext cx="1672589" cy="8331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7640">
              <a:lnSpc>
                <a:spcPct val="100000"/>
              </a:lnSpc>
              <a:spcBef>
                <a:spcPts val="105"/>
              </a:spcBef>
            </a:pPr>
            <a:r>
              <a:rPr sz="265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  (d</a:t>
            </a:r>
            <a:r>
              <a:rPr sz="26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5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50" b="1" dirty="0">
                <a:solidFill>
                  <a:srgbClr val="FF0000"/>
                </a:solidFill>
                <a:latin typeface="Times New Roman"/>
                <a:cs typeface="Times New Roman"/>
              </a:rPr>
              <a:t>_</a:t>
            </a:r>
            <a:r>
              <a:rPr sz="265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650" b="1" dirty="0">
                <a:solidFill>
                  <a:srgbClr val="FF0000"/>
                </a:solidFill>
                <a:latin typeface="Times New Roman"/>
                <a:cs typeface="Times New Roman"/>
              </a:rPr>
              <a:t>ype)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10286" y="6075934"/>
            <a:ext cx="2776220" cy="1268730"/>
            <a:chOff x="510286" y="6075934"/>
            <a:chExt cx="2776220" cy="1268730"/>
          </a:xfrm>
        </p:grpSpPr>
        <p:sp>
          <p:nvSpPr>
            <p:cNvPr id="30" name="object 30"/>
            <p:cNvSpPr/>
            <p:nvPr/>
          </p:nvSpPr>
          <p:spPr>
            <a:xfrm>
              <a:off x="516636" y="6082284"/>
              <a:ext cx="2763520" cy="1256030"/>
            </a:xfrm>
            <a:custGeom>
              <a:avLst/>
              <a:gdLst/>
              <a:ahLst/>
              <a:cxnLst/>
              <a:rect l="l" t="t" r="r" b="b"/>
              <a:pathLst>
                <a:path w="2763520" h="1256029">
                  <a:moveTo>
                    <a:pt x="1381506" y="0"/>
                  </a:moveTo>
                  <a:lnTo>
                    <a:pt x="1316471" y="683"/>
                  </a:lnTo>
                  <a:lnTo>
                    <a:pt x="1252211" y="2713"/>
                  </a:lnTo>
                  <a:lnTo>
                    <a:pt x="1188791" y="6060"/>
                  </a:lnTo>
                  <a:lnTo>
                    <a:pt x="1126277" y="10693"/>
                  </a:lnTo>
                  <a:lnTo>
                    <a:pt x="1064737" y="16582"/>
                  </a:lnTo>
                  <a:lnTo>
                    <a:pt x="1004236" y="23698"/>
                  </a:lnTo>
                  <a:lnTo>
                    <a:pt x="944840" y="32010"/>
                  </a:lnTo>
                  <a:lnTo>
                    <a:pt x="886617" y="41487"/>
                  </a:lnTo>
                  <a:lnTo>
                    <a:pt x="829632" y="52100"/>
                  </a:lnTo>
                  <a:lnTo>
                    <a:pt x="773952" y="63819"/>
                  </a:lnTo>
                  <a:lnTo>
                    <a:pt x="719642" y="76613"/>
                  </a:lnTo>
                  <a:lnTo>
                    <a:pt x="666770" y="90452"/>
                  </a:lnTo>
                  <a:lnTo>
                    <a:pt x="615402" y="105306"/>
                  </a:lnTo>
                  <a:lnTo>
                    <a:pt x="565603" y="121145"/>
                  </a:lnTo>
                  <a:lnTo>
                    <a:pt x="517441" y="137939"/>
                  </a:lnTo>
                  <a:lnTo>
                    <a:pt x="470982" y="155658"/>
                  </a:lnTo>
                  <a:lnTo>
                    <a:pt x="426292" y="174271"/>
                  </a:lnTo>
                  <a:lnTo>
                    <a:pt x="383437" y="193748"/>
                  </a:lnTo>
                  <a:lnTo>
                    <a:pt x="342484" y="214060"/>
                  </a:lnTo>
                  <a:lnTo>
                    <a:pt x="303499" y="235175"/>
                  </a:lnTo>
                  <a:lnTo>
                    <a:pt x="266548" y="257065"/>
                  </a:lnTo>
                  <a:lnTo>
                    <a:pt x="231698" y="279698"/>
                  </a:lnTo>
                  <a:lnTo>
                    <a:pt x="199016" y="303045"/>
                  </a:lnTo>
                  <a:lnTo>
                    <a:pt x="168566" y="327075"/>
                  </a:lnTo>
                  <a:lnTo>
                    <a:pt x="114633" y="377064"/>
                  </a:lnTo>
                  <a:lnTo>
                    <a:pt x="70429" y="429426"/>
                  </a:lnTo>
                  <a:lnTo>
                    <a:pt x="36486" y="483918"/>
                  </a:lnTo>
                  <a:lnTo>
                    <a:pt x="13334" y="540300"/>
                  </a:lnTo>
                  <a:lnTo>
                    <a:pt x="1503" y="598330"/>
                  </a:lnTo>
                  <a:lnTo>
                    <a:pt x="0" y="627887"/>
                  </a:lnTo>
                  <a:lnTo>
                    <a:pt x="1503" y="657445"/>
                  </a:lnTo>
                  <a:lnTo>
                    <a:pt x="13334" y="715475"/>
                  </a:lnTo>
                  <a:lnTo>
                    <a:pt x="36486" y="771857"/>
                  </a:lnTo>
                  <a:lnTo>
                    <a:pt x="70429" y="826349"/>
                  </a:lnTo>
                  <a:lnTo>
                    <a:pt x="114633" y="878711"/>
                  </a:lnTo>
                  <a:lnTo>
                    <a:pt x="168566" y="928700"/>
                  </a:lnTo>
                  <a:lnTo>
                    <a:pt x="199016" y="952730"/>
                  </a:lnTo>
                  <a:lnTo>
                    <a:pt x="231698" y="976077"/>
                  </a:lnTo>
                  <a:lnTo>
                    <a:pt x="266548" y="998710"/>
                  </a:lnTo>
                  <a:lnTo>
                    <a:pt x="303499" y="1020600"/>
                  </a:lnTo>
                  <a:lnTo>
                    <a:pt x="342484" y="1041715"/>
                  </a:lnTo>
                  <a:lnTo>
                    <a:pt x="383437" y="1062027"/>
                  </a:lnTo>
                  <a:lnTo>
                    <a:pt x="426292" y="1081504"/>
                  </a:lnTo>
                  <a:lnTo>
                    <a:pt x="470982" y="1100117"/>
                  </a:lnTo>
                  <a:lnTo>
                    <a:pt x="517441" y="1117836"/>
                  </a:lnTo>
                  <a:lnTo>
                    <a:pt x="565603" y="1134630"/>
                  </a:lnTo>
                  <a:lnTo>
                    <a:pt x="615402" y="1150469"/>
                  </a:lnTo>
                  <a:lnTo>
                    <a:pt x="666770" y="1165323"/>
                  </a:lnTo>
                  <a:lnTo>
                    <a:pt x="719642" y="1179162"/>
                  </a:lnTo>
                  <a:lnTo>
                    <a:pt x="773952" y="1191956"/>
                  </a:lnTo>
                  <a:lnTo>
                    <a:pt x="829632" y="1203675"/>
                  </a:lnTo>
                  <a:lnTo>
                    <a:pt x="886617" y="1214288"/>
                  </a:lnTo>
                  <a:lnTo>
                    <a:pt x="944840" y="1223765"/>
                  </a:lnTo>
                  <a:lnTo>
                    <a:pt x="1004236" y="1232077"/>
                  </a:lnTo>
                  <a:lnTo>
                    <a:pt x="1064737" y="1239193"/>
                  </a:lnTo>
                  <a:lnTo>
                    <a:pt x="1126277" y="1245082"/>
                  </a:lnTo>
                  <a:lnTo>
                    <a:pt x="1188791" y="1249715"/>
                  </a:lnTo>
                  <a:lnTo>
                    <a:pt x="1252211" y="1253062"/>
                  </a:lnTo>
                  <a:lnTo>
                    <a:pt x="1316471" y="1255092"/>
                  </a:lnTo>
                  <a:lnTo>
                    <a:pt x="1381506" y="1255775"/>
                  </a:lnTo>
                  <a:lnTo>
                    <a:pt x="1446542" y="1255092"/>
                  </a:lnTo>
                  <a:lnTo>
                    <a:pt x="1510804" y="1253062"/>
                  </a:lnTo>
                  <a:lnTo>
                    <a:pt x="1574226" y="1249715"/>
                  </a:lnTo>
                  <a:lnTo>
                    <a:pt x="1636740" y="1245082"/>
                  </a:lnTo>
                  <a:lnTo>
                    <a:pt x="1698282" y="1239193"/>
                  </a:lnTo>
                  <a:lnTo>
                    <a:pt x="1758784" y="1232077"/>
                  </a:lnTo>
                  <a:lnTo>
                    <a:pt x="1818180" y="1223765"/>
                  </a:lnTo>
                  <a:lnTo>
                    <a:pt x="1876404" y="1214288"/>
                  </a:lnTo>
                  <a:lnTo>
                    <a:pt x="1933390" y="1203675"/>
                  </a:lnTo>
                  <a:lnTo>
                    <a:pt x="1989071" y="1191956"/>
                  </a:lnTo>
                  <a:lnTo>
                    <a:pt x="2043380" y="1179162"/>
                  </a:lnTo>
                  <a:lnTo>
                    <a:pt x="2096252" y="1165323"/>
                  </a:lnTo>
                  <a:lnTo>
                    <a:pt x="2147620" y="1150469"/>
                  </a:lnTo>
                  <a:lnTo>
                    <a:pt x="2197419" y="1134630"/>
                  </a:lnTo>
                  <a:lnTo>
                    <a:pt x="2245580" y="1117836"/>
                  </a:lnTo>
                  <a:lnTo>
                    <a:pt x="2292039" y="1100117"/>
                  </a:lnTo>
                  <a:lnTo>
                    <a:pt x="2336729" y="1081504"/>
                  </a:lnTo>
                  <a:lnTo>
                    <a:pt x="2379583" y="1062027"/>
                  </a:lnTo>
                  <a:lnTo>
                    <a:pt x="2420536" y="1041715"/>
                  </a:lnTo>
                  <a:lnTo>
                    <a:pt x="2459520" y="1020600"/>
                  </a:lnTo>
                  <a:lnTo>
                    <a:pt x="2496470" y="998710"/>
                  </a:lnTo>
                  <a:lnTo>
                    <a:pt x="2531319" y="976077"/>
                  </a:lnTo>
                  <a:lnTo>
                    <a:pt x="2564001" y="952730"/>
                  </a:lnTo>
                  <a:lnTo>
                    <a:pt x="2594450" y="928700"/>
                  </a:lnTo>
                  <a:lnTo>
                    <a:pt x="2648382" y="878711"/>
                  </a:lnTo>
                  <a:lnTo>
                    <a:pt x="2692584" y="826349"/>
                  </a:lnTo>
                  <a:lnTo>
                    <a:pt x="2726527" y="771857"/>
                  </a:lnTo>
                  <a:lnTo>
                    <a:pt x="2749678" y="715475"/>
                  </a:lnTo>
                  <a:lnTo>
                    <a:pt x="2761508" y="657445"/>
                  </a:lnTo>
                  <a:lnTo>
                    <a:pt x="2763012" y="627887"/>
                  </a:lnTo>
                  <a:lnTo>
                    <a:pt x="2761508" y="598330"/>
                  </a:lnTo>
                  <a:lnTo>
                    <a:pt x="2749678" y="540300"/>
                  </a:lnTo>
                  <a:lnTo>
                    <a:pt x="2726527" y="483918"/>
                  </a:lnTo>
                  <a:lnTo>
                    <a:pt x="2692584" y="429426"/>
                  </a:lnTo>
                  <a:lnTo>
                    <a:pt x="2648382" y="377064"/>
                  </a:lnTo>
                  <a:lnTo>
                    <a:pt x="2594450" y="327075"/>
                  </a:lnTo>
                  <a:lnTo>
                    <a:pt x="2564001" y="303045"/>
                  </a:lnTo>
                  <a:lnTo>
                    <a:pt x="2531319" y="279698"/>
                  </a:lnTo>
                  <a:lnTo>
                    <a:pt x="2496470" y="257065"/>
                  </a:lnTo>
                  <a:lnTo>
                    <a:pt x="2459520" y="235175"/>
                  </a:lnTo>
                  <a:lnTo>
                    <a:pt x="2420536" y="214060"/>
                  </a:lnTo>
                  <a:lnTo>
                    <a:pt x="2379583" y="193748"/>
                  </a:lnTo>
                  <a:lnTo>
                    <a:pt x="2336729" y="174271"/>
                  </a:lnTo>
                  <a:lnTo>
                    <a:pt x="2292039" y="155658"/>
                  </a:lnTo>
                  <a:lnTo>
                    <a:pt x="2245580" y="137939"/>
                  </a:lnTo>
                  <a:lnTo>
                    <a:pt x="2197419" y="121145"/>
                  </a:lnTo>
                  <a:lnTo>
                    <a:pt x="2147620" y="105306"/>
                  </a:lnTo>
                  <a:lnTo>
                    <a:pt x="2096252" y="90452"/>
                  </a:lnTo>
                  <a:lnTo>
                    <a:pt x="2043380" y="76613"/>
                  </a:lnTo>
                  <a:lnTo>
                    <a:pt x="1989071" y="63819"/>
                  </a:lnTo>
                  <a:lnTo>
                    <a:pt x="1933390" y="52100"/>
                  </a:lnTo>
                  <a:lnTo>
                    <a:pt x="1876404" y="41487"/>
                  </a:lnTo>
                  <a:lnTo>
                    <a:pt x="1818180" y="32010"/>
                  </a:lnTo>
                  <a:lnTo>
                    <a:pt x="1758784" y="23698"/>
                  </a:lnTo>
                  <a:lnTo>
                    <a:pt x="1698282" y="16582"/>
                  </a:lnTo>
                  <a:lnTo>
                    <a:pt x="1636740" y="10693"/>
                  </a:lnTo>
                  <a:lnTo>
                    <a:pt x="1574226" y="6060"/>
                  </a:lnTo>
                  <a:lnTo>
                    <a:pt x="1510804" y="2713"/>
                  </a:lnTo>
                  <a:lnTo>
                    <a:pt x="1446542" y="683"/>
                  </a:lnTo>
                  <a:lnTo>
                    <a:pt x="138150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6636" y="6082284"/>
              <a:ext cx="2763520" cy="1256030"/>
            </a:xfrm>
            <a:custGeom>
              <a:avLst/>
              <a:gdLst/>
              <a:ahLst/>
              <a:cxnLst/>
              <a:rect l="l" t="t" r="r" b="b"/>
              <a:pathLst>
                <a:path w="2763520" h="1256029">
                  <a:moveTo>
                    <a:pt x="0" y="627887"/>
                  </a:moveTo>
                  <a:lnTo>
                    <a:pt x="5970" y="569124"/>
                  </a:lnTo>
                  <a:lnTo>
                    <a:pt x="23528" y="511888"/>
                  </a:lnTo>
                  <a:lnTo>
                    <a:pt x="52142" y="456421"/>
                  </a:lnTo>
                  <a:lnTo>
                    <a:pt x="91281" y="402964"/>
                  </a:lnTo>
                  <a:lnTo>
                    <a:pt x="140416" y="351758"/>
                  </a:lnTo>
                  <a:lnTo>
                    <a:pt x="199016" y="303045"/>
                  </a:lnTo>
                  <a:lnTo>
                    <a:pt x="231698" y="279698"/>
                  </a:lnTo>
                  <a:lnTo>
                    <a:pt x="266548" y="257065"/>
                  </a:lnTo>
                  <a:lnTo>
                    <a:pt x="303499" y="235175"/>
                  </a:lnTo>
                  <a:lnTo>
                    <a:pt x="342484" y="214060"/>
                  </a:lnTo>
                  <a:lnTo>
                    <a:pt x="383437" y="193748"/>
                  </a:lnTo>
                  <a:lnTo>
                    <a:pt x="426292" y="174271"/>
                  </a:lnTo>
                  <a:lnTo>
                    <a:pt x="470982" y="155658"/>
                  </a:lnTo>
                  <a:lnTo>
                    <a:pt x="517441" y="137939"/>
                  </a:lnTo>
                  <a:lnTo>
                    <a:pt x="565603" y="121145"/>
                  </a:lnTo>
                  <a:lnTo>
                    <a:pt x="615402" y="105306"/>
                  </a:lnTo>
                  <a:lnTo>
                    <a:pt x="666770" y="90452"/>
                  </a:lnTo>
                  <a:lnTo>
                    <a:pt x="719642" y="76613"/>
                  </a:lnTo>
                  <a:lnTo>
                    <a:pt x="773952" y="63819"/>
                  </a:lnTo>
                  <a:lnTo>
                    <a:pt x="829632" y="52100"/>
                  </a:lnTo>
                  <a:lnTo>
                    <a:pt x="886617" y="41487"/>
                  </a:lnTo>
                  <a:lnTo>
                    <a:pt x="944840" y="32010"/>
                  </a:lnTo>
                  <a:lnTo>
                    <a:pt x="1004236" y="23698"/>
                  </a:lnTo>
                  <a:lnTo>
                    <a:pt x="1064737" y="16582"/>
                  </a:lnTo>
                  <a:lnTo>
                    <a:pt x="1126277" y="10693"/>
                  </a:lnTo>
                  <a:lnTo>
                    <a:pt x="1188791" y="6060"/>
                  </a:lnTo>
                  <a:lnTo>
                    <a:pt x="1252211" y="2713"/>
                  </a:lnTo>
                  <a:lnTo>
                    <a:pt x="1316471" y="683"/>
                  </a:lnTo>
                  <a:lnTo>
                    <a:pt x="1381506" y="0"/>
                  </a:lnTo>
                  <a:lnTo>
                    <a:pt x="1446542" y="683"/>
                  </a:lnTo>
                  <a:lnTo>
                    <a:pt x="1510804" y="2713"/>
                  </a:lnTo>
                  <a:lnTo>
                    <a:pt x="1574226" y="6060"/>
                  </a:lnTo>
                  <a:lnTo>
                    <a:pt x="1636740" y="10693"/>
                  </a:lnTo>
                  <a:lnTo>
                    <a:pt x="1698282" y="16582"/>
                  </a:lnTo>
                  <a:lnTo>
                    <a:pt x="1758784" y="23698"/>
                  </a:lnTo>
                  <a:lnTo>
                    <a:pt x="1818180" y="32010"/>
                  </a:lnTo>
                  <a:lnTo>
                    <a:pt x="1876404" y="41487"/>
                  </a:lnTo>
                  <a:lnTo>
                    <a:pt x="1933390" y="52100"/>
                  </a:lnTo>
                  <a:lnTo>
                    <a:pt x="1989071" y="63819"/>
                  </a:lnTo>
                  <a:lnTo>
                    <a:pt x="2043380" y="76613"/>
                  </a:lnTo>
                  <a:lnTo>
                    <a:pt x="2096252" y="90452"/>
                  </a:lnTo>
                  <a:lnTo>
                    <a:pt x="2147620" y="105306"/>
                  </a:lnTo>
                  <a:lnTo>
                    <a:pt x="2197419" y="121145"/>
                  </a:lnTo>
                  <a:lnTo>
                    <a:pt x="2245580" y="137939"/>
                  </a:lnTo>
                  <a:lnTo>
                    <a:pt x="2292039" y="155658"/>
                  </a:lnTo>
                  <a:lnTo>
                    <a:pt x="2336729" y="174271"/>
                  </a:lnTo>
                  <a:lnTo>
                    <a:pt x="2379583" y="193748"/>
                  </a:lnTo>
                  <a:lnTo>
                    <a:pt x="2420536" y="214060"/>
                  </a:lnTo>
                  <a:lnTo>
                    <a:pt x="2459520" y="235175"/>
                  </a:lnTo>
                  <a:lnTo>
                    <a:pt x="2496470" y="257065"/>
                  </a:lnTo>
                  <a:lnTo>
                    <a:pt x="2531319" y="279698"/>
                  </a:lnTo>
                  <a:lnTo>
                    <a:pt x="2564001" y="303045"/>
                  </a:lnTo>
                  <a:lnTo>
                    <a:pt x="2594450" y="327075"/>
                  </a:lnTo>
                  <a:lnTo>
                    <a:pt x="2648382" y="377064"/>
                  </a:lnTo>
                  <a:lnTo>
                    <a:pt x="2692584" y="429426"/>
                  </a:lnTo>
                  <a:lnTo>
                    <a:pt x="2726527" y="483918"/>
                  </a:lnTo>
                  <a:lnTo>
                    <a:pt x="2749678" y="540300"/>
                  </a:lnTo>
                  <a:lnTo>
                    <a:pt x="2761508" y="598330"/>
                  </a:lnTo>
                  <a:lnTo>
                    <a:pt x="2763012" y="627887"/>
                  </a:lnTo>
                  <a:lnTo>
                    <a:pt x="2761508" y="657445"/>
                  </a:lnTo>
                  <a:lnTo>
                    <a:pt x="2749678" y="715475"/>
                  </a:lnTo>
                  <a:lnTo>
                    <a:pt x="2726527" y="771857"/>
                  </a:lnTo>
                  <a:lnTo>
                    <a:pt x="2692584" y="826349"/>
                  </a:lnTo>
                  <a:lnTo>
                    <a:pt x="2648382" y="878711"/>
                  </a:lnTo>
                  <a:lnTo>
                    <a:pt x="2594450" y="928700"/>
                  </a:lnTo>
                  <a:lnTo>
                    <a:pt x="2564001" y="952730"/>
                  </a:lnTo>
                  <a:lnTo>
                    <a:pt x="2531319" y="976077"/>
                  </a:lnTo>
                  <a:lnTo>
                    <a:pt x="2496470" y="998710"/>
                  </a:lnTo>
                  <a:lnTo>
                    <a:pt x="2459520" y="1020600"/>
                  </a:lnTo>
                  <a:lnTo>
                    <a:pt x="2420536" y="1041715"/>
                  </a:lnTo>
                  <a:lnTo>
                    <a:pt x="2379583" y="1062027"/>
                  </a:lnTo>
                  <a:lnTo>
                    <a:pt x="2336729" y="1081504"/>
                  </a:lnTo>
                  <a:lnTo>
                    <a:pt x="2292039" y="1100117"/>
                  </a:lnTo>
                  <a:lnTo>
                    <a:pt x="2245580" y="1117836"/>
                  </a:lnTo>
                  <a:lnTo>
                    <a:pt x="2197419" y="1134630"/>
                  </a:lnTo>
                  <a:lnTo>
                    <a:pt x="2147620" y="1150469"/>
                  </a:lnTo>
                  <a:lnTo>
                    <a:pt x="2096252" y="1165323"/>
                  </a:lnTo>
                  <a:lnTo>
                    <a:pt x="2043380" y="1179162"/>
                  </a:lnTo>
                  <a:lnTo>
                    <a:pt x="1989071" y="1191956"/>
                  </a:lnTo>
                  <a:lnTo>
                    <a:pt x="1933390" y="1203675"/>
                  </a:lnTo>
                  <a:lnTo>
                    <a:pt x="1876404" y="1214288"/>
                  </a:lnTo>
                  <a:lnTo>
                    <a:pt x="1818180" y="1223765"/>
                  </a:lnTo>
                  <a:lnTo>
                    <a:pt x="1758784" y="1232077"/>
                  </a:lnTo>
                  <a:lnTo>
                    <a:pt x="1698282" y="1239193"/>
                  </a:lnTo>
                  <a:lnTo>
                    <a:pt x="1636740" y="1245082"/>
                  </a:lnTo>
                  <a:lnTo>
                    <a:pt x="1574226" y="1249715"/>
                  </a:lnTo>
                  <a:lnTo>
                    <a:pt x="1510804" y="1253062"/>
                  </a:lnTo>
                  <a:lnTo>
                    <a:pt x="1446542" y="1255092"/>
                  </a:lnTo>
                  <a:lnTo>
                    <a:pt x="1381506" y="1255775"/>
                  </a:lnTo>
                  <a:lnTo>
                    <a:pt x="1316471" y="1255092"/>
                  </a:lnTo>
                  <a:lnTo>
                    <a:pt x="1252211" y="1253062"/>
                  </a:lnTo>
                  <a:lnTo>
                    <a:pt x="1188791" y="1249715"/>
                  </a:lnTo>
                  <a:lnTo>
                    <a:pt x="1126277" y="1245082"/>
                  </a:lnTo>
                  <a:lnTo>
                    <a:pt x="1064737" y="1239193"/>
                  </a:lnTo>
                  <a:lnTo>
                    <a:pt x="1004236" y="1232077"/>
                  </a:lnTo>
                  <a:lnTo>
                    <a:pt x="944840" y="1223765"/>
                  </a:lnTo>
                  <a:lnTo>
                    <a:pt x="886617" y="1214288"/>
                  </a:lnTo>
                  <a:lnTo>
                    <a:pt x="829632" y="1203675"/>
                  </a:lnTo>
                  <a:lnTo>
                    <a:pt x="773952" y="1191956"/>
                  </a:lnTo>
                  <a:lnTo>
                    <a:pt x="719642" y="1179162"/>
                  </a:lnTo>
                  <a:lnTo>
                    <a:pt x="666770" y="1165323"/>
                  </a:lnTo>
                  <a:lnTo>
                    <a:pt x="615402" y="1150469"/>
                  </a:lnTo>
                  <a:lnTo>
                    <a:pt x="565603" y="1134630"/>
                  </a:lnTo>
                  <a:lnTo>
                    <a:pt x="517441" y="1117836"/>
                  </a:lnTo>
                  <a:lnTo>
                    <a:pt x="470982" y="1100117"/>
                  </a:lnTo>
                  <a:lnTo>
                    <a:pt x="426292" y="1081504"/>
                  </a:lnTo>
                  <a:lnTo>
                    <a:pt x="383437" y="1062027"/>
                  </a:lnTo>
                  <a:lnTo>
                    <a:pt x="342484" y="1041715"/>
                  </a:lnTo>
                  <a:lnTo>
                    <a:pt x="303499" y="1020600"/>
                  </a:lnTo>
                  <a:lnTo>
                    <a:pt x="266548" y="998710"/>
                  </a:lnTo>
                  <a:lnTo>
                    <a:pt x="231698" y="976077"/>
                  </a:lnTo>
                  <a:lnTo>
                    <a:pt x="199016" y="952730"/>
                  </a:lnTo>
                  <a:lnTo>
                    <a:pt x="168566" y="928700"/>
                  </a:lnTo>
                  <a:lnTo>
                    <a:pt x="114633" y="878711"/>
                  </a:lnTo>
                  <a:lnTo>
                    <a:pt x="70429" y="826349"/>
                  </a:lnTo>
                  <a:lnTo>
                    <a:pt x="36486" y="771857"/>
                  </a:lnTo>
                  <a:lnTo>
                    <a:pt x="13334" y="715475"/>
                  </a:lnTo>
                  <a:lnTo>
                    <a:pt x="1503" y="657445"/>
                  </a:lnTo>
                  <a:lnTo>
                    <a:pt x="0" y="627887"/>
                  </a:lnTo>
                  <a:close/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08989" y="6293916"/>
            <a:ext cx="1775460" cy="729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pointer_name</a:t>
            </a:r>
            <a:endParaRPr sz="2300">
              <a:latin typeface="Times New Roman"/>
              <a:cs typeface="Times New Roman"/>
            </a:endParaRPr>
          </a:p>
          <a:p>
            <a:pPr marL="304800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(data_type)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80409" y="6587490"/>
            <a:ext cx="2265045" cy="172720"/>
          </a:xfrm>
          <a:custGeom>
            <a:avLst/>
            <a:gdLst/>
            <a:ahLst/>
            <a:cxnLst/>
            <a:rect l="l" t="t" r="r" b="b"/>
            <a:pathLst>
              <a:path w="2265045" h="172720">
                <a:moveTo>
                  <a:pt x="0" y="43053"/>
                </a:moveTo>
                <a:lnTo>
                  <a:pt x="2177795" y="43053"/>
                </a:lnTo>
                <a:lnTo>
                  <a:pt x="2177795" y="0"/>
                </a:lnTo>
                <a:lnTo>
                  <a:pt x="2264664" y="86106"/>
                </a:lnTo>
                <a:lnTo>
                  <a:pt x="2177795" y="172212"/>
                </a:lnTo>
                <a:lnTo>
                  <a:pt x="2177795" y="129159"/>
                </a:lnTo>
                <a:lnTo>
                  <a:pt x="0" y="129159"/>
                </a:lnTo>
                <a:lnTo>
                  <a:pt x="0" y="43053"/>
                </a:lnTo>
                <a:close/>
              </a:path>
            </a:pathLst>
          </a:custGeom>
          <a:ln w="25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15652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Cont..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557325"/>
            <a:ext cx="9888220" cy="57035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Declaration </a:t>
            </a:r>
            <a:r>
              <a:rPr sz="2650" b="1" spc="-5" dirty="0">
                <a:latin typeface="Arial"/>
                <a:cs typeface="Arial"/>
              </a:rPr>
              <a:t>of</a:t>
            </a:r>
            <a:r>
              <a:rPr sz="2650" b="1" spc="-6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pointer</a:t>
            </a:r>
            <a:endParaRPr sz="2650">
              <a:latin typeface="Arial"/>
              <a:cs typeface="Arial"/>
            </a:endParaRPr>
          </a:p>
          <a:p>
            <a:pPr marL="1841500" marR="3698240">
              <a:lnSpc>
                <a:spcPct val="118500"/>
              </a:lnSpc>
              <a:spcBef>
                <a:spcPts val="10"/>
              </a:spcBef>
              <a:tabLst>
                <a:tab pos="2439035" algn="l"/>
              </a:tabLst>
            </a:pPr>
            <a:r>
              <a:rPr sz="2650" b="1" spc="-5" dirty="0">
                <a:solidFill>
                  <a:srgbClr val="00AFEF"/>
                </a:solidFill>
                <a:latin typeface="Arial"/>
                <a:cs typeface="Arial"/>
              </a:rPr>
              <a:t>data_type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65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6F2F9F"/>
                </a:solidFill>
                <a:latin typeface="Arial"/>
                <a:cs typeface="Arial"/>
              </a:rPr>
              <a:t>variable_name;  </a:t>
            </a:r>
            <a:r>
              <a:rPr sz="2650" b="1" dirty="0">
                <a:solidFill>
                  <a:srgbClr val="00AFEF"/>
                </a:solidFill>
                <a:latin typeface="Arial"/>
                <a:cs typeface="Arial"/>
              </a:rPr>
              <a:t>int	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r>
              <a:rPr sz="2650" b="1" dirty="0">
                <a:solidFill>
                  <a:srgbClr val="6F2F9F"/>
                </a:solidFill>
                <a:latin typeface="Arial"/>
                <a:cs typeface="Arial"/>
              </a:rPr>
              <a:t>ptr;</a:t>
            </a:r>
            <a:endParaRPr sz="2650">
              <a:latin typeface="Arial"/>
              <a:cs typeface="Arial"/>
            </a:endParaRPr>
          </a:p>
          <a:p>
            <a:pPr marL="2073275" marR="6423025">
              <a:lnSpc>
                <a:spcPct val="118600"/>
              </a:lnSpc>
              <a:spcBef>
                <a:spcPts val="10"/>
              </a:spcBef>
              <a:tabLst>
                <a:tab pos="2670175" algn="l"/>
                <a:tab pos="2799715" algn="l"/>
              </a:tabLst>
            </a:pPr>
            <a:r>
              <a:rPr sz="2650" b="1" dirty="0">
                <a:latin typeface="Arial"/>
                <a:cs typeface="Arial"/>
              </a:rPr>
              <a:t>int*		ptr;  int	*</a:t>
            </a:r>
            <a:r>
              <a:rPr sz="2650" b="1" spc="-9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ptr;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After declaring a pointer</a:t>
            </a:r>
            <a:r>
              <a:rPr sz="2650" b="1" spc="-110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like:</a:t>
            </a:r>
            <a:endParaRPr sz="2650">
              <a:latin typeface="Arial"/>
              <a:cs typeface="Arial"/>
            </a:endParaRPr>
          </a:p>
          <a:p>
            <a:pPr marL="3152775">
              <a:lnSpc>
                <a:spcPct val="100000"/>
              </a:lnSpc>
              <a:spcBef>
                <a:spcPts val="590"/>
              </a:spcBef>
            </a:pP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265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*ptr;</a:t>
            </a:r>
            <a:endParaRPr sz="265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latin typeface="Arial"/>
                <a:cs typeface="Arial"/>
              </a:rPr>
              <a:t>ptr doesn’t </a:t>
            </a:r>
            <a:r>
              <a:rPr sz="2650" b="1" spc="-5" dirty="0">
                <a:latin typeface="Arial"/>
                <a:cs typeface="Arial"/>
              </a:rPr>
              <a:t>actually </a:t>
            </a:r>
            <a:r>
              <a:rPr sz="2650" b="1" dirty="0">
                <a:latin typeface="Arial"/>
                <a:cs typeface="Arial"/>
              </a:rPr>
              <a:t>point to </a:t>
            </a:r>
            <a:r>
              <a:rPr sz="2650" b="1" spc="-5" dirty="0">
                <a:latin typeface="Arial"/>
                <a:cs typeface="Arial"/>
              </a:rPr>
              <a:t>anything yet. </a:t>
            </a:r>
            <a:r>
              <a:rPr sz="2650" b="1" dirty="0">
                <a:latin typeface="Arial"/>
                <a:cs typeface="Arial"/>
              </a:rPr>
              <a:t>We can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either:</a:t>
            </a:r>
            <a:endParaRPr sz="2650">
              <a:latin typeface="Arial"/>
              <a:cs typeface="Arial"/>
            </a:endParaRPr>
          </a:p>
          <a:p>
            <a:pPr marL="670560" indent="-280670">
              <a:lnSpc>
                <a:spcPct val="100000"/>
              </a:lnSpc>
              <a:spcBef>
                <a:spcPts val="585"/>
              </a:spcBef>
              <a:buClr>
                <a:srgbClr val="000000"/>
              </a:buClr>
              <a:buFont typeface="Arial"/>
              <a:buChar char="–"/>
              <a:tabLst>
                <a:tab pos="671195" algn="l"/>
              </a:tabLst>
            </a:pP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make </a:t>
            </a:r>
            <a:r>
              <a:rPr sz="2650" b="1" spc="-5" dirty="0">
                <a:solidFill>
                  <a:srgbClr val="002573"/>
                </a:solidFill>
                <a:latin typeface="Arial"/>
                <a:cs typeface="Arial"/>
              </a:rPr>
              <a:t>it 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point to something that already exists</a:t>
            </a:r>
            <a:r>
              <a:rPr sz="2650" b="1" spc="-165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002573"/>
                </a:solidFill>
                <a:latin typeface="Arial"/>
                <a:cs typeface="Arial"/>
              </a:rPr>
              <a:t>or</a:t>
            </a:r>
            <a:endParaRPr sz="2650">
              <a:latin typeface="Arial"/>
              <a:cs typeface="Arial"/>
            </a:endParaRPr>
          </a:p>
          <a:p>
            <a:pPr marL="390525" marR="508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/>
              <a:buChar char="–"/>
              <a:tabLst>
                <a:tab pos="720725" algn="l"/>
                <a:tab pos="721360" algn="l"/>
                <a:tab pos="2117090" algn="l"/>
                <a:tab pos="3101975" algn="l"/>
                <a:tab pos="3543935" algn="l"/>
                <a:tab pos="4991735" algn="l"/>
                <a:tab pos="5584825" algn="l"/>
                <a:tab pos="7426325" algn="l"/>
                <a:tab pos="8225155" algn="l"/>
                <a:tab pos="8982075" algn="l"/>
                <a:tab pos="9330055" algn="l"/>
              </a:tabLst>
            </a:pP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al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l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oca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t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e	ro</a:t>
            </a:r>
            <a:r>
              <a:rPr sz="2650" b="1" spc="-20" dirty="0">
                <a:solidFill>
                  <a:srgbClr val="002573"/>
                </a:solidFill>
                <a:latin typeface="Arial"/>
                <a:cs typeface="Arial"/>
              </a:rPr>
              <a:t>o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m	</a:t>
            </a:r>
            <a:r>
              <a:rPr sz="2650" b="1" spc="-10" dirty="0">
                <a:solidFill>
                  <a:srgbClr val="002573"/>
                </a:solidFill>
                <a:latin typeface="Arial"/>
                <a:cs typeface="Arial"/>
              </a:rPr>
              <a:t>i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n	me</a:t>
            </a:r>
            <a:r>
              <a:rPr sz="2650" b="1" spc="-20" dirty="0">
                <a:solidFill>
                  <a:srgbClr val="002573"/>
                </a:solidFill>
                <a:latin typeface="Arial"/>
                <a:cs typeface="Arial"/>
              </a:rPr>
              <a:t>m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or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y	for	s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o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me</a:t>
            </a:r>
            <a:r>
              <a:rPr sz="2650" b="1" spc="-20" dirty="0">
                <a:solidFill>
                  <a:srgbClr val="002573"/>
                </a:solidFill>
                <a:latin typeface="Arial"/>
                <a:cs typeface="Arial"/>
              </a:rPr>
              <a:t>t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hi</a:t>
            </a:r>
            <a:r>
              <a:rPr sz="2650" b="1" spc="-25" dirty="0">
                <a:solidFill>
                  <a:srgbClr val="002573"/>
                </a:solidFill>
                <a:latin typeface="Arial"/>
                <a:cs typeface="Arial"/>
              </a:rPr>
              <a:t>n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g	n</a:t>
            </a:r>
            <a:r>
              <a:rPr sz="2650" b="1" spc="-30" dirty="0">
                <a:solidFill>
                  <a:srgbClr val="002573"/>
                </a:solidFill>
                <a:latin typeface="Arial"/>
                <a:cs typeface="Arial"/>
              </a:rPr>
              <a:t>e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w	t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ha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t	</a:t>
            </a:r>
            <a:r>
              <a:rPr sz="2650" b="1" spc="-10" dirty="0">
                <a:solidFill>
                  <a:srgbClr val="002573"/>
                </a:solidFill>
                <a:latin typeface="Arial"/>
                <a:cs typeface="Arial"/>
              </a:rPr>
              <a:t>i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t	</a:t>
            </a:r>
            <a:r>
              <a:rPr sz="2650" b="1" spc="20" dirty="0">
                <a:solidFill>
                  <a:srgbClr val="002573"/>
                </a:solidFill>
                <a:latin typeface="Arial"/>
                <a:cs typeface="Arial"/>
              </a:rPr>
              <a:t>w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i</a:t>
            </a:r>
            <a:r>
              <a:rPr sz="2650" b="1" spc="-15" dirty="0">
                <a:solidFill>
                  <a:srgbClr val="002573"/>
                </a:solidFill>
                <a:latin typeface="Arial"/>
                <a:cs typeface="Arial"/>
              </a:rPr>
              <a:t>l</a:t>
            </a:r>
            <a:r>
              <a:rPr sz="2650" b="1" dirty="0">
                <a:solidFill>
                  <a:srgbClr val="002573"/>
                </a:solidFill>
                <a:latin typeface="Arial"/>
                <a:cs typeface="Arial"/>
              </a:rPr>
              <a:t>l  point</a:t>
            </a:r>
            <a:r>
              <a:rPr sz="2650" b="1" spc="-35" dirty="0">
                <a:solidFill>
                  <a:srgbClr val="002573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002573"/>
                </a:solidFill>
                <a:latin typeface="Arial"/>
                <a:cs typeface="Arial"/>
              </a:rPr>
              <a:t>to.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531050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Pointer</a:t>
            </a:r>
            <a:r>
              <a:rPr sz="4850" i="1" spc="-2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Declarations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815" y="1042212"/>
            <a:ext cx="3347085" cy="40220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50" b="1" dirty="0">
                <a:latin typeface="Arial"/>
                <a:cs typeface="Arial"/>
              </a:rPr>
              <a:t>Example:</a:t>
            </a:r>
            <a:endParaRPr sz="26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int</a:t>
            </a:r>
            <a:r>
              <a:rPr sz="265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*count;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float</a:t>
            </a:r>
            <a:r>
              <a:rPr sz="265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*speed;</a:t>
            </a:r>
            <a:endParaRPr sz="2650">
              <a:latin typeface="Arial"/>
              <a:cs typeface="Arial"/>
            </a:endParaRPr>
          </a:p>
          <a:p>
            <a:pPr marL="927100" marR="5080">
              <a:lnSpc>
                <a:spcPct val="243900"/>
              </a:lnSpc>
              <a:spcBef>
                <a:spcPts val="850"/>
              </a:spcBef>
            </a:pPr>
            <a:r>
              <a:rPr sz="2650" b="1" dirty="0">
                <a:solidFill>
                  <a:srgbClr val="00AF50"/>
                </a:solidFill>
                <a:latin typeface="Arial"/>
                <a:cs typeface="Arial"/>
              </a:rPr>
              <a:t>int * xp ;  double</a:t>
            </a:r>
            <a:r>
              <a:rPr sz="2650" b="1" spc="-1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00AF50"/>
                </a:solidFill>
                <a:latin typeface="Arial"/>
                <a:cs typeface="Arial"/>
              </a:rPr>
              <a:t>*salary;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144524" y="1763268"/>
            <a:ext cx="1976120" cy="697230"/>
            <a:chOff x="1144524" y="1763268"/>
            <a:chExt cx="1976120" cy="697230"/>
          </a:xfrm>
        </p:grpSpPr>
        <p:sp>
          <p:nvSpPr>
            <p:cNvPr id="24" name="object 24"/>
            <p:cNvSpPr/>
            <p:nvPr/>
          </p:nvSpPr>
          <p:spPr>
            <a:xfrm>
              <a:off x="1144524" y="1775460"/>
              <a:ext cx="1975866" cy="68503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2144" y="1763268"/>
              <a:ext cx="1962912" cy="67208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156527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Cont..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20216" y="1116584"/>
            <a:ext cx="97218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5" dirty="0">
                <a:latin typeface="Arial"/>
                <a:cs typeface="Arial"/>
              </a:rPr>
              <a:t>int</a:t>
            </a:r>
            <a:r>
              <a:rPr sz="3500" spc="-75" dirty="0">
                <a:latin typeface="Arial"/>
                <a:cs typeface="Arial"/>
              </a:rPr>
              <a:t> </a:t>
            </a:r>
            <a:r>
              <a:rPr sz="3500" spc="10" dirty="0">
                <a:latin typeface="Arial"/>
                <a:cs typeface="Arial"/>
              </a:rPr>
              <a:t>x;</a:t>
            </a:r>
            <a:endParaRPr sz="3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52144" y="1763268"/>
            <a:ext cx="1963420" cy="672465"/>
          </a:xfrm>
          <a:prstGeom prst="rect">
            <a:avLst/>
          </a:prstGeom>
          <a:ln w="12700">
            <a:solidFill>
              <a:srgbClr val="92C6FB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60"/>
              </a:spcBef>
            </a:pPr>
            <a:r>
              <a:rPr sz="3500" spc="5" dirty="0">
                <a:latin typeface="Arial"/>
                <a:cs typeface="Arial"/>
              </a:rPr>
              <a:t>int </a:t>
            </a:r>
            <a:r>
              <a:rPr sz="3500" spc="10" dirty="0">
                <a:latin typeface="Arial"/>
                <a:cs typeface="Arial"/>
              </a:rPr>
              <a:t>* xp</a:t>
            </a:r>
            <a:r>
              <a:rPr sz="3500" spc="-6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;</a:t>
            </a:r>
            <a:endParaRPr sz="35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14675" y="1757553"/>
            <a:ext cx="927735" cy="290830"/>
          </a:xfrm>
          <a:custGeom>
            <a:avLst/>
            <a:gdLst/>
            <a:ahLst/>
            <a:cxnLst/>
            <a:rect l="l" t="t" r="r" b="b"/>
            <a:pathLst>
              <a:path w="927735" h="290830">
                <a:moveTo>
                  <a:pt x="75437" y="191135"/>
                </a:moveTo>
                <a:lnTo>
                  <a:pt x="71374" y="191262"/>
                </a:lnTo>
                <a:lnTo>
                  <a:pt x="68961" y="193801"/>
                </a:lnTo>
                <a:lnTo>
                  <a:pt x="0" y="264922"/>
                </a:lnTo>
                <a:lnTo>
                  <a:pt x="99313" y="290829"/>
                </a:lnTo>
                <a:lnTo>
                  <a:pt x="102743" y="288798"/>
                </a:lnTo>
                <a:lnTo>
                  <a:pt x="103631" y="285369"/>
                </a:lnTo>
                <a:lnTo>
                  <a:pt x="104520" y="282066"/>
                </a:lnTo>
                <a:lnTo>
                  <a:pt x="102488" y="278511"/>
                </a:lnTo>
                <a:lnTo>
                  <a:pt x="60541" y="267588"/>
                </a:lnTo>
                <a:lnTo>
                  <a:pt x="13843" y="267588"/>
                </a:lnTo>
                <a:lnTo>
                  <a:pt x="10413" y="255397"/>
                </a:lnTo>
                <a:lnTo>
                  <a:pt x="32981" y="249086"/>
                </a:lnTo>
                <a:lnTo>
                  <a:pt x="78105" y="202564"/>
                </a:lnTo>
                <a:lnTo>
                  <a:pt x="80518" y="200025"/>
                </a:lnTo>
                <a:lnTo>
                  <a:pt x="80518" y="196087"/>
                </a:lnTo>
                <a:lnTo>
                  <a:pt x="77977" y="193675"/>
                </a:lnTo>
                <a:lnTo>
                  <a:pt x="75437" y="191135"/>
                </a:lnTo>
                <a:close/>
              </a:path>
              <a:path w="927735" h="290830">
                <a:moveTo>
                  <a:pt x="32981" y="249086"/>
                </a:moveTo>
                <a:lnTo>
                  <a:pt x="10413" y="255397"/>
                </a:lnTo>
                <a:lnTo>
                  <a:pt x="13843" y="267588"/>
                </a:lnTo>
                <a:lnTo>
                  <a:pt x="19747" y="265938"/>
                </a:lnTo>
                <a:lnTo>
                  <a:pt x="16637" y="265938"/>
                </a:lnTo>
                <a:lnTo>
                  <a:pt x="13716" y="255397"/>
                </a:lnTo>
                <a:lnTo>
                  <a:pt x="26861" y="255397"/>
                </a:lnTo>
                <a:lnTo>
                  <a:pt x="32981" y="249086"/>
                </a:lnTo>
                <a:close/>
              </a:path>
              <a:path w="927735" h="290830">
                <a:moveTo>
                  <a:pt x="36360" y="261292"/>
                </a:moveTo>
                <a:lnTo>
                  <a:pt x="13843" y="267588"/>
                </a:lnTo>
                <a:lnTo>
                  <a:pt x="60541" y="267588"/>
                </a:lnTo>
                <a:lnTo>
                  <a:pt x="36360" y="261292"/>
                </a:lnTo>
                <a:close/>
              </a:path>
              <a:path w="927735" h="290830">
                <a:moveTo>
                  <a:pt x="13716" y="255397"/>
                </a:moveTo>
                <a:lnTo>
                  <a:pt x="16637" y="265938"/>
                </a:lnTo>
                <a:lnTo>
                  <a:pt x="24210" y="258129"/>
                </a:lnTo>
                <a:lnTo>
                  <a:pt x="13716" y="255397"/>
                </a:lnTo>
                <a:close/>
              </a:path>
              <a:path w="927735" h="290830">
                <a:moveTo>
                  <a:pt x="24210" y="258129"/>
                </a:moveTo>
                <a:lnTo>
                  <a:pt x="16637" y="265938"/>
                </a:lnTo>
                <a:lnTo>
                  <a:pt x="19747" y="265938"/>
                </a:lnTo>
                <a:lnTo>
                  <a:pt x="36360" y="261292"/>
                </a:lnTo>
                <a:lnTo>
                  <a:pt x="24210" y="258129"/>
                </a:lnTo>
                <a:close/>
              </a:path>
              <a:path w="927735" h="290830">
                <a:moveTo>
                  <a:pt x="923798" y="0"/>
                </a:moveTo>
                <a:lnTo>
                  <a:pt x="32981" y="249086"/>
                </a:lnTo>
                <a:lnTo>
                  <a:pt x="24210" y="258129"/>
                </a:lnTo>
                <a:lnTo>
                  <a:pt x="36360" y="261292"/>
                </a:lnTo>
                <a:lnTo>
                  <a:pt x="927226" y="12191"/>
                </a:lnTo>
                <a:lnTo>
                  <a:pt x="923798" y="0"/>
                </a:lnTo>
                <a:close/>
              </a:path>
              <a:path w="927735" h="290830">
                <a:moveTo>
                  <a:pt x="26861" y="255397"/>
                </a:moveTo>
                <a:lnTo>
                  <a:pt x="13716" y="255397"/>
                </a:lnTo>
                <a:lnTo>
                  <a:pt x="24210" y="258129"/>
                </a:lnTo>
                <a:lnTo>
                  <a:pt x="26861" y="2553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84650" y="1457960"/>
            <a:ext cx="2563495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Pointer to</a:t>
            </a:r>
            <a:r>
              <a:rPr sz="35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65300" y="3205683"/>
            <a:ext cx="2016760" cy="1907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0"/>
              </a:spcBef>
            </a:pPr>
            <a:r>
              <a:rPr sz="3050" b="1" spc="10" dirty="0">
                <a:latin typeface="Times New Roman"/>
                <a:cs typeface="Times New Roman"/>
              </a:rPr>
              <a:t>int </a:t>
            </a:r>
            <a:r>
              <a:rPr sz="3050" b="1" spc="15" dirty="0">
                <a:latin typeface="Times New Roman"/>
                <a:cs typeface="Times New Roman"/>
              </a:rPr>
              <a:t>*ip;  double</a:t>
            </a:r>
            <a:r>
              <a:rPr sz="3050" b="1" spc="-90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*dp;  </a:t>
            </a:r>
            <a:r>
              <a:rPr sz="3050" b="1" spc="10" dirty="0">
                <a:latin typeface="Times New Roman"/>
                <a:cs typeface="Times New Roman"/>
              </a:rPr>
              <a:t>float </a:t>
            </a:r>
            <a:r>
              <a:rPr sz="3050" b="1" spc="15" dirty="0">
                <a:latin typeface="Times New Roman"/>
                <a:cs typeface="Times New Roman"/>
              </a:rPr>
              <a:t>*fp;  char</a:t>
            </a:r>
            <a:r>
              <a:rPr sz="3050" b="1" spc="-5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*ch;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35829" y="3205683"/>
            <a:ext cx="3987800" cy="190753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50" b="1" spc="10" dirty="0">
                <a:latin typeface="Times New Roman"/>
                <a:cs typeface="Times New Roman"/>
              </a:rPr>
              <a:t>// </a:t>
            </a:r>
            <a:r>
              <a:rPr sz="3050" b="1" spc="15" dirty="0">
                <a:latin typeface="Times New Roman"/>
                <a:cs typeface="Times New Roman"/>
              </a:rPr>
              <a:t>pointer to an</a:t>
            </a:r>
            <a:r>
              <a:rPr sz="3050" b="1" spc="-80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integer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050" b="1" spc="5" dirty="0">
                <a:latin typeface="Times New Roman"/>
                <a:cs typeface="Times New Roman"/>
              </a:rPr>
              <a:t>// </a:t>
            </a:r>
            <a:r>
              <a:rPr sz="3050" b="1" spc="15" dirty="0">
                <a:latin typeface="Times New Roman"/>
                <a:cs typeface="Times New Roman"/>
              </a:rPr>
              <a:t>pointer </a:t>
            </a:r>
            <a:r>
              <a:rPr sz="3050" b="1" spc="10" dirty="0">
                <a:latin typeface="Times New Roman"/>
                <a:cs typeface="Times New Roman"/>
              </a:rPr>
              <a:t>to </a:t>
            </a:r>
            <a:r>
              <a:rPr sz="3050" b="1" spc="15" dirty="0">
                <a:latin typeface="Times New Roman"/>
                <a:cs typeface="Times New Roman"/>
              </a:rPr>
              <a:t>a</a:t>
            </a:r>
            <a:r>
              <a:rPr sz="3050" b="1" spc="-25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double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050" b="1" spc="5" dirty="0">
                <a:latin typeface="Times New Roman"/>
                <a:cs typeface="Times New Roman"/>
              </a:rPr>
              <a:t>// </a:t>
            </a:r>
            <a:r>
              <a:rPr sz="3050" b="1" spc="15" dirty="0">
                <a:latin typeface="Times New Roman"/>
                <a:cs typeface="Times New Roman"/>
              </a:rPr>
              <a:t>pointer </a:t>
            </a:r>
            <a:r>
              <a:rPr sz="3050" b="1" spc="10" dirty="0">
                <a:latin typeface="Times New Roman"/>
                <a:cs typeface="Times New Roman"/>
              </a:rPr>
              <a:t>to </a:t>
            </a:r>
            <a:r>
              <a:rPr sz="3050" b="1" spc="15" dirty="0">
                <a:latin typeface="Times New Roman"/>
                <a:cs typeface="Times New Roman"/>
              </a:rPr>
              <a:t>a</a:t>
            </a:r>
            <a:r>
              <a:rPr sz="3050" b="1" spc="-15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float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050" b="1" spc="5" dirty="0">
                <a:latin typeface="Times New Roman"/>
                <a:cs typeface="Times New Roman"/>
              </a:rPr>
              <a:t>// </a:t>
            </a:r>
            <a:r>
              <a:rPr sz="3050" b="1" spc="15" dirty="0">
                <a:latin typeface="Times New Roman"/>
                <a:cs typeface="Times New Roman"/>
              </a:rPr>
              <a:t>pointer </a:t>
            </a:r>
            <a:r>
              <a:rPr sz="3050" b="1" spc="10" dirty="0">
                <a:latin typeface="Times New Roman"/>
                <a:cs typeface="Times New Roman"/>
              </a:rPr>
              <a:t>to </a:t>
            </a:r>
            <a:r>
              <a:rPr sz="3050" b="1" spc="15" dirty="0">
                <a:latin typeface="Times New Roman"/>
                <a:cs typeface="Times New Roman"/>
              </a:rPr>
              <a:t>a</a:t>
            </a:r>
            <a:r>
              <a:rPr sz="3050" b="1" spc="-60" dirty="0">
                <a:latin typeface="Times New Roman"/>
                <a:cs typeface="Times New Roman"/>
              </a:rPr>
              <a:t> </a:t>
            </a:r>
            <a:r>
              <a:rPr sz="3050" b="1" spc="15" dirty="0">
                <a:latin typeface="Times New Roman"/>
                <a:cs typeface="Times New Roman"/>
              </a:rPr>
              <a:t>character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9895" y="152146"/>
            <a:ext cx="1598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Poi</a:t>
            </a:r>
            <a:r>
              <a:rPr sz="3600" spc="-15" dirty="0"/>
              <a:t>n</a:t>
            </a:r>
            <a:r>
              <a:rPr sz="3600" spc="-5" dirty="0"/>
              <a:t>ter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04139" y="2661488"/>
            <a:ext cx="182879" cy="222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1439" y="417550"/>
            <a:ext cx="8555355" cy="66370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Recall:</a:t>
            </a:r>
            <a:endParaRPr sz="3200">
              <a:latin typeface="Arial"/>
              <a:cs typeface="Arial"/>
            </a:endParaRPr>
          </a:p>
          <a:p>
            <a:pPr marL="12700" marR="1519555">
              <a:lnSpc>
                <a:spcPct val="100000"/>
              </a:lnSpc>
              <a:spcBef>
                <a:spcPts val="1405"/>
              </a:spcBef>
            </a:pP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is a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variable which can</a:t>
            </a:r>
            <a:r>
              <a:rPr sz="3200" b="1" spc="-6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store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addresses</a:t>
            </a:r>
            <a:endParaRPr sz="3200">
              <a:latin typeface="Arial"/>
              <a:cs typeface="Arial"/>
            </a:endParaRPr>
          </a:p>
          <a:p>
            <a:pPr marL="469900" marR="438150" indent="-365760">
              <a:lnSpc>
                <a:spcPct val="126299"/>
              </a:lnSpc>
              <a:spcBef>
                <a:spcPts val="395"/>
              </a:spcBef>
            </a:pP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has a “type” </a:t>
            </a: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(except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3200" b="1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pointer)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e.g.</a:t>
            </a:r>
            <a:endParaRPr sz="3200">
              <a:latin typeface="Arial"/>
              <a:cs typeface="Arial"/>
            </a:endParaRPr>
          </a:p>
          <a:p>
            <a:pPr marL="469900" marR="6339205">
              <a:lnSpc>
                <a:spcPts val="4860"/>
              </a:lnSpc>
              <a:spcBef>
                <a:spcPts val="334"/>
              </a:spcBef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int *p;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char</a:t>
            </a:r>
            <a:r>
              <a:rPr sz="3200" b="1" spc="-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*cp;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double</a:t>
            </a:r>
            <a:r>
              <a:rPr sz="3200" b="1" spc="-4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*dp;</a:t>
            </a:r>
            <a:endParaRPr sz="3200">
              <a:latin typeface="Arial"/>
              <a:cs typeface="Arial"/>
            </a:endParaRPr>
          </a:p>
          <a:p>
            <a:pPr marL="469900" marR="5080">
              <a:lnSpc>
                <a:spcPts val="3460"/>
              </a:lnSpc>
              <a:spcBef>
                <a:spcPts val="1455"/>
              </a:spcBef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Here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p,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cp, dp are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respectively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pointers</a:t>
            </a:r>
            <a:r>
              <a:rPr sz="3200" b="1" spc="-15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to  </a:t>
            </a:r>
            <a:r>
              <a:rPr sz="3200" b="1" spc="-25" dirty="0">
                <a:solidFill>
                  <a:srgbClr val="0000CC"/>
                </a:solidFill>
                <a:latin typeface="Arial"/>
                <a:cs typeface="Arial"/>
              </a:rPr>
              <a:t>integer, </a:t>
            </a:r>
            <a:r>
              <a:rPr sz="3200" b="1" spc="-20" dirty="0">
                <a:solidFill>
                  <a:srgbClr val="0000CC"/>
                </a:solidFill>
                <a:latin typeface="Arial"/>
                <a:cs typeface="Arial"/>
              </a:rPr>
              <a:t>character,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and</a:t>
            </a:r>
            <a:r>
              <a:rPr sz="3200" b="1" spc="-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double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44"/>
              </a:spcBef>
            </a:pPr>
            <a:r>
              <a:rPr sz="3200" b="1" spc="-15" dirty="0">
                <a:solidFill>
                  <a:srgbClr val="FF0000"/>
                </a:solidFill>
                <a:latin typeface="Carlito"/>
                <a:cs typeface="Carlito"/>
              </a:rPr>
              <a:t>Size </a:t>
            </a:r>
            <a:r>
              <a:rPr sz="3200" b="1" dirty="0">
                <a:solidFill>
                  <a:srgbClr val="FF0000"/>
                </a:solidFill>
                <a:latin typeface="Carlito"/>
                <a:cs typeface="Carlito"/>
              </a:rPr>
              <a:t>of </a:t>
            </a:r>
            <a:r>
              <a:rPr sz="3200" b="1" spc="-10" dirty="0">
                <a:solidFill>
                  <a:srgbClr val="FF0000"/>
                </a:solidFill>
                <a:latin typeface="Carlito"/>
                <a:cs typeface="Carlito"/>
              </a:rPr>
              <a:t>pointer </a:t>
            </a:r>
            <a:r>
              <a:rPr sz="3200" b="1" dirty="0">
                <a:solidFill>
                  <a:srgbClr val="FF0000"/>
                </a:solidFill>
                <a:latin typeface="Carlito"/>
                <a:cs typeface="Carlito"/>
              </a:rPr>
              <a:t>is </a:t>
            </a:r>
            <a:r>
              <a:rPr sz="3200" b="1" spc="-5" dirty="0">
                <a:solidFill>
                  <a:srgbClr val="FF0000"/>
                </a:solidFill>
                <a:latin typeface="Carlito"/>
                <a:cs typeface="Carlito"/>
              </a:rPr>
              <a:t>decided </a:t>
            </a:r>
            <a:r>
              <a:rPr sz="3200" b="1" spc="-10" dirty="0">
                <a:solidFill>
                  <a:srgbClr val="FF0000"/>
                </a:solidFill>
                <a:latin typeface="Carlito"/>
                <a:cs typeface="Carlito"/>
              </a:rPr>
              <a:t>by</a:t>
            </a:r>
            <a:r>
              <a:rPr sz="3200" b="1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Carlito"/>
                <a:cs typeface="Carlito"/>
              </a:rPr>
              <a:t>compiler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55904"/>
            <a:ext cx="10081260" cy="431800"/>
            <a:chOff x="0" y="755904"/>
            <a:chExt cx="10081260" cy="431800"/>
          </a:xfrm>
        </p:grpSpPr>
        <p:sp>
          <p:nvSpPr>
            <p:cNvPr id="3" name="object 3"/>
            <p:cNvSpPr/>
            <p:nvPr/>
          </p:nvSpPr>
          <p:spPr>
            <a:xfrm>
              <a:off x="30161" y="861949"/>
              <a:ext cx="10050780" cy="283210"/>
            </a:xfrm>
            <a:custGeom>
              <a:avLst/>
              <a:gdLst/>
              <a:ahLst/>
              <a:cxnLst/>
              <a:rect l="l" t="t" r="r" b="b"/>
              <a:pathLst>
                <a:path w="10050780" h="283209">
                  <a:moveTo>
                    <a:pt x="10050463" y="0"/>
                  </a:moveTo>
                  <a:lnTo>
                    <a:pt x="0" y="126"/>
                  </a:lnTo>
                  <a:lnTo>
                    <a:pt x="1" y="282702"/>
                  </a:lnTo>
                  <a:lnTo>
                    <a:pt x="10050463" y="282575"/>
                  </a:lnTo>
                  <a:lnTo>
                    <a:pt x="1005046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22735" y="862076"/>
              <a:ext cx="637540" cy="282575"/>
            </a:xfrm>
            <a:custGeom>
              <a:avLst/>
              <a:gdLst/>
              <a:ahLst/>
              <a:cxnLst/>
              <a:rect l="l" t="t" r="r" b="b"/>
              <a:pathLst>
                <a:path w="637540" h="282575">
                  <a:moveTo>
                    <a:pt x="636939" y="0"/>
                  </a:moveTo>
                  <a:lnTo>
                    <a:pt x="28101" y="0"/>
                  </a:lnTo>
                  <a:lnTo>
                    <a:pt x="7795" y="12761"/>
                  </a:lnTo>
                  <a:lnTo>
                    <a:pt x="0" y="25904"/>
                  </a:lnTo>
                  <a:lnTo>
                    <a:pt x="1899" y="40164"/>
                  </a:lnTo>
                  <a:lnTo>
                    <a:pt x="10677" y="56275"/>
                  </a:lnTo>
                  <a:lnTo>
                    <a:pt x="23516" y="74971"/>
                  </a:lnTo>
                  <a:lnTo>
                    <a:pt x="37599" y="96987"/>
                  </a:lnTo>
                  <a:lnTo>
                    <a:pt x="50111" y="123058"/>
                  </a:lnTo>
                  <a:lnTo>
                    <a:pt x="58233" y="153917"/>
                  </a:lnTo>
                  <a:lnTo>
                    <a:pt x="59150" y="190300"/>
                  </a:lnTo>
                  <a:lnTo>
                    <a:pt x="50045" y="232941"/>
                  </a:lnTo>
                  <a:lnTo>
                    <a:pt x="28101" y="282575"/>
                  </a:lnTo>
                  <a:lnTo>
                    <a:pt x="636939" y="282575"/>
                  </a:lnTo>
                  <a:lnTo>
                    <a:pt x="636939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10811" y="861949"/>
              <a:ext cx="628650" cy="283210"/>
            </a:xfrm>
            <a:custGeom>
              <a:avLst/>
              <a:gdLst/>
              <a:ahLst/>
              <a:cxnLst/>
              <a:rect l="l" t="t" r="r" b="b"/>
              <a:pathLst>
                <a:path w="628650" h="283209">
                  <a:moveTo>
                    <a:pt x="628364" y="0"/>
                  </a:moveTo>
                  <a:lnTo>
                    <a:pt x="31718" y="126"/>
                  </a:lnTo>
                  <a:lnTo>
                    <a:pt x="46933" y="31145"/>
                  </a:lnTo>
                  <a:lnTo>
                    <a:pt x="48620" y="65392"/>
                  </a:lnTo>
                  <a:lnTo>
                    <a:pt x="40947" y="101524"/>
                  </a:lnTo>
                  <a:lnTo>
                    <a:pt x="28081" y="138199"/>
                  </a:lnTo>
                  <a:lnTo>
                    <a:pt x="14189" y="174074"/>
                  </a:lnTo>
                  <a:lnTo>
                    <a:pt x="3439" y="207804"/>
                  </a:lnTo>
                  <a:lnTo>
                    <a:pt x="0" y="238048"/>
                  </a:lnTo>
                  <a:lnTo>
                    <a:pt x="8037" y="263461"/>
                  </a:lnTo>
                  <a:lnTo>
                    <a:pt x="31718" y="282702"/>
                  </a:lnTo>
                  <a:lnTo>
                    <a:pt x="628364" y="282575"/>
                  </a:lnTo>
                  <a:lnTo>
                    <a:pt x="628364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23563" y="861949"/>
              <a:ext cx="422909" cy="283210"/>
            </a:xfrm>
            <a:custGeom>
              <a:avLst/>
              <a:gdLst/>
              <a:ahLst/>
              <a:cxnLst/>
              <a:rect l="l" t="t" r="r" b="b"/>
              <a:pathLst>
                <a:path w="422909" h="283209">
                  <a:moveTo>
                    <a:pt x="367755" y="0"/>
                  </a:moveTo>
                  <a:lnTo>
                    <a:pt x="39841" y="126"/>
                  </a:lnTo>
                  <a:lnTo>
                    <a:pt x="19920" y="28102"/>
                  </a:lnTo>
                  <a:lnTo>
                    <a:pt x="6640" y="68455"/>
                  </a:lnTo>
                  <a:lnTo>
                    <a:pt x="0" y="116236"/>
                  </a:lnTo>
                  <a:lnTo>
                    <a:pt x="0" y="166499"/>
                  </a:lnTo>
                  <a:lnTo>
                    <a:pt x="6640" y="214296"/>
                  </a:lnTo>
                  <a:lnTo>
                    <a:pt x="19920" y="254679"/>
                  </a:lnTo>
                  <a:lnTo>
                    <a:pt x="39841" y="282702"/>
                  </a:lnTo>
                  <a:lnTo>
                    <a:pt x="367755" y="282575"/>
                  </a:lnTo>
                  <a:lnTo>
                    <a:pt x="380783" y="246764"/>
                  </a:lnTo>
                  <a:lnTo>
                    <a:pt x="398918" y="199739"/>
                  </a:lnTo>
                  <a:lnTo>
                    <a:pt x="415029" y="150665"/>
                  </a:lnTo>
                  <a:lnTo>
                    <a:pt x="421984" y="108712"/>
                  </a:lnTo>
                  <a:lnTo>
                    <a:pt x="422494" y="74402"/>
                  </a:lnTo>
                  <a:lnTo>
                    <a:pt x="418825" y="43497"/>
                  </a:lnTo>
                  <a:lnTo>
                    <a:pt x="403178" y="18022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88665" y="862076"/>
              <a:ext cx="495300" cy="282575"/>
            </a:xfrm>
            <a:custGeom>
              <a:avLst/>
              <a:gdLst/>
              <a:ahLst/>
              <a:cxnLst/>
              <a:rect l="l" t="t" r="r" b="b"/>
              <a:pathLst>
                <a:path w="495300" h="282575">
                  <a:moveTo>
                    <a:pt x="495009" y="0"/>
                  </a:moveTo>
                  <a:lnTo>
                    <a:pt x="53557" y="0"/>
                  </a:lnTo>
                  <a:lnTo>
                    <a:pt x="26778" y="27975"/>
                  </a:lnTo>
                  <a:lnTo>
                    <a:pt x="8926" y="68328"/>
                  </a:lnTo>
                  <a:lnTo>
                    <a:pt x="0" y="116109"/>
                  </a:lnTo>
                  <a:lnTo>
                    <a:pt x="0" y="166372"/>
                  </a:lnTo>
                  <a:lnTo>
                    <a:pt x="8926" y="214169"/>
                  </a:lnTo>
                  <a:lnTo>
                    <a:pt x="26778" y="254552"/>
                  </a:lnTo>
                  <a:lnTo>
                    <a:pt x="53557" y="282575"/>
                  </a:lnTo>
                  <a:lnTo>
                    <a:pt x="495009" y="282575"/>
                  </a:lnTo>
                  <a:lnTo>
                    <a:pt x="490273" y="253256"/>
                  </a:lnTo>
                  <a:lnTo>
                    <a:pt x="479854" y="221760"/>
                  </a:lnTo>
                  <a:lnTo>
                    <a:pt x="469435" y="184388"/>
                  </a:lnTo>
                  <a:lnTo>
                    <a:pt x="464699" y="137437"/>
                  </a:lnTo>
                  <a:lnTo>
                    <a:pt x="471329" y="77208"/>
                  </a:lnTo>
                  <a:lnTo>
                    <a:pt x="495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7874" y="861949"/>
              <a:ext cx="633730" cy="283210"/>
            </a:xfrm>
            <a:custGeom>
              <a:avLst/>
              <a:gdLst/>
              <a:ahLst/>
              <a:cxnLst/>
              <a:rect l="l" t="t" r="r" b="b"/>
              <a:pathLst>
                <a:path w="633729" h="283209">
                  <a:moveTo>
                    <a:pt x="633476" y="0"/>
                  </a:moveTo>
                  <a:lnTo>
                    <a:pt x="0" y="126"/>
                  </a:lnTo>
                  <a:lnTo>
                    <a:pt x="11648" y="38990"/>
                  </a:lnTo>
                  <a:lnTo>
                    <a:pt x="37274" y="85677"/>
                  </a:lnTo>
                  <a:lnTo>
                    <a:pt x="62900" y="133054"/>
                  </a:lnTo>
                  <a:lnTo>
                    <a:pt x="74549" y="173990"/>
                  </a:lnTo>
                  <a:lnTo>
                    <a:pt x="73384" y="204727"/>
                  </a:lnTo>
                  <a:lnTo>
                    <a:pt x="65230" y="229679"/>
                  </a:lnTo>
                  <a:lnTo>
                    <a:pt x="43098" y="253964"/>
                  </a:lnTo>
                  <a:lnTo>
                    <a:pt x="0" y="282702"/>
                  </a:lnTo>
                  <a:lnTo>
                    <a:pt x="633476" y="282575"/>
                  </a:lnTo>
                  <a:lnTo>
                    <a:pt x="633476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14606" y="861949"/>
              <a:ext cx="474345" cy="282575"/>
            </a:xfrm>
            <a:custGeom>
              <a:avLst/>
              <a:gdLst/>
              <a:ahLst/>
              <a:cxnLst/>
              <a:rect l="l" t="t" r="r" b="b"/>
              <a:pathLst>
                <a:path w="474345" h="282575">
                  <a:moveTo>
                    <a:pt x="443464" y="0"/>
                  </a:moveTo>
                  <a:lnTo>
                    <a:pt x="29571" y="0"/>
                  </a:lnTo>
                  <a:lnTo>
                    <a:pt x="3285" y="24664"/>
                  </a:lnTo>
                  <a:lnTo>
                    <a:pt x="0" y="60094"/>
                  </a:lnTo>
                  <a:lnTo>
                    <a:pt x="9857" y="100565"/>
                  </a:lnTo>
                  <a:lnTo>
                    <a:pt x="23000" y="140354"/>
                  </a:lnTo>
                  <a:lnTo>
                    <a:pt x="29571" y="173736"/>
                  </a:lnTo>
                  <a:lnTo>
                    <a:pt x="19945" y="207970"/>
                  </a:lnTo>
                  <a:lnTo>
                    <a:pt x="3901" y="238823"/>
                  </a:lnTo>
                  <a:lnTo>
                    <a:pt x="693" y="264247"/>
                  </a:lnTo>
                  <a:lnTo>
                    <a:pt x="29571" y="282194"/>
                  </a:lnTo>
                  <a:lnTo>
                    <a:pt x="443464" y="282194"/>
                  </a:lnTo>
                  <a:lnTo>
                    <a:pt x="443464" y="238760"/>
                  </a:lnTo>
                  <a:lnTo>
                    <a:pt x="448227" y="207527"/>
                  </a:lnTo>
                  <a:lnTo>
                    <a:pt x="458704" y="164836"/>
                  </a:lnTo>
                  <a:lnTo>
                    <a:pt x="469182" y="116713"/>
                  </a:lnTo>
                  <a:lnTo>
                    <a:pt x="473944" y="69182"/>
                  </a:lnTo>
                  <a:lnTo>
                    <a:pt x="467277" y="28269"/>
                  </a:lnTo>
                  <a:lnTo>
                    <a:pt x="44346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0354" y="858774"/>
              <a:ext cx="661670" cy="284480"/>
            </a:xfrm>
            <a:custGeom>
              <a:avLst/>
              <a:gdLst/>
              <a:ahLst/>
              <a:cxnLst/>
              <a:rect l="l" t="t" r="r" b="b"/>
              <a:pathLst>
                <a:path w="661670" h="284480">
                  <a:moveTo>
                    <a:pt x="661195" y="0"/>
                  </a:moveTo>
                  <a:lnTo>
                    <a:pt x="29116" y="126"/>
                  </a:lnTo>
                  <a:lnTo>
                    <a:pt x="8071" y="12958"/>
                  </a:lnTo>
                  <a:lnTo>
                    <a:pt x="0" y="26175"/>
                  </a:lnTo>
                  <a:lnTo>
                    <a:pt x="1980" y="40515"/>
                  </a:lnTo>
                  <a:lnTo>
                    <a:pt x="11091" y="56716"/>
                  </a:lnTo>
                  <a:lnTo>
                    <a:pt x="24410" y="75516"/>
                  </a:lnTo>
                  <a:lnTo>
                    <a:pt x="39018" y="97653"/>
                  </a:lnTo>
                  <a:lnTo>
                    <a:pt x="51991" y="123866"/>
                  </a:lnTo>
                  <a:lnTo>
                    <a:pt x="60409" y="154891"/>
                  </a:lnTo>
                  <a:lnTo>
                    <a:pt x="61351" y="191468"/>
                  </a:lnTo>
                  <a:lnTo>
                    <a:pt x="51893" y="234333"/>
                  </a:lnTo>
                  <a:lnTo>
                    <a:pt x="29116" y="284226"/>
                  </a:lnTo>
                  <a:lnTo>
                    <a:pt x="661195" y="284226"/>
                  </a:lnTo>
                  <a:lnTo>
                    <a:pt x="661195" y="0"/>
                  </a:lnTo>
                  <a:close/>
                </a:path>
              </a:pathLst>
            </a:custGeom>
            <a:solidFill>
              <a:srgbClr val="539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2946" y="858774"/>
              <a:ext cx="667385" cy="284480"/>
            </a:xfrm>
            <a:custGeom>
              <a:avLst/>
              <a:gdLst/>
              <a:ahLst/>
              <a:cxnLst/>
              <a:rect l="l" t="t" r="r" b="b"/>
              <a:pathLst>
                <a:path w="667385" h="284480">
                  <a:moveTo>
                    <a:pt x="667028" y="0"/>
                  </a:moveTo>
                  <a:lnTo>
                    <a:pt x="33679" y="0"/>
                  </a:lnTo>
                  <a:lnTo>
                    <a:pt x="49831" y="31233"/>
                  </a:lnTo>
                  <a:lnTo>
                    <a:pt x="51620" y="65700"/>
                  </a:lnTo>
                  <a:lnTo>
                    <a:pt x="43472" y="102051"/>
                  </a:lnTo>
                  <a:lnTo>
                    <a:pt x="29812" y="138939"/>
                  </a:lnTo>
                  <a:lnTo>
                    <a:pt x="15063" y="175014"/>
                  </a:lnTo>
                  <a:lnTo>
                    <a:pt x="3651" y="208929"/>
                  </a:lnTo>
                  <a:lnTo>
                    <a:pt x="0" y="239334"/>
                  </a:lnTo>
                  <a:lnTo>
                    <a:pt x="8534" y="264883"/>
                  </a:lnTo>
                  <a:lnTo>
                    <a:pt x="33679" y="284226"/>
                  </a:lnTo>
                  <a:lnTo>
                    <a:pt x="667028" y="284226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64362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09" h="284480">
                  <a:moveTo>
                    <a:pt x="367755" y="0"/>
                  </a:moveTo>
                  <a:lnTo>
                    <a:pt x="39841" y="126"/>
                  </a:lnTo>
                  <a:lnTo>
                    <a:pt x="19920" y="28253"/>
                  </a:lnTo>
                  <a:lnTo>
                    <a:pt x="6640" y="68824"/>
                  </a:lnTo>
                  <a:lnTo>
                    <a:pt x="0" y="116862"/>
                  </a:lnTo>
                  <a:lnTo>
                    <a:pt x="0" y="167396"/>
                  </a:lnTo>
                  <a:lnTo>
                    <a:pt x="6640" y="215451"/>
                  </a:lnTo>
                  <a:lnTo>
                    <a:pt x="19920" y="256052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856" y="248185"/>
                  </a:lnTo>
                  <a:lnTo>
                    <a:pt x="399029" y="200882"/>
                  </a:lnTo>
                  <a:lnTo>
                    <a:pt x="415154" y="151530"/>
                  </a:lnTo>
                  <a:lnTo>
                    <a:pt x="422111" y="109347"/>
                  </a:lnTo>
                  <a:lnTo>
                    <a:pt x="422619" y="74848"/>
                  </a:lnTo>
                  <a:lnTo>
                    <a:pt x="418936" y="43767"/>
                  </a:lnTo>
                  <a:lnTo>
                    <a:pt x="403252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31062" y="858774"/>
              <a:ext cx="495300" cy="284480"/>
            </a:xfrm>
            <a:custGeom>
              <a:avLst/>
              <a:gdLst/>
              <a:ahLst/>
              <a:cxnLst/>
              <a:rect l="l" t="t" r="r" b="b"/>
              <a:pathLst>
                <a:path w="495300" h="284480">
                  <a:moveTo>
                    <a:pt x="494936" y="0"/>
                  </a:moveTo>
                  <a:lnTo>
                    <a:pt x="53611" y="126"/>
                  </a:lnTo>
                  <a:lnTo>
                    <a:pt x="26792" y="28253"/>
                  </a:lnTo>
                  <a:lnTo>
                    <a:pt x="8924" y="68824"/>
                  </a:lnTo>
                  <a:lnTo>
                    <a:pt x="0" y="116862"/>
                  </a:lnTo>
                  <a:lnTo>
                    <a:pt x="13" y="167396"/>
                  </a:lnTo>
                  <a:lnTo>
                    <a:pt x="8957" y="215451"/>
                  </a:lnTo>
                  <a:lnTo>
                    <a:pt x="26825" y="256052"/>
                  </a:lnTo>
                  <a:lnTo>
                    <a:pt x="53611" y="284226"/>
                  </a:lnTo>
                  <a:lnTo>
                    <a:pt x="495063" y="284226"/>
                  </a:lnTo>
                  <a:lnTo>
                    <a:pt x="491483" y="259024"/>
                  </a:lnTo>
                  <a:lnTo>
                    <a:pt x="473579" y="202576"/>
                  </a:lnTo>
                  <a:lnTo>
                    <a:pt x="466407" y="166651"/>
                  </a:lnTo>
                  <a:lnTo>
                    <a:pt x="465192" y="122473"/>
                  </a:lnTo>
                  <a:lnTo>
                    <a:pt x="473509" y="67702"/>
                  </a:lnTo>
                  <a:lnTo>
                    <a:pt x="494936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83251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08" y="39219"/>
                  </a:lnTo>
                  <a:lnTo>
                    <a:pt x="37147" y="86169"/>
                  </a:lnTo>
                  <a:lnTo>
                    <a:pt x="62686" y="133786"/>
                  </a:lnTo>
                  <a:lnTo>
                    <a:pt x="74295" y="174879"/>
                  </a:lnTo>
                  <a:lnTo>
                    <a:pt x="73134" y="205805"/>
                  </a:lnTo>
                  <a:lnTo>
                    <a:pt x="65008" y="230933"/>
                  </a:lnTo>
                  <a:lnTo>
                    <a:pt x="42951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02904" y="858900"/>
              <a:ext cx="4085590" cy="285750"/>
            </a:xfrm>
            <a:custGeom>
              <a:avLst/>
              <a:gdLst/>
              <a:ahLst/>
              <a:cxnLst/>
              <a:rect l="l" t="t" r="r" b="b"/>
              <a:pathLst>
                <a:path w="4085590" h="285750">
                  <a:moveTo>
                    <a:pt x="621245" y="3175"/>
                  </a:moveTo>
                  <a:lnTo>
                    <a:pt x="27393" y="3175"/>
                  </a:lnTo>
                  <a:lnTo>
                    <a:pt x="7594" y="15938"/>
                  </a:lnTo>
                  <a:lnTo>
                    <a:pt x="0" y="29083"/>
                  </a:lnTo>
                  <a:lnTo>
                    <a:pt x="1854" y="43345"/>
                  </a:lnTo>
                  <a:lnTo>
                    <a:pt x="10414" y="59461"/>
                  </a:lnTo>
                  <a:lnTo>
                    <a:pt x="22936" y="78155"/>
                  </a:lnTo>
                  <a:lnTo>
                    <a:pt x="36664" y="100164"/>
                  </a:lnTo>
                  <a:lnTo>
                    <a:pt x="48856" y="126238"/>
                  </a:lnTo>
                  <a:lnTo>
                    <a:pt x="56781" y="157099"/>
                  </a:lnTo>
                  <a:lnTo>
                    <a:pt x="57670" y="193484"/>
                  </a:lnTo>
                  <a:lnTo>
                    <a:pt x="48793" y="236118"/>
                  </a:lnTo>
                  <a:lnTo>
                    <a:pt x="27393" y="285750"/>
                  </a:lnTo>
                  <a:lnTo>
                    <a:pt x="621245" y="285750"/>
                  </a:lnTo>
                  <a:lnTo>
                    <a:pt x="621245" y="3175"/>
                  </a:lnTo>
                  <a:close/>
                </a:path>
                <a:path w="4085590" h="285750">
                  <a:moveTo>
                    <a:pt x="4085094" y="69494"/>
                  </a:moveTo>
                  <a:lnTo>
                    <a:pt x="4078414" y="28384"/>
                  </a:lnTo>
                  <a:lnTo>
                    <a:pt x="4054564" y="0"/>
                  </a:lnTo>
                  <a:lnTo>
                    <a:pt x="3639528" y="0"/>
                  </a:lnTo>
                  <a:lnTo>
                    <a:pt x="3613137" y="24790"/>
                  </a:lnTo>
                  <a:lnTo>
                    <a:pt x="3609835" y="60388"/>
                  </a:lnTo>
                  <a:lnTo>
                    <a:pt x="3619728" y="101053"/>
                  </a:lnTo>
                  <a:lnTo>
                    <a:pt x="3632924" y="141008"/>
                  </a:lnTo>
                  <a:lnTo>
                    <a:pt x="3639528" y="174498"/>
                  </a:lnTo>
                  <a:lnTo>
                    <a:pt x="3629863" y="208927"/>
                  </a:lnTo>
                  <a:lnTo>
                    <a:pt x="3613759" y="239953"/>
                  </a:lnTo>
                  <a:lnTo>
                    <a:pt x="3610533" y="265531"/>
                  </a:lnTo>
                  <a:lnTo>
                    <a:pt x="3639528" y="283591"/>
                  </a:lnTo>
                  <a:lnTo>
                    <a:pt x="4054564" y="283591"/>
                  </a:lnTo>
                  <a:lnTo>
                    <a:pt x="4054564" y="240030"/>
                  </a:lnTo>
                  <a:lnTo>
                    <a:pt x="4059326" y="208584"/>
                  </a:lnTo>
                  <a:lnTo>
                    <a:pt x="4069829" y="165646"/>
                  </a:lnTo>
                  <a:lnTo>
                    <a:pt x="4080319" y="117259"/>
                  </a:lnTo>
                  <a:lnTo>
                    <a:pt x="4085094" y="69494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021" y="861949"/>
              <a:ext cx="667385" cy="283210"/>
            </a:xfrm>
            <a:custGeom>
              <a:avLst/>
              <a:gdLst/>
              <a:ahLst/>
              <a:cxnLst/>
              <a:rect l="l" t="t" r="r" b="b"/>
              <a:pathLst>
                <a:path w="667385" h="283209">
                  <a:moveTo>
                    <a:pt x="667028" y="0"/>
                  </a:moveTo>
                  <a:lnTo>
                    <a:pt x="33679" y="126"/>
                  </a:lnTo>
                  <a:lnTo>
                    <a:pt x="49831" y="31145"/>
                  </a:lnTo>
                  <a:lnTo>
                    <a:pt x="51620" y="65392"/>
                  </a:lnTo>
                  <a:lnTo>
                    <a:pt x="43472" y="101524"/>
                  </a:lnTo>
                  <a:lnTo>
                    <a:pt x="29812" y="138199"/>
                  </a:lnTo>
                  <a:lnTo>
                    <a:pt x="15063" y="174074"/>
                  </a:lnTo>
                  <a:lnTo>
                    <a:pt x="3651" y="207804"/>
                  </a:lnTo>
                  <a:lnTo>
                    <a:pt x="0" y="238048"/>
                  </a:lnTo>
                  <a:lnTo>
                    <a:pt x="8534" y="263461"/>
                  </a:lnTo>
                  <a:lnTo>
                    <a:pt x="33679" y="282702"/>
                  </a:lnTo>
                  <a:lnTo>
                    <a:pt x="667028" y="282575"/>
                  </a:lnTo>
                  <a:lnTo>
                    <a:pt x="667028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6363" y="858774"/>
              <a:ext cx="422909" cy="284480"/>
            </a:xfrm>
            <a:custGeom>
              <a:avLst/>
              <a:gdLst/>
              <a:ahLst/>
              <a:cxnLst/>
              <a:rect l="l" t="t" r="r" b="b"/>
              <a:pathLst>
                <a:path w="422910" h="284480">
                  <a:moveTo>
                    <a:pt x="367755" y="0"/>
                  </a:moveTo>
                  <a:lnTo>
                    <a:pt x="39841" y="0"/>
                  </a:lnTo>
                  <a:lnTo>
                    <a:pt x="19920" y="28174"/>
                  </a:lnTo>
                  <a:lnTo>
                    <a:pt x="6640" y="68777"/>
                  </a:lnTo>
                  <a:lnTo>
                    <a:pt x="0" y="116839"/>
                  </a:lnTo>
                  <a:lnTo>
                    <a:pt x="0" y="167386"/>
                  </a:lnTo>
                  <a:lnTo>
                    <a:pt x="6640" y="215448"/>
                  </a:lnTo>
                  <a:lnTo>
                    <a:pt x="19920" y="256051"/>
                  </a:lnTo>
                  <a:lnTo>
                    <a:pt x="39841" y="284226"/>
                  </a:lnTo>
                  <a:lnTo>
                    <a:pt x="367755" y="284226"/>
                  </a:lnTo>
                  <a:lnTo>
                    <a:pt x="380783" y="248185"/>
                  </a:lnTo>
                  <a:lnTo>
                    <a:pt x="398918" y="200882"/>
                  </a:lnTo>
                  <a:lnTo>
                    <a:pt x="415029" y="151530"/>
                  </a:lnTo>
                  <a:lnTo>
                    <a:pt x="421984" y="109347"/>
                  </a:lnTo>
                  <a:lnTo>
                    <a:pt x="422494" y="74848"/>
                  </a:lnTo>
                  <a:lnTo>
                    <a:pt x="418825" y="43767"/>
                  </a:lnTo>
                  <a:lnTo>
                    <a:pt x="403178" y="18139"/>
                  </a:lnTo>
                  <a:lnTo>
                    <a:pt x="367755" y="0"/>
                  </a:lnTo>
                  <a:close/>
                </a:path>
              </a:pathLst>
            </a:custGeom>
            <a:solidFill>
              <a:srgbClr val="E0E0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859536"/>
              <a:ext cx="509270" cy="283845"/>
            </a:xfrm>
            <a:custGeom>
              <a:avLst/>
              <a:gdLst/>
              <a:ahLst/>
              <a:cxnLst/>
              <a:rect l="l" t="t" r="r" b="b"/>
              <a:pathLst>
                <a:path w="509270" h="283844">
                  <a:moveTo>
                    <a:pt x="509016" y="0"/>
                  </a:moveTo>
                  <a:lnTo>
                    <a:pt x="0" y="2667"/>
                  </a:lnTo>
                  <a:lnTo>
                    <a:pt x="0" y="283463"/>
                  </a:lnTo>
                  <a:lnTo>
                    <a:pt x="509016" y="282955"/>
                  </a:lnTo>
                  <a:lnTo>
                    <a:pt x="505435" y="257864"/>
                  </a:lnTo>
                  <a:lnTo>
                    <a:pt x="487534" y="201673"/>
                  </a:lnTo>
                  <a:lnTo>
                    <a:pt x="480373" y="165911"/>
                  </a:lnTo>
                  <a:lnTo>
                    <a:pt x="479180" y="121932"/>
                  </a:lnTo>
                  <a:lnTo>
                    <a:pt x="487534" y="67405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24" y="858774"/>
              <a:ext cx="631825" cy="284480"/>
            </a:xfrm>
            <a:custGeom>
              <a:avLst/>
              <a:gdLst/>
              <a:ahLst/>
              <a:cxnLst/>
              <a:rect l="l" t="t" r="r" b="b"/>
              <a:pathLst>
                <a:path w="631825" h="284480">
                  <a:moveTo>
                    <a:pt x="631825" y="0"/>
                  </a:moveTo>
                  <a:lnTo>
                    <a:pt x="0" y="126"/>
                  </a:lnTo>
                  <a:lnTo>
                    <a:pt x="11614" y="39219"/>
                  </a:lnTo>
                  <a:lnTo>
                    <a:pt x="37166" y="86169"/>
                  </a:lnTo>
                  <a:lnTo>
                    <a:pt x="62718" y="133786"/>
                  </a:lnTo>
                  <a:lnTo>
                    <a:pt x="74333" y="174879"/>
                  </a:lnTo>
                  <a:lnTo>
                    <a:pt x="73171" y="205805"/>
                  </a:lnTo>
                  <a:lnTo>
                    <a:pt x="65041" y="230933"/>
                  </a:lnTo>
                  <a:lnTo>
                    <a:pt x="42973" y="255371"/>
                  </a:lnTo>
                  <a:lnTo>
                    <a:pt x="0" y="284226"/>
                  </a:lnTo>
                  <a:lnTo>
                    <a:pt x="631825" y="284226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666" y="858901"/>
              <a:ext cx="475615" cy="283845"/>
            </a:xfrm>
            <a:custGeom>
              <a:avLst/>
              <a:gdLst/>
              <a:ahLst/>
              <a:cxnLst/>
              <a:rect l="l" t="t" r="r" b="b"/>
              <a:pathLst>
                <a:path w="475615" h="283844">
                  <a:moveTo>
                    <a:pt x="444802" y="0"/>
                  </a:moveTo>
                  <a:lnTo>
                    <a:pt x="29664" y="0"/>
                  </a:lnTo>
                  <a:lnTo>
                    <a:pt x="3296" y="24780"/>
                  </a:lnTo>
                  <a:lnTo>
                    <a:pt x="0" y="60380"/>
                  </a:lnTo>
                  <a:lnTo>
                    <a:pt x="9888" y="101041"/>
                  </a:lnTo>
                  <a:lnTo>
                    <a:pt x="23072" y="141000"/>
                  </a:lnTo>
                  <a:lnTo>
                    <a:pt x="29664" y="174498"/>
                  </a:lnTo>
                  <a:lnTo>
                    <a:pt x="20008" y="208920"/>
                  </a:lnTo>
                  <a:lnTo>
                    <a:pt x="3914" y="239950"/>
                  </a:lnTo>
                  <a:lnTo>
                    <a:pt x="695" y="265527"/>
                  </a:lnTo>
                  <a:lnTo>
                    <a:pt x="29664" y="283591"/>
                  </a:lnTo>
                  <a:lnTo>
                    <a:pt x="444802" y="283591"/>
                  </a:lnTo>
                  <a:lnTo>
                    <a:pt x="444802" y="240030"/>
                  </a:lnTo>
                  <a:lnTo>
                    <a:pt x="449565" y="208579"/>
                  </a:lnTo>
                  <a:lnTo>
                    <a:pt x="460042" y="165636"/>
                  </a:lnTo>
                  <a:lnTo>
                    <a:pt x="470520" y="117252"/>
                  </a:lnTo>
                  <a:lnTo>
                    <a:pt x="475282" y="69483"/>
                  </a:lnTo>
                  <a:lnTo>
                    <a:pt x="468615" y="28380"/>
                  </a:lnTo>
                  <a:lnTo>
                    <a:pt x="444802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755904"/>
              <a:ext cx="10081260" cy="1813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1007364"/>
              <a:ext cx="10081260" cy="1798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78739" y="16510"/>
            <a:ext cx="534352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Pointer</a:t>
            </a:r>
            <a:r>
              <a:rPr sz="4850" i="1" spc="-35" dirty="0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sz="4850" i="1" spc="-5" dirty="0">
                <a:solidFill>
                  <a:srgbClr val="3366CC"/>
                </a:solidFill>
                <a:latin typeface="Times New Roman"/>
                <a:cs typeface="Times New Roman"/>
              </a:rPr>
              <a:t>Initialization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1100150"/>
            <a:ext cx="9891395" cy="6024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0525" algn="l"/>
              </a:tabLst>
            </a:pPr>
            <a:r>
              <a:rPr sz="1850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spc="-5" dirty="0">
                <a:latin typeface="Arial"/>
                <a:cs typeface="Arial"/>
              </a:rPr>
              <a:t>Declaring </a:t>
            </a:r>
            <a:r>
              <a:rPr sz="2650" b="1" dirty="0">
                <a:latin typeface="Arial"/>
                <a:cs typeface="Arial"/>
              </a:rPr>
              <a:t>a</a:t>
            </a:r>
            <a:r>
              <a:rPr sz="2650" b="1" spc="225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pointer </a:t>
            </a:r>
            <a:r>
              <a:rPr sz="2650" b="1" dirty="0">
                <a:latin typeface="Arial"/>
                <a:cs typeface="Arial"/>
              </a:rPr>
              <a:t>just allocates </a:t>
            </a:r>
            <a:r>
              <a:rPr sz="2650" b="1" spc="-5" dirty="0">
                <a:latin typeface="Arial"/>
                <a:cs typeface="Arial"/>
              </a:rPr>
              <a:t>space </a:t>
            </a:r>
            <a:r>
              <a:rPr sz="2650" b="1" dirty="0">
                <a:latin typeface="Arial"/>
                <a:cs typeface="Arial"/>
              </a:rPr>
              <a:t>to </a:t>
            </a:r>
            <a:r>
              <a:rPr sz="2650" b="1" spc="-5" dirty="0">
                <a:latin typeface="Arial"/>
                <a:cs typeface="Arial"/>
              </a:rPr>
              <a:t>hold </a:t>
            </a:r>
            <a:r>
              <a:rPr sz="2650" b="1" dirty="0">
                <a:latin typeface="Arial"/>
                <a:cs typeface="Arial"/>
              </a:rPr>
              <a:t>the </a:t>
            </a:r>
            <a:r>
              <a:rPr sz="2650" b="1" spc="-5" dirty="0">
                <a:latin typeface="Arial"/>
                <a:cs typeface="Arial"/>
              </a:rPr>
              <a:t>pointer</a:t>
            </a:r>
            <a:endParaRPr sz="265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</a:pPr>
            <a:r>
              <a:rPr sz="2650" b="1" dirty="0">
                <a:latin typeface="Arial"/>
                <a:cs typeface="Arial"/>
              </a:rPr>
              <a:t>– </a:t>
            </a:r>
            <a:r>
              <a:rPr sz="2650" b="1" spc="-5" dirty="0">
                <a:latin typeface="Arial"/>
                <a:cs typeface="Arial"/>
              </a:rPr>
              <a:t>it </a:t>
            </a:r>
            <a:r>
              <a:rPr sz="2650" b="1" dirty="0">
                <a:latin typeface="Arial"/>
                <a:cs typeface="Arial"/>
              </a:rPr>
              <a:t>does </a:t>
            </a:r>
            <a:r>
              <a:rPr sz="2650" b="1" spc="-5" dirty="0">
                <a:latin typeface="Arial"/>
                <a:cs typeface="Arial"/>
              </a:rPr>
              <a:t>not allocate </a:t>
            </a:r>
            <a:r>
              <a:rPr sz="2650" b="1" dirty="0">
                <a:latin typeface="Arial"/>
                <a:cs typeface="Arial"/>
              </a:rPr>
              <a:t>something to </a:t>
            </a:r>
            <a:r>
              <a:rPr sz="2650" b="1" spc="-5" dirty="0">
                <a:latin typeface="Arial"/>
                <a:cs typeface="Arial"/>
              </a:rPr>
              <a:t>be </a:t>
            </a:r>
            <a:r>
              <a:rPr sz="2650" b="1" dirty="0">
                <a:latin typeface="Arial"/>
                <a:cs typeface="Arial"/>
              </a:rPr>
              <a:t>pointed</a:t>
            </a:r>
            <a:r>
              <a:rPr sz="2650" b="1" spc="-14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to!</a:t>
            </a:r>
            <a:endParaRPr sz="2650">
              <a:latin typeface="Arial"/>
              <a:cs typeface="Arial"/>
            </a:endParaRPr>
          </a:p>
          <a:p>
            <a:pPr marL="390525" marR="6350" indent="-378460">
              <a:lnSpc>
                <a:spcPts val="3170"/>
              </a:lnSpc>
              <a:spcBef>
                <a:spcPts val="715"/>
              </a:spcBef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solidFill>
                  <a:srgbClr val="003366"/>
                </a:solidFill>
                <a:latin typeface="Arial"/>
                <a:cs typeface="Arial"/>
              </a:rPr>
              <a:t>Local </a:t>
            </a:r>
            <a:r>
              <a:rPr sz="2650" b="1" spc="-5" dirty="0">
                <a:solidFill>
                  <a:srgbClr val="003366"/>
                </a:solidFill>
                <a:latin typeface="Arial"/>
                <a:cs typeface="Arial"/>
              </a:rPr>
              <a:t>variables in </a:t>
            </a:r>
            <a:r>
              <a:rPr sz="2650" b="1" dirty="0">
                <a:solidFill>
                  <a:srgbClr val="003366"/>
                </a:solidFill>
                <a:latin typeface="Arial"/>
                <a:cs typeface="Arial"/>
              </a:rPr>
              <a:t>C are </a:t>
            </a:r>
            <a:r>
              <a:rPr sz="2650" b="1" spc="-5" dirty="0">
                <a:solidFill>
                  <a:srgbClr val="003366"/>
                </a:solidFill>
                <a:latin typeface="Arial"/>
                <a:cs typeface="Arial"/>
              </a:rPr>
              <a:t>not initialized by default</a:t>
            </a:r>
            <a:r>
              <a:rPr sz="2650" b="1" spc="-5" dirty="0">
                <a:latin typeface="Arial"/>
                <a:cs typeface="Arial"/>
              </a:rPr>
              <a:t>, </a:t>
            </a:r>
            <a:r>
              <a:rPr sz="2650" b="1" dirty="0">
                <a:latin typeface="Arial"/>
                <a:cs typeface="Arial"/>
              </a:rPr>
              <a:t>they </a:t>
            </a:r>
            <a:r>
              <a:rPr sz="2650" b="1" spc="5" dirty="0">
                <a:latin typeface="Arial"/>
                <a:cs typeface="Arial"/>
              </a:rPr>
              <a:t>may  </a:t>
            </a:r>
            <a:r>
              <a:rPr sz="2650" b="1" dirty="0">
                <a:latin typeface="Arial"/>
                <a:cs typeface="Arial"/>
              </a:rPr>
              <a:t>contain</a:t>
            </a:r>
            <a:r>
              <a:rPr sz="2650" b="1" spc="-30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anything.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Arial"/>
              <a:cs typeface="Arial"/>
            </a:endParaRPr>
          </a:p>
          <a:p>
            <a:pPr marL="390525" marR="5715" indent="-378460">
              <a:lnSpc>
                <a:spcPct val="100000"/>
              </a:lnSpc>
              <a:tabLst>
                <a:tab pos="390525" algn="l"/>
              </a:tabLst>
            </a:pPr>
            <a:r>
              <a:rPr sz="1850" spc="-5" dirty="0">
                <a:solidFill>
                  <a:srgbClr val="003399"/>
                </a:solidFill>
                <a:latin typeface="Carlito"/>
                <a:cs typeface="Carlito"/>
              </a:rPr>
              <a:t>n	</a:t>
            </a:r>
            <a:r>
              <a:rPr sz="2650" b="1" dirty="0">
                <a:latin typeface="Arial"/>
                <a:cs typeface="Arial"/>
              </a:rPr>
              <a:t>Once a </a:t>
            </a:r>
            <a:r>
              <a:rPr sz="2650" b="1" spc="-5" dirty="0">
                <a:latin typeface="Arial"/>
                <a:cs typeface="Arial"/>
              </a:rPr>
              <a:t>pointer variable </a:t>
            </a:r>
            <a:r>
              <a:rPr sz="2650" b="1" dirty="0">
                <a:latin typeface="Arial"/>
                <a:cs typeface="Arial"/>
              </a:rPr>
              <a:t>has been </a:t>
            </a:r>
            <a:r>
              <a:rPr sz="2650" b="1" spc="-5" dirty="0">
                <a:latin typeface="Arial"/>
                <a:cs typeface="Arial"/>
              </a:rPr>
              <a:t>declared, it </a:t>
            </a:r>
            <a:r>
              <a:rPr sz="2650" b="1" dirty="0">
                <a:latin typeface="Arial"/>
                <a:cs typeface="Arial"/>
              </a:rPr>
              <a:t>can </a:t>
            </a:r>
            <a:r>
              <a:rPr sz="2650" b="1" spc="-5" dirty="0">
                <a:latin typeface="Arial"/>
                <a:cs typeface="Arial"/>
              </a:rPr>
              <a:t>be </a:t>
            </a:r>
            <a:r>
              <a:rPr sz="2650" b="1" dirty="0">
                <a:latin typeface="Arial"/>
                <a:cs typeface="Arial"/>
              </a:rPr>
              <a:t>made  to point to a variable using an assignment </a:t>
            </a:r>
            <a:r>
              <a:rPr sz="2650" b="1" spc="-5" dirty="0">
                <a:latin typeface="Arial"/>
                <a:cs typeface="Arial"/>
              </a:rPr>
              <a:t>statement</a:t>
            </a:r>
            <a:r>
              <a:rPr sz="2650" b="1" spc="-170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like:</a:t>
            </a:r>
            <a:endParaRPr sz="26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latin typeface="Arial"/>
                <a:cs typeface="Arial"/>
              </a:rPr>
              <a:t>int *p,</a:t>
            </a:r>
            <a:r>
              <a:rPr sz="2650" b="1" spc="-40" dirty="0">
                <a:latin typeface="Arial"/>
                <a:cs typeface="Arial"/>
              </a:rPr>
              <a:t> </a:t>
            </a:r>
            <a:r>
              <a:rPr sz="2650" b="1" spc="-5" dirty="0">
                <a:latin typeface="Arial"/>
                <a:cs typeface="Arial"/>
              </a:rPr>
              <a:t>xyz;</a:t>
            </a:r>
            <a:endParaRPr sz="26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90"/>
              </a:spcBef>
            </a:pPr>
            <a:r>
              <a:rPr sz="2650" b="1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p =</a:t>
            </a:r>
            <a:r>
              <a:rPr sz="265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spc="-5" dirty="0">
                <a:solidFill>
                  <a:srgbClr val="FF0000"/>
                </a:solidFill>
                <a:latin typeface="Arial"/>
                <a:cs typeface="Arial"/>
              </a:rPr>
              <a:t>&amp;xyz;</a:t>
            </a:r>
            <a:endParaRPr sz="2650">
              <a:latin typeface="Arial"/>
              <a:cs typeface="Arial"/>
            </a:endParaRPr>
          </a:p>
          <a:p>
            <a:pPr marL="390525">
              <a:lnSpc>
                <a:spcPct val="100000"/>
              </a:lnSpc>
              <a:spcBef>
                <a:spcPts val="585"/>
              </a:spcBef>
            </a:pPr>
            <a:r>
              <a:rPr sz="2650" dirty="0">
                <a:solidFill>
                  <a:srgbClr val="FF0000"/>
                </a:solidFill>
                <a:latin typeface="Arial"/>
                <a:cs typeface="Arial"/>
              </a:rPr>
              <a:t>–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2650" b="1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called </a:t>
            </a:r>
            <a:r>
              <a:rPr sz="2650" b="1" i="1" dirty="0">
                <a:solidFill>
                  <a:srgbClr val="FF0000"/>
                </a:solidFill>
                <a:latin typeface="Arial"/>
                <a:cs typeface="Arial"/>
              </a:rPr>
              <a:t>pointer</a:t>
            </a:r>
            <a:r>
              <a:rPr sz="2650" b="1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i="1" spc="-5" dirty="0">
                <a:solidFill>
                  <a:srgbClr val="FF0000"/>
                </a:solidFill>
                <a:latin typeface="Arial"/>
                <a:cs typeface="Arial"/>
              </a:rPr>
              <a:t>initialization.</a:t>
            </a:r>
            <a:endParaRPr sz="2650">
              <a:latin typeface="Arial"/>
              <a:cs typeface="Arial"/>
            </a:endParaRPr>
          </a:p>
          <a:p>
            <a:pPr marL="390525" marR="10160" indent="-378460">
              <a:lnSpc>
                <a:spcPct val="101000"/>
              </a:lnSpc>
              <a:spcBef>
                <a:spcPts val="695"/>
              </a:spcBef>
              <a:tabLst>
                <a:tab pos="1570355" algn="l"/>
                <a:tab pos="3260725" algn="l"/>
                <a:tab pos="4144645" algn="l"/>
                <a:tab pos="4812030" algn="l"/>
                <a:tab pos="6807200" algn="l"/>
                <a:tab pos="7799705" algn="l"/>
                <a:tab pos="9053830" algn="l"/>
                <a:tab pos="9654540" algn="l"/>
              </a:tabLst>
            </a:pPr>
            <a:r>
              <a:rPr sz="3050" b="1" i="1" spc="15" dirty="0">
                <a:solidFill>
                  <a:srgbClr val="003399"/>
                </a:solidFill>
                <a:latin typeface="Arial"/>
                <a:cs typeface="Arial"/>
              </a:rPr>
              <a:t>Pointer	variable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20" dirty="0">
                <a:solidFill>
                  <a:srgbClr val="003399"/>
                </a:solidFill>
                <a:latin typeface="Arial"/>
                <a:cs typeface="Arial"/>
              </a:rPr>
              <a:t>can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30" dirty="0">
                <a:solidFill>
                  <a:srgbClr val="003399"/>
                </a:solidFill>
                <a:latin typeface="Arial"/>
                <a:cs typeface="Arial"/>
              </a:rPr>
              <a:t>b</a:t>
            </a:r>
            <a:r>
              <a:rPr sz="3050" b="1" i="1" spc="20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10" dirty="0">
                <a:solidFill>
                  <a:srgbClr val="003399"/>
                </a:solidFill>
                <a:latin typeface="Arial"/>
                <a:cs typeface="Arial"/>
              </a:rPr>
              <a:t>initia</a:t>
            </a:r>
            <a:r>
              <a:rPr sz="3050" b="1" i="1" spc="20" dirty="0">
                <a:solidFill>
                  <a:srgbClr val="003399"/>
                </a:solidFill>
                <a:latin typeface="Arial"/>
                <a:cs typeface="Arial"/>
              </a:rPr>
              <a:t>l</a:t>
            </a:r>
            <a:r>
              <a:rPr sz="3050" b="1" i="1" spc="15" dirty="0">
                <a:solidFill>
                  <a:srgbClr val="003399"/>
                </a:solidFill>
                <a:latin typeface="Arial"/>
                <a:cs typeface="Arial"/>
              </a:rPr>
              <a:t>ized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30" dirty="0">
                <a:solidFill>
                  <a:srgbClr val="003399"/>
                </a:solidFill>
                <a:latin typeface="Arial"/>
                <a:cs typeface="Arial"/>
              </a:rPr>
              <a:t>w</a:t>
            </a:r>
            <a:r>
              <a:rPr sz="3050" b="1" i="1" spc="15" dirty="0">
                <a:solidFill>
                  <a:srgbClr val="003399"/>
                </a:solidFill>
                <a:latin typeface="Arial"/>
                <a:cs typeface="Arial"/>
              </a:rPr>
              <a:t>ith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20" dirty="0">
                <a:solidFill>
                  <a:srgbClr val="003399"/>
                </a:solidFill>
                <a:latin typeface="Arial"/>
                <a:cs typeface="Arial"/>
              </a:rPr>
              <a:t>NULL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r>
              <a:rPr sz="3050" b="1" i="1" spc="10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3050" b="1" i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3050" b="1" i="1" spc="10" dirty="0">
                <a:solidFill>
                  <a:srgbClr val="003399"/>
                </a:solidFill>
                <a:latin typeface="Arial"/>
                <a:cs typeface="Arial"/>
              </a:rPr>
              <a:t>0 </a:t>
            </a:r>
            <a:r>
              <a:rPr sz="3050" b="1" i="1" spc="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050" b="1" i="1" spc="15" dirty="0">
                <a:solidFill>
                  <a:srgbClr val="003399"/>
                </a:solidFill>
                <a:latin typeface="Arial"/>
                <a:cs typeface="Arial"/>
              </a:rPr>
              <a:t>value.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794" y="569468"/>
            <a:ext cx="55048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 side note on</a:t>
            </a:r>
            <a:r>
              <a:rPr spc="-235" dirty="0"/>
              <a:t> </a:t>
            </a:r>
            <a:r>
              <a:rPr dirty="0"/>
              <a:t>NULL</a:t>
            </a:r>
          </a:p>
        </p:txBody>
      </p:sp>
      <p:sp>
        <p:nvSpPr>
          <p:cNvPr id="3" name="object 3"/>
          <p:cNvSpPr/>
          <p:nvPr/>
        </p:nvSpPr>
        <p:spPr>
          <a:xfrm>
            <a:off x="504139" y="1484376"/>
            <a:ext cx="112776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4139" y="1967484"/>
            <a:ext cx="112776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4139" y="2449068"/>
            <a:ext cx="112776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1339" y="2901950"/>
            <a:ext cx="112775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1339" y="3354578"/>
            <a:ext cx="112775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61339" y="4080002"/>
            <a:ext cx="112775" cy="140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1339" y="4533011"/>
            <a:ext cx="112775" cy="140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4139" y="5290439"/>
            <a:ext cx="112776" cy="140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1339" y="5741543"/>
            <a:ext cx="112775" cy="140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9351" y="1147674"/>
            <a:ext cx="8752840" cy="476567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NULL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not the number</a:t>
            </a:r>
            <a:r>
              <a:rPr sz="2000" b="1" spc="-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NULL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not necessarily the address</a:t>
            </a:r>
            <a:r>
              <a:rPr sz="2000" b="1" spc="-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NULL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is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just a special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for pointers told to us by C</a:t>
            </a:r>
            <a:r>
              <a:rPr sz="2000" b="1" spc="-1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language.</a:t>
            </a:r>
            <a:endParaRPr sz="2000">
              <a:latin typeface="Arial"/>
              <a:cs typeface="Arial"/>
            </a:endParaRPr>
          </a:p>
          <a:p>
            <a:pPr marL="640080">
              <a:lnSpc>
                <a:spcPct val="100000"/>
              </a:lnSpc>
              <a:spcBef>
                <a:spcPts val="1165"/>
              </a:spcBef>
            </a:pPr>
            <a:r>
              <a:rPr sz="2000" b="1" spc="-30" dirty="0">
                <a:solidFill>
                  <a:srgbClr val="0000CC"/>
                </a:solidFill>
                <a:latin typeface="Arial"/>
                <a:cs typeface="Arial"/>
              </a:rPr>
              <a:t>Very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often </a:t>
            </a:r>
            <a:r>
              <a:rPr sz="2000" b="1" spc="10" dirty="0">
                <a:solidFill>
                  <a:srgbClr val="0000CC"/>
                </a:solidFill>
                <a:latin typeface="Arial"/>
                <a:cs typeface="Arial"/>
              </a:rPr>
              <a:t>we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need special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for a certain</a:t>
            </a:r>
            <a:r>
              <a:rPr sz="2000" b="1" spc="-16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CC"/>
                </a:solidFill>
                <a:latin typeface="Arial"/>
                <a:cs typeface="Arial"/>
              </a:rPr>
              <a:t>type</a:t>
            </a:r>
            <a:endParaRPr sz="2000">
              <a:latin typeface="Arial"/>
              <a:cs typeface="Arial"/>
            </a:endParaRPr>
          </a:p>
          <a:p>
            <a:pPr marL="640080" marR="5080">
              <a:lnSpc>
                <a:spcPts val="2160"/>
              </a:lnSpc>
              <a:spcBef>
                <a:spcPts val="1435"/>
              </a:spcBef>
            </a:pP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E.g.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the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'\0' for a character is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universally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taken to be a</a:t>
            </a:r>
            <a:r>
              <a:rPr sz="2000" b="1" spc="-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special 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indicating end of a character sequence in an</a:t>
            </a:r>
            <a:r>
              <a:rPr sz="2000" b="1" spc="-14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array</a:t>
            </a:r>
            <a:endParaRPr sz="2000">
              <a:latin typeface="Arial"/>
              <a:cs typeface="Arial"/>
            </a:endParaRPr>
          </a:p>
          <a:p>
            <a:pPr marL="640080" marR="490855">
              <a:lnSpc>
                <a:spcPts val="3570"/>
              </a:lnSpc>
              <a:spcBef>
                <a:spcPts val="265"/>
              </a:spcBef>
              <a:tabLst>
                <a:tab pos="6798309" algn="l"/>
              </a:tabLst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INT_MAX , INT_MIN are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#defined</a:t>
            </a:r>
            <a:r>
              <a:rPr sz="2000" b="1" spc="-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</a:t>
            </a:r>
            <a:r>
              <a:rPr sz="2000" b="1" spc="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limits.h	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for integers  These </a:t>
            </a:r>
            <a:r>
              <a:rPr sz="2000" b="1" spc="-10" dirty="0">
                <a:solidFill>
                  <a:srgbClr val="0000CC"/>
                </a:solidFill>
                <a:latin typeface="Arial"/>
                <a:cs typeface="Arial"/>
              </a:rPr>
              <a:t>type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of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values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are used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in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programs to indicate either</a:t>
            </a:r>
            <a:r>
              <a:rPr sz="2000" b="1" spc="-1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  <a:p>
            <a:pPr marL="640080">
              <a:lnSpc>
                <a:spcPts val="1845"/>
              </a:lnSpc>
              <a:tabLst>
                <a:tab pos="2714625" algn="l"/>
              </a:tabLst>
            </a:pPr>
            <a:r>
              <a:rPr sz="2000" b="1" i="1" dirty="0">
                <a:solidFill>
                  <a:srgbClr val="0000CC"/>
                </a:solidFill>
                <a:latin typeface="Arial"/>
                <a:cs typeface="Arial"/>
              </a:rPr>
              <a:t>unused</a:t>
            </a:r>
            <a:r>
              <a:rPr sz="2000" b="1" i="1" spc="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CC"/>
                </a:solidFill>
                <a:latin typeface="Arial"/>
                <a:cs typeface="Arial"/>
              </a:rPr>
              <a:t>variable	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or </a:t>
            </a:r>
            <a:r>
              <a:rPr sz="2000" b="1" i="1" dirty="0">
                <a:solidFill>
                  <a:srgbClr val="0000CC"/>
                </a:solidFill>
                <a:latin typeface="Arial"/>
                <a:cs typeface="Arial"/>
              </a:rPr>
              <a:t>empty variable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or </a:t>
            </a:r>
            <a:r>
              <a:rPr sz="2000" b="1" i="1" dirty="0">
                <a:solidFill>
                  <a:srgbClr val="0000CC"/>
                </a:solidFill>
                <a:latin typeface="Arial"/>
                <a:cs typeface="Arial"/>
              </a:rPr>
              <a:t>error value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on that</a:t>
            </a:r>
            <a:r>
              <a:rPr sz="2000" b="1" spc="-14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variable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Int i = NULL; char c = NULL;</a:t>
            </a:r>
            <a:r>
              <a:rPr sz="2000" b="1" spc="-14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0000CC"/>
                </a:solidFill>
                <a:latin typeface="Arial"/>
                <a:cs typeface="Arial"/>
              </a:rPr>
              <a:t>works</a:t>
            </a:r>
            <a:endParaRPr sz="2000">
              <a:latin typeface="Arial"/>
              <a:cs typeface="Arial"/>
            </a:endParaRPr>
          </a:p>
          <a:p>
            <a:pPr marL="640080">
              <a:lnSpc>
                <a:spcPct val="100000"/>
              </a:lnSpc>
              <a:spcBef>
                <a:spcPts val="1150"/>
              </a:spcBef>
            </a:pP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Why do </a:t>
            </a:r>
            <a:r>
              <a:rPr sz="2000" b="1" spc="-15" dirty="0">
                <a:solidFill>
                  <a:srgbClr val="0000CC"/>
                </a:solidFill>
                <a:latin typeface="Arial"/>
                <a:cs typeface="Arial"/>
              </a:rPr>
              <a:t>you </a:t>
            </a:r>
            <a:r>
              <a:rPr sz="2000" b="1" spc="10" dirty="0">
                <a:solidFill>
                  <a:srgbClr val="0000CC"/>
                </a:solidFill>
                <a:latin typeface="Arial"/>
                <a:cs typeface="Arial"/>
              </a:rPr>
              <a:t>want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to do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it?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Instead of </a:t>
            </a:r>
            <a:r>
              <a:rPr sz="2000" b="1" spc="-5" dirty="0">
                <a:solidFill>
                  <a:srgbClr val="0000CC"/>
                </a:solidFill>
                <a:latin typeface="Arial"/>
                <a:cs typeface="Arial"/>
              </a:rPr>
              <a:t>saying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int i = 0; char c =</a:t>
            </a:r>
            <a:r>
              <a:rPr sz="2000" b="1" spc="-21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CC"/>
                </a:solidFill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897" y="254000"/>
            <a:ext cx="800925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5440" marR="5080" indent="-2873375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Operations on (and related</a:t>
            </a:r>
            <a:r>
              <a:rPr spc="-60" dirty="0"/>
              <a:t> </a:t>
            </a:r>
            <a:r>
              <a:rPr spc="-5" dirty="0"/>
              <a:t>to)  </a:t>
            </a:r>
            <a:r>
              <a:rPr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3704" y="2074011"/>
            <a:ext cx="1591945" cy="363791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3200" b="1" dirty="0">
                <a:latin typeface="Arial"/>
                <a:cs typeface="Arial"/>
              </a:rPr>
              <a:t>&amp;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3200" b="1" dirty="0">
                <a:latin typeface="Arial"/>
                <a:cs typeface="Arial"/>
              </a:rPr>
              <a:t>*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3200" b="1" dirty="0">
                <a:latin typeface="Arial"/>
                <a:cs typeface="Arial"/>
              </a:rPr>
              <a:t>=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  <a:tabLst>
                <a:tab pos="958850" algn="l"/>
              </a:tabLst>
            </a:pPr>
            <a:r>
              <a:rPr sz="3200" b="1" dirty="0">
                <a:latin typeface="Arial"/>
                <a:cs typeface="Arial"/>
              </a:rPr>
              <a:t>+int	-int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3200" b="1" dirty="0">
                <a:latin typeface="Arial"/>
                <a:cs typeface="Arial"/>
              </a:rPr>
              <a:t>-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3200" b="1" dirty="0">
                <a:latin typeface="Arial"/>
                <a:cs typeface="Arial"/>
              </a:rPr>
              <a:t>[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]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431" y="234188"/>
            <a:ext cx="875665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3240" marR="5080" indent="-510540">
              <a:lnSpc>
                <a:spcPct val="100000"/>
              </a:lnSpc>
              <a:spcBef>
                <a:spcPts val="100"/>
              </a:spcBef>
              <a:tabLst>
                <a:tab pos="2978785" algn="l"/>
              </a:tabLst>
            </a:pPr>
            <a:r>
              <a:rPr dirty="0"/>
              <a:t>Operations related to pointers:</a:t>
            </a:r>
            <a:r>
              <a:rPr spc="-70" dirty="0"/>
              <a:t> </a:t>
            </a:r>
            <a:r>
              <a:rPr dirty="0">
                <a:solidFill>
                  <a:srgbClr val="000099"/>
                </a:solidFill>
              </a:rPr>
              <a:t>&amp;  address	/ reference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5516" y="2324840"/>
            <a:ext cx="1514475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100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</a:t>
            </a:r>
            <a:r>
              <a:rPr sz="3200" b="1" spc="-10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800000"/>
                </a:solidFill>
                <a:latin typeface="Arial"/>
                <a:cs typeface="Arial"/>
              </a:rPr>
              <a:t>i; 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 =</a:t>
            </a:r>
            <a:r>
              <a:rPr sz="3200" b="1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&amp;i;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43732" y="1542034"/>
            <a:ext cx="49377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43478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&amp; </a:t>
            </a:r>
            <a:r>
              <a:rPr sz="2300" b="1" spc="-5" dirty="0">
                <a:solidFill>
                  <a:srgbClr val="0000CC"/>
                </a:solidFill>
                <a:latin typeface="Arial"/>
                <a:cs typeface="Arial"/>
              </a:rPr>
              <a:t>fetches the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address of</a:t>
            </a:r>
            <a:r>
              <a:rPr sz="2300" b="1" spc="-13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variable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0932" y="1893164"/>
            <a:ext cx="5194300" cy="21367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225"/>
              </a:spcBef>
              <a:buSzPct val="43478"/>
              <a:buFont typeface="Wingdings"/>
              <a:buChar char=""/>
              <a:tabLst>
                <a:tab pos="241300" algn="l"/>
                <a:tab pos="241935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Called Referencing</a:t>
            </a:r>
            <a:r>
              <a:rPr sz="2300" b="1" spc="-10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operator</a:t>
            </a:r>
            <a:endParaRPr sz="23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1130"/>
              </a:spcBef>
              <a:buSzPct val="43478"/>
              <a:buFont typeface="Wingdings"/>
              <a:buChar char=""/>
              <a:tabLst>
                <a:tab pos="241300" algn="l"/>
                <a:tab pos="241935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Here, &amp;i </a:t>
            </a:r>
            <a:r>
              <a:rPr sz="2300" b="1" spc="-5" dirty="0">
                <a:solidFill>
                  <a:srgbClr val="0000CC"/>
                </a:solidFill>
                <a:latin typeface="Arial"/>
                <a:cs typeface="Arial"/>
              </a:rPr>
              <a:t>is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address of</a:t>
            </a:r>
            <a:r>
              <a:rPr sz="2300" b="1" spc="-10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i</a:t>
            </a:r>
            <a:endParaRPr sz="2300">
              <a:latin typeface="Arial"/>
              <a:cs typeface="Arial"/>
            </a:endParaRPr>
          </a:p>
          <a:p>
            <a:pPr marL="241300" marR="5080" indent="-229235">
              <a:lnSpc>
                <a:spcPts val="2480"/>
              </a:lnSpc>
              <a:spcBef>
                <a:spcPts val="1435"/>
              </a:spcBef>
              <a:buSzPct val="43478"/>
              <a:buFont typeface="Wingdings"/>
              <a:buChar char=""/>
              <a:tabLst>
                <a:tab pos="241300" algn="l"/>
                <a:tab pos="241935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RHS is address of </a:t>
            </a:r>
            <a:r>
              <a:rPr sz="2300" b="1" spc="-15" dirty="0">
                <a:solidFill>
                  <a:srgbClr val="0000CC"/>
                </a:solidFill>
                <a:latin typeface="Arial"/>
                <a:cs typeface="Arial"/>
              </a:rPr>
              <a:t>integer,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LHS is  variable which can store address</a:t>
            </a:r>
            <a:r>
              <a:rPr sz="2300" b="1" spc="-2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of  integer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3732" y="4181983"/>
            <a:ext cx="6182360" cy="72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SzPct val="43478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Diagram of </a:t>
            </a:r>
            <a:r>
              <a:rPr sz="2300" b="1" spc="-5" dirty="0">
                <a:solidFill>
                  <a:srgbClr val="0000CC"/>
                </a:solidFill>
                <a:latin typeface="Arial"/>
                <a:cs typeface="Arial"/>
              </a:rPr>
              <a:t>this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operation is shown on</a:t>
            </a:r>
            <a:r>
              <a:rPr sz="2300" b="1" spc="-2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left  side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3732" y="5061585"/>
            <a:ext cx="5747385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SzPct val="43478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No need of assuming some value for  address (e.g. address 1028). Just the  diagram is sufficient to understand</a:t>
            </a:r>
            <a:r>
              <a:rPr sz="2300" b="1" spc="-18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srgbClr val="0000CC"/>
                </a:solidFill>
                <a:latin typeface="Arial"/>
                <a:cs typeface="Arial"/>
              </a:rPr>
              <a:t>the  </a:t>
            </a:r>
            <a:r>
              <a:rPr sz="2300" b="1" dirty="0">
                <a:solidFill>
                  <a:srgbClr val="0000CC"/>
                </a:solidFill>
                <a:latin typeface="Arial"/>
                <a:cs typeface="Arial"/>
              </a:rPr>
              <a:t>concept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0725" y="5039741"/>
            <a:ext cx="2089785" cy="721360"/>
            <a:chOff x="720725" y="5039741"/>
            <a:chExt cx="2089785" cy="721360"/>
          </a:xfrm>
        </p:grpSpPr>
        <p:sp>
          <p:nvSpPr>
            <p:cNvPr id="9" name="object 9"/>
            <p:cNvSpPr/>
            <p:nvPr/>
          </p:nvSpPr>
          <p:spPr>
            <a:xfrm>
              <a:off x="721614" y="5040630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5" h="719454">
                  <a:moveTo>
                    <a:pt x="719328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719328" y="719328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1614" y="5040630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5" h="719454">
                  <a:moveTo>
                    <a:pt x="0" y="719328"/>
                  </a:moveTo>
                  <a:lnTo>
                    <a:pt x="719328" y="719328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8641" y="5040630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720851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720851" y="719328"/>
                  </a:lnTo>
                  <a:lnTo>
                    <a:pt x="720851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88641" y="5040630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0" y="719328"/>
                  </a:moveTo>
                  <a:lnTo>
                    <a:pt x="720851" y="719328"/>
                  </a:lnTo>
                  <a:lnTo>
                    <a:pt x="720851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8125" y="5350129"/>
              <a:ext cx="1080770" cy="103505"/>
            </a:xfrm>
            <a:custGeom>
              <a:avLst/>
              <a:gdLst/>
              <a:ahLst/>
              <a:cxnLst/>
              <a:rect l="l" t="t" r="r" b="b"/>
              <a:pathLst>
                <a:path w="1080770" h="103504">
                  <a:moveTo>
                    <a:pt x="1055406" y="51689"/>
                  </a:moveTo>
                  <a:lnTo>
                    <a:pt x="985519" y="92456"/>
                  </a:lnTo>
                  <a:lnTo>
                    <a:pt x="984504" y="96266"/>
                  </a:lnTo>
                  <a:lnTo>
                    <a:pt x="988060" y="102362"/>
                  </a:lnTo>
                  <a:lnTo>
                    <a:pt x="991869" y="103378"/>
                  </a:lnTo>
                  <a:lnTo>
                    <a:pt x="1069625" y="58038"/>
                  </a:lnTo>
                  <a:lnTo>
                    <a:pt x="1067943" y="58038"/>
                  </a:lnTo>
                  <a:lnTo>
                    <a:pt x="1067943" y="57150"/>
                  </a:lnTo>
                  <a:lnTo>
                    <a:pt x="1064768" y="57150"/>
                  </a:lnTo>
                  <a:lnTo>
                    <a:pt x="1055406" y="51689"/>
                  </a:lnTo>
                  <a:close/>
                </a:path>
                <a:path w="1080770" h="103504">
                  <a:moveTo>
                    <a:pt x="104452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1044520" y="58038"/>
                  </a:lnTo>
                  <a:lnTo>
                    <a:pt x="1055406" y="51689"/>
                  </a:lnTo>
                  <a:lnTo>
                    <a:pt x="1044520" y="45338"/>
                  </a:lnTo>
                  <a:close/>
                </a:path>
                <a:path w="1080770" h="103504">
                  <a:moveTo>
                    <a:pt x="1069625" y="45338"/>
                  </a:moveTo>
                  <a:lnTo>
                    <a:pt x="1067943" y="45338"/>
                  </a:lnTo>
                  <a:lnTo>
                    <a:pt x="1067943" y="58038"/>
                  </a:lnTo>
                  <a:lnTo>
                    <a:pt x="1069625" y="58038"/>
                  </a:lnTo>
                  <a:lnTo>
                    <a:pt x="1080515" y="51689"/>
                  </a:lnTo>
                  <a:lnTo>
                    <a:pt x="1069625" y="45338"/>
                  </a:lnTo>
                  <a:close/>
                </a:path>
                <a:path w="1080770" h="103504">
                  <a:moveTo>
                    <a:pt x="1064768" y="46228"/>
                  </a:moveTo>
                  <a:lnTo>
                    <a:pt x="1055406" y="51689"/>
                  </a:lnTo>
                  <a:lnTo>
                    <a:pt x="1064768" y="57150"/>
                  </a:lnTo>
                  <a:lnTo>
                    <a:pt x="1064768" y="46228"/>
                  </a:lnTo>
                  <a:close/>
                </a:path>
                <a:path w="1080770" h="103504">
                  <a:moveTo>
                    <a:pt x="1067943" y="46228"/>
                  </a:moveTo>
                  <a:lnTo>
                    <a:pt x="1064768" y="46228"/>
                  </a:lnTo>
                  <a:lnTo>
                    <a:pt x="1064768" y="57150"/>
                  </a:lnTo>
                  <a:lnTo>
                    <a:pt x="1067943" y="57150"/>
                  </a:lnTo>
                  <a:lnTo>
                    <a:pt x="1067943" y="46228"/>
                  </a:lnTo>
                  <a:close/>
                </a:path>
                <a:path w="1080770" h="103504">
                  <a:moveTo>
                    <a:pt x="991869" y="0"/>
                  </a:moveTo>
                  <a:lnTo>
                    <a:pt x="988060" y="1016"/>
                  </a:lnTo>
                  <a:lnTo>
                    <a:pt x="984504" y="7112"/>
                  </a:lnTo>
                  <a:lnTo>
                    <a:pt x="985519" y="10922"/>
                  </a:lnTo>
                  <a:lnTo>
                    <a:pt x="1055406" y="51689"/>
                  </a:lnTo>
                  <a:lnTo>
                    <a:pt x="1064768" y="46228"/>
                  </a:lnTo>
                  <a:lnTo>
                    <a:pt x="1067943" y="46228"/>
                  </a:lnTo>
                  <a:lnTo>
                    <a:pt x="1067943" y="45338"/>
                  </a:lnTo>
                  <a:lnTo>
                    <a:pt x="1069625" y="45338"/>
                  </a:lnTo>
                  <a:lnTo>
                    <a:pt x="991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8068" y="584771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3340" y="5847715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751" y="0"/>
            <a:ext cx="775715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18515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Operations on pointers: </a:t>
            </a:r>
            <a:r>
              <a:rPr sz="4000" spc="-5" dirty="0">
                <a:solidFill>
                  <a:srgbClr val="000099"/>
                </a:solidFill>
              </a:rPr>
              <a:t>*  value at/ dereferencing</a:t>
            </a:r>
            <a:r>
              <a:rPr sz="4000" spc="10" dirty="0">
                <a:solidFill>
                  <a:srgbClr val="000099"/>
                </a:solidFill>
              </a:rPr>
              <a:t> </a:t>
            </a:r>
            <a:r>
              <a:rPr sz="4000" spc="-5" dirty="0">
                <a:solidFill>
                  <a:srgbClr val="000099"/>
                </a:solidFill>
              </a:rPr>
              <a:t>operator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27480" y="1749145"/>
            <a:ext cx="1851660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100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 i,</a:t>
            </a:r>
            <a:r>
              <a:rPr sz="3200" b="1" spc="-1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j;   i =</a:t>
            </a:r>
            <a:r>
              <a:rPr sz="3200" b="1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10;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7480" y="3083590"/>
            <a:ext cx="1279525" cy="1354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95"/>
              </a:spcBef>
              <a:tabLst>
                <a:tab pos="350520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 =</a:t>
            </a:r>
            <a:r>
              <a:rPr sz="3200" b="1" spc="-10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&amp;i;   j	=</a:t>
            </a:r>
            <a:r>
              <a:rPr sz="3200" b="1" spc="-7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*p;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0875" y="1367155"/>
            <a:ext cx="4794885" cy="182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1250" spc="5" dirty="0">
                <a:solidFill>
                  <a:srgbClr val="0000CC"/>
                </a:solidFill>
                <a:latin typeface="Courier New"/>
                <a:cs typeface="Courier New"/>
              </a:rPr>
              <a:t>o	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* fetches the value stored  at a given</a:t>
            </a:r>
            <a:r>
              <a:rPr sz="2800" b="1" spc="1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address</a:t>
            </a:r>
            <a:endParaRPr sz="2800">
              <a:latin typeface="Arial"/>
              <a:cs typeface="Arial"/>
            </a:endParaRPr>
          </a:p>
          <a:p>
            <a:pPr marL="698500" marR="570230" indent="-228600">
              <a:lnSpc>
                <a:spcPts val="3020"/>
              </a:lnSpc>
              <a:spcBef>
                <a:spcPts val="1450"/>
              </a:spcBef>
            </a:pPr>
            <a:r>
              <a:rPr sz="1250" spc="5" dirty="0">
                <a:solidFill>
                  <a:srgbClr val="0000CC"/>
                </a:solidFill>
                <a:latin typeface="Courier New"/>
                <a:cs typeface="Courier New"/>
              </a:rPr>
              <a:t>o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Called dereferencing  operator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0875" y="3344037"/>
            <a:ext cx="503174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60350" indent="-4572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1250" spc="5" dirty="0">
                <a:solidFill>
                  <a:srgbClr val="0000CC"/>
                </a:solidFill>
                <a:latin typeface="Courier New"/>
                <a:cs typeface="Courier New"/>
              </a:rPr>
              <a:t>o	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*p : here “value of p” is  </a:t>
            </a:r>
            <a:r>
              <a:rPr sz="2800" b="1" dirty="0">
                <a:solidFill>
                  <a:srgbClr val="0000CC"/>
                </a:solidFill>
                <a:latin typeface="Arial"/>
                <a:cs typeface="Arial"/>
              </a:rPr>
              <a:t>itself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an address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(of i),</a:t>
            </a:r>
            <a:r>
              <a:rPr sz="2800" b="1" i="1" spc="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so</a:t>
            </a:r>
            <a:endParaRPr sz="2800">
              <a:latin typeface="Arial"/>
              <a:cs typeface="Arial"/>
            </a:endParaRPr>
          </a:p>
          <a:p>
            <a:pPr marL="469900" marR="5080">
              <a:lnSpc>
                <a:spcPct val="100000"/>
              </a:lnSpc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*p is value stored </a:t>
            </a:r>
            <a:r>
              <a:rPr sz="2800" b="1" dirty="0">
                <a:solidFill>
                  <a:srgbClr val="0000CC"/>
                </a:solidFill>
                <a:latin typeface="Arial"/>
                <a:cs typeface="Arial"/>
              </a:rPr>
              <a:t>at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“value  of p” that is</a:t>
            </a:r>
            <a:r>
              <a:rPr sz="2800" b="1" spc="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0875" y="5229605"/>
            <a:ext cx="483933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1250" spc="5" dirty="0">
                <a:solidFill>
                  <a:srgbClr val="0000CC"/>
                </a:solidFill>
                <a:latin typeface="Courier New"/>
                <a:cs typeface="Courier New"/>
              </a:rPr>
              <a:t>o	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Diagram's make it easy to  understand, *p is simply  the contents of </a:t>
            </a: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box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  points</a:t>
            </a:r>
            <a:r>
              <a:rPr sz="2800" b="1" spc="2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0725" y="5039741"/>
            <a:ext cx="1368425" cy="721360"/>
            <a:chOff x="720725" y="5039741"/>
            <a:chExt cx="1368425" cy="721360"/>
          </a:xfrm>
        </p:grpSpPr>
        <p:sp>
          <p:nvSpPr>
            <p:cNvPr id="9" name="object 9"/>
            <p:cNvSpPr/>
            <p:nvPr/>
          </p:nvSpPr>
          <p:spPr>
            <a:xfrm>
              <a:off x="721614" y="5040630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5" h="719454">
                  <a:moveTo>
                    <a:pt x="719328" y="0"/>
                  </a:moveTo>
                  <a:lnTo>
                    <a:pt x="0" y="0"/>
                  </a:lnTo>
                  <a:lnTo>
                    <a:pt x="0" y="719328"/>
                  </a:lnTo>
                  <a:lnTo>
                    <a:pt x="719328" y="719328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1614" y="5040630"/>
              <a:ext cx="719455" cy="719455"/>
            </a:xfrm>
            <a:custGeom>
              <a:avLst/>
              <a:gdLst/>
              <a:ahLst/>
              <a:cxnLst/>
              <a:rect l="l" t="t" r="r" b="b"/>
              <a:pathLst>
                <a:path w="719455" h="719454">
                  <a:moveTo>
                    <a:pt x="0" y="719328"/>
                  </a:moveTo>
                  <a:lnTo>
                    <a:pt x="719328" y="719328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719328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08125" y="5350129"/>
              <a:ext cx="1080770" cy="103505"/>
            </a:xfrm>
            <a:custGeom>
              <a:avLst/>
              <a:gdLst/>
              <a:ahLst/>
              <a:cxnLst/>
              <a:rect l="l" t="t" r="r" b="b"/>
              <a:pathLst>
                <a:path w="1080770" h="103504">
                  <a:moveTo>
                    <a:pt x="1055406" y="51689"/>
                  </a:moveTo>
                  <a:lnTo>
                    <a:pt x="985519" y="92456"/>
                  </a:lnTo>
                  <a:lnTo>
                    <a:pt x="984504" y="96266"/>
                  </a:lnTo>
                  <a:lnTo>
                    <a:pt x="988060" y="102362"/>
                  </a:lnTo>
                  <a:lnTo>
                    <a:pt x="991869" y="103378"/>
                  </a:lnTo>
                  <a:lnTo>
                    <a:pt x="1069625" y="58038"/>
                  </a:lnTo>
                  <a:lnTo>
                    <a:pt x="1067943" y="58038"/>
                  </a:lnTo>
                  <a:lnTo>
                    <a:pt x="1067943" y="57150"/>
                  </a:lnTo>
                  <a:lnTo>
                    <a:pt x="1064768" y="57150"/>
                  </a:lnTo>
                  <a:lnTo>
                    <a:pt x="1055406" y="51689"/>
                  </a:lnTo>
                  <a:close/>
                </a:path>
                <a:path w="1080770" h="103504">
                  <a:moveTo>
                    <a:pt x="104452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1044520" y="58038"/>
                  </a:lnTo>
                  <a:lnTo>
                    <a:pt x="1055406" y="51689"/>
                  </a:lnTo>
                  <a:lnTo>
                    <a:pt x="1044520" y="45338"/>
                  </a:lnTo>
                  <a:close/>
                </a:path>
                <a:path w="1080770" h="103504">
                  <a:moveTo>
                    <a:pt x="1069625" y="45338"/>
                  </a:moveTo>
                  <a:lnTo>
                    <a:pt x="1067943" y="45338"/>
                  </a:lnTo>
                  <a:lnTo>
                    <a:pt x="1067943" y="58038"/>
                  </a:lnTo>
                  <a:lnTo>
                    <a:pt x="1069625" y="58038"/>
                  </a:lnTo>
                  <a:lnTo>
                    <a:pt x="1080515" y="51689"/>
                  </a:lnTo>
                  <a:lnTo>
                    <a:pt x="1069625" y="45338"/>
                  </a:lnTo>
                  <a:close/>
                </a:path>
                <a:path w="1080770" h="103504">
                  <a:moveTo>
                    <a:pt x="1064768" y="46228"/>
                  </a:moveTo>
                  <a:lnTo>
                    <a:pt x="1055406" y="51689"/>
                  </a:lnTo>
                  <a:lnTo>
                    <a:pt x="1064768" y="57150"/>
                  </a:lnTo>
                  <a:lnTo>
                    <a:pt x="1064768" y="46228"/>
                  </a:lnTo>
                  <a:close/>
                </a:path>
                <a:path w="1080770" h="103504">
                  <a:moveTo>
                    <a:pt x="1067943" y="46228"/>
                  </a:moveTo>
                  <a:lnTo>
                    <a:pt x="1064768" y="46228"/>
                  </a:lnTo>
                  <a:lnTo>
                    <a:pt x="1064768" y="57150"/>
                  </a:lnTo>
                  <a:lnTo>
                    <a:pt x="1067943" y="57150"/>
                  </a:lnTo>
                  <a:lnTo>
                    <a:pt x="1067943" y="46228"/>
                  </a:lnTo>
                  <a:close/>
                </a:path>
                <a:path w="1080770" h="103504">
                  <a:moveTo>
                    <a:pt x="991869" y="0"/>
                  </a:moveTo>
                  <a:lnTo>
                    <a:pt x="988060" y="1016"/>
                  </a:lnTo>
                  <a:lnTo>
                    <a:pt x="984504" y="7112"/>
                  </a:lnTo>
                  <a:lnTo>
                    <a:pt x="985519" y="10922"/>
                  </a:lnTo>
                  <a:lnTo>
                    <a:pt x="1055406" y="51689"/>
                  </a:lnTo>
                  <a:lnTo>
                    <a:pt x="1064768" y="46228"/>
                  </a:lnTo>
                  <a:lnTo>
                    <a:pt x="1067943" y="46228"/>
                  </a:lnTo>
                  <a:lnTo>
                    <a:pt x="1067943" y="45338"/>
                  </a:lnTo>
                  <a:lnTo>
                    <a:pt x="1069625" y="45338"/>
                  </a:lnTo>
                  <a:lnTo>
                    <a:pt x="991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8642" y="5040630"/>
            <a:ext cx="721360" cy="719455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214629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689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068" y="584771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3340" y="5847715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5565" y="4178046"/>
            <a:ext cx="719455" cy="719455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680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49802" y="4974717"/>
            <a:ext cx="116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j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6729" y="0"/>
            <a:ext cx="6121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Operations on pointers:</a:t>
            </a:r>
            <a:r>
              <a:rPr sz="4000" dirty="0"/>
              <a:t> </a:t>
            </a:r>
            <a:r>
              <a:rPr sz="4000" spc="-5" dirty="0">
                <a:solidFill>
                  <a:srgbClr val="000099"/>
                </a:solidFill>
              </a:rPr>
              <a:t>*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1368" y="590803"/>
            <a:ext cx="1492885" cy="299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</a:t>
            </a:r>
            <a:r>
              <a:rPr sz="3200" b="1" spc="-10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i, 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j;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 =</a:t>
            </a:r>
            <a:r>
              <a:rPr sz="3200" b="1" spc="-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10;</a:t>
            </a:r>
            <a:endParaRPr sz="3200">
              <a:latin typeface="Arial"/>
              <a:cs typeface="Arial"/>
            </a:endParaRPr>
          </a:p>
          <a:p>
            <a:pPr marL="12700" marR="218440">
              <a:lnSpc>
                <a:spcPct val="136300"/>
              </a:lnSpc>
              <a:spcBef>
                <a:spcPts val="10"/>
              </a:spcBef>
              <a:tabLst>
                <a:tab pos="351790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 =</a:t>
            </a:r>
            <a:r>
              <a:rPr sz="3200" b="1" spc="-10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&amp;i;   j	=</a:t>
            </a:r>
            <a:r>
              <a:rPr sz="3200" b="1" spc="-9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*p;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8438" y="1116330"/>
            <a:ext cx="4413250" cy="5748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7272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What is the</a:t>
            </a:r>
            <a:r>
              <a:rPr sz="3200" b="1" spc="-13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difference  between * in the two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codes?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05"/>
              </a:spcBef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The *p fetches the  value at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given address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in sizeof(int)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bytes,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while *cp fetches the  value at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given address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in sizeof(char)=1</a:t>
            </a:r>
            <a:r>
              <a:rPr sz="3200" b="1" spc="-15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bytes</a:t>
            </a:r>
            <a:endParaRPr sz="3200">
              <a:latin typeface="Arial"/>
              <a:cs typeface="Arial"/>
            </a:endParaRPr>
          </a:p>
          <a:p>
            <a:pPr marL="12700" marR="106680">
              <a:lnSpc>
                <a:spcPct val="100000"/>
              </a:lnSpc>
              <a:spcBef>
                <a:spcPts val="1410"/>
              </a:spcBef>
              <a:tabLst>
                <a:tab pos="396875" algn="l"/>
                <a:tab pos="3688079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	works</a:t>
            </a:r>
            <a:r>
              <a:rPr sz="3200" b="1" spc="-3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ba</a:t>
            </a:r>
            <a:r>
              <a:rPr sz="3200" b="1" spc="-15" dirty="0">
                <a:solidFill>
                  <a:srgbClr val="800000"/>
                </a:solidFill>
                <a:latin typeface="Arial"/>
                <a:cs typeface="Arial"/>
              </a:rPr>
              <a:t>s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ed</a:t>
            </a:r>
            <a:r>
              <a:rPr sz="3200" b="1" spc="-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on	the  size of the</a:t>
            </a:r>
            <a:r>
              <a:rPr sz="3200" b="1" spc="-7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type!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0493" y="4446841"/>
            <a:ext cx="614680" cy="556895"/>
            <a:chOff x="900493" y="4446841"/>
            <a:chExt cx="614680" cy="556895"/>
          </a:xfrm>
        </p:grpSpPr>
        <p:sp>
          <p:nvSpPr>
            <p:cNvPr id="6" name="object 6"/>
            <p:cNvSpPr/>
            <p:nvPr/>
          </p:nvSpPr>
          <p:spPr>
            <a:xfrm>
              <a:off x="901445" y="4447794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89">
                  <a:moveTo>
                    <a:pt x="612647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12647" y="554736"/>
                  </a:lnTo>
                  <a:lnTo>
                    <a:pt x="612647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1445" y="4447794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89">
                  <a:moveTo>
                    <a:pt x="0" y="554736"/>
                  </a:moveTo>
                  <a:lnTo>
                    <a:pt x="612647" y="554736"/>
                  </a:lnTo>
                  <a:lnTo>
                    <a:pt x="612647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64257" y="4447794"/>
            <a:ext cx="612775" cy="554990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040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7595" y="5072888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72867" y="5072888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5286" y="4673473"/>
            <a:ext cx="919480" cy="103505"/>
          </a:xfrm>
          <a:custGeom>
            <a:avLst/>
            <a:gdLst/>
            <a:ahLst/>
            <a:cxnLst/>
            <a:rect l="l" t="t" r="r" b="b"/>
            <a:pathLst>
              <a:path w="919480" h="103504">
                <a:moveTo>
                  <a:pt x="893862" y="51689"/>
                </a:moveTo>
                <a:lnTo>
                  <a:pt x="823976" y="92456"/>
                </a:lnTo>
                <a:lnTo>
                  <a:pt x="822959" y="96266"/>
                </a:lnTo>
                <a:lnTo>
                  <a:pt x="826515" y="102362"/>
                </a:lnTo>
                <a:lnTo>
                  <a:pt x="830326" y="103378"/>
                </a:lnTo>
                <a:lnTo>
                  <a:pt x="908081" y="58039"/>
                </a:lnTo>
                <a:lnTo>
                  <a:pt x="906399" y="58039"/>
                </a:lnTo>
                <a:lnTo>
                  <a:pt x="906399" y="57150"/>
                </a:lnTo>
                <a:lnTo>
                  <a:pt x="903224" y="57150"/>
                </a:lnTo>
                <a:lnTo>
                  <a:pt x="893862" y="51689"/>
                </a:lnTo>
                <a:close/>
              </a:path>
              <a:path w="919480" h="103504">
                <a:moveTo>
                  <a:pt x="88297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882976" y="58039"/>
                </a:lnTo>
                <a:lnTo>
                  <a:pt x="893862" y="51689"/>
                </a:lnTo>
                <a:lnTo>
                  <a:pt x="882976" y="45339"/>
                </a:lnTo>
                <a:close/>
              </a:path>
              <a:path w="919480" h="103504">
                <a:moveTo>
                  <a:pt x="908081" y="45339"/>
                </a:moveTo>
                <a:lnTo>
                  <a:pt x="906399" y="45339"/>
                </a:lnTo>
                <a:lnTo>
                  <a:pt x="906399" y="58039"/>
                </a:lnTo>
                <a:lnTo>
                  <a:pt x="908081" y="58039"/>
                </a:lnTo>
                <a:lnTo>
                  <a:pt x="918971" y="51689"/>
                </a:lnTo>
                <a:lnTo>
                  <a:pt x="908081" y="45339"/>
                </a:lnTo>
                <a:close/>
              </a:path>
              <a:path w="919480" h="103504">
                <a:moveTo>
                  <a:pt x="903224" y="46228"/>
                </a:moveTo>
                <a:lnTo>
                  <a:pt x="893862" y="51689"/>
                </a:lnTo>
                <a:lnTo>
                  <a:pt x="903224" y="57150"/>
                </a:lnTo>
                <a:lnTo>
                  <a:pt x="903224" y="46228"/>
                </a:lnTo>
                <a:close/>
              </a:path>
              <a:path w="919480" h="103504">
                <a:moveTo>
                  <a:pt x="906399" y="46228"/>
                </a:moveTo>
                <a:lnTo>
                  <a:pt x="903224" y="46228"/>
                </a:lnTo>
                <a:lnTo>
                  <a:pt x="903224" y="57150"/>
                </a:lnTo>
                <a:lnTo>
                  <a:pt x="906399" y="57150"/>
                </a:lnTo>
                <a:lnTo>
                  <a:pt x="906399" y="46228"/>
                </a:lnTo>
                <a:close/>
              </a:path>
              <a:path w="919480" h="103504">
                <a:moveTo>
                  <a:pt x="830326" y="0"/>
                </a:moveTo>
                <a:lnTo>
                  <a:pt x="826515" y="1016"/>
                </a:lnTo>
                <a:lnTo>
                  <a:pt x="822959" y="7112"/>
                </a:lnTo>
                <a:lnTo>
                  <a:pt x="823976" y="10922"/>
                </a:lnTo>
                <a:lnTo>
                  <a:pt x="893862" y="51689"/>
                </a:lnTo>
                <a:lnTo>
                  <a:pt x="903224" y="46228"/>
                </a:lnTo>
                <a:lnTo>
                  <a:pt x="906399" y="46228"/>
                </a:lnTo>
                <a:lnTo>
                  <a:pt x="906399" y="45339"/>
                </a:lnTo>
                <a:lnTo>
                  <a:pt x="908081" y="45339"/>
                </a:lnTo>
                <a:lnTo>
                  <a:pt x="830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67633" y="3780282"/>
            <a:ext cx="612775" cy="556260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9452" y="4398391"/>
            <a:ext cx="116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j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1510" y="549097"/>
            <a:ext cx="26879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669900"/>
                </a:solidFill>
                <a:latin typeface="Arial"/>
                <a:cs typeface="Arial"/>
              </a:rPr>
              <a:t>char *cp, </a:t>
            </a:r>
            <a:r>
              <a:rPr sz="3200" b="1" spc="-5" dirty="0">
                <a:solidFill>
                  <a:srgbClr val="669900"/>
                </a:solidFill>
                <a:latin typeface="Arial"/>
                <a:cs typeface="Arial"/>
              </a:rPr>
              <a:t>c,</a:t>
            </a:r>
            <a:r>
              <a:rPr sz="3200" b="1" spc="-114" dirty="0">
                <a:solidFill>
                  <a:srgbClr val="6699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669900"/>
                </a:solidFill>
                <a:latin typeface="Arial"/>
                <a:cs typeface="Arial"/>
              </a:rPr>
              <a:t>d;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91510" y="1037945"/>
            <a:ext cx="1617980" cy="2022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105"/>
              </a:spcBef>
              <a:tabLst>
                <a:tab pos="485140" algn="l"/>
              </a:tabLst>
            </a:pPr>
            <a:r>
              <a:rPr sz="3200" b="1" dirty="0">
                <a:solidFill>
                  <a:srgbClr val="669900"/>
                </a:solidFill>
                <a:latin typeface="Arial"/>
                <a:cs typeface="Arial"/>
              </a:rPr>
              <a:t>c = </a:t>
            </a:r>
            <a:r>
              <a:rPr sz="3200" b="1" spc="-5" dirty="0">
                <a:solidFill>
                  <a:srgbClr val="669900"/>
                </a:solidFill>
                <a:latin typeface="Arial"/>
                <a:cs typeface="Arial"/>
              </a:rPr>
              <a:t>'x';  </a:t>
            </a:r>
            <a:r>
              <a:rPr sz="3200" b="1" dirty="0">
                <a:solidFill>
                  <a:srgbClr val="669900"/>
                </a:solidFill>
                <a:latin typeface="Arial"/>
                <a:cs typeface="Arial"/>
              </a:rPr>
              <a:t>cp =</a:t>
            </a:r>
            <a:r>
              <a:rPr sz="3200" b="1" spc="-110" dirty="0">
                <a:solidFill>
                  <a:srgbClr val="6699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669900"/>
                </a:solidFill>
                <a:latin typeface="Arial"/>
                <a:cs typeface="Arial"/>
              </a:rPr>
              <a:t>&amp;c;  d	=</a:t>
            </a:r>
            <a:r>
              <a:rPr sz="3200" b="1" spc="-90" dirty="0">
                <a:solidFill>
                  <a:srgbClr val="6699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669900"/>
                </a:solidFill>
                <a:latin typeface="Arial"/>
                <a:cs typeface="Arial"/>
              </a:rPr>
              <a:t>*cp;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0493" y="6498145"/>
            <a:ext cx="614680" cy="556895"/>
            <a:chOff x="900493" y="6498145"/>
            <a:chExt cx="614680" cy="556895"/>
          </a:xfrm>
        </p:grpSpPr>
        <p:sp>
          <p:nvSpPr>
            <p:cNvPr id="17" name="object 17"/>
            <p:cNvSpPr/>
            <p:nvPr/>
          </p:nvSpPr>
          <p:spPr>
            <a:xfrm>
              <a:off x="901445" y="6499098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612647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12647" y="554736"/>
                  </a:lnTo>
                  <a:lnTo>
                    <a:pt x="612647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1445" y="6499098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0" y="554736"/>
                  </a:moveTo>
                  <a:lnTo>
                    <a:pt x="612647" y="554736"/>
                  </a:lnTo>
                  <a:lnTo>
                    <a:pt x="612647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064257" y="6499098"/>
            <a:ext cx="612775" cy="554990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785"/>
              </a:spcBef>
            </a:pPr>
            <a:r>
              <a:rPr sz="2200" b="1" spc="-5" dirty="0">
                <a:latin typeface="Arial"/>
                <a:cs typeface="Arial"/>
              </a:rPr>
              <a:t>'x'</a:t>
            </a:r>
            <a:endParaRPr sz="2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77595" y="7124192"/>
            <a:ext cx="381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cp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5375" y="7124192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45286" y="6724764"/>
            <a:ext cx="919480" cy="103505"/>
          </a:xfrm>
          <a:custGeom>
            <a:avLst/>
            <a:gdLst/>
            <a:ahLst/>
            <a:cxnLst/>
            <a:rect l="l" t="t" r="r" b="b"/>
            <a:pathLst>
              <a:path w="919480" h="103504">
                <a:moveTo>
                  <a:pt x="893816" y="51701"/>
                </a:moveTo>
                <a:lnTo>
                  <a:pt x="823976" y="92430"/>
                </a:lnTo>
                <a:lnTo>
                  <a:pt x="822959" y="96316"/>
                </a:lnTo>
                <a:lnTo>
                  <a:pt x="826515" y="102374"/>
                </a:lnTo>
                <a:lnTo>
                  <a:pt x="830326" y="103403"/>
                </a:lnTo>
                <a:lnTo>
                  <a:pt x="908084" y="58051"/>
                </a:lnTo>
                <a:lnTo>
                  <a:pt x="906399" y="58051"/>
                </a:lnTo>
                <a:lnTo>
                  <a:pt x="906399" y="57188"/>
                </a:lnTo>
                <a:lnTo>
                  <a:pt x="903224" y="57188"/>
                </a:lnTo>
                <a:lnTo>
                  <a:pt x="893816" y="51701"/>
                </a:lnTo>
                <a:close/>
              </a:path>
              <a:path w="919480" h="103504">
                <a:moveTo>
                  <a:pt x="882927" y="45351"/>
                </a:moveTo>
                <a:lnTo>
                  <a:pt x="0" y="45351"/>
                </a:lnTo>
                <a:lnTo>
                  <a:pt x="0" y="58051"/>
                </a:lnTo>
                <a:lnTo>
                  <a:pt x="882927" y="58051"/>
                </a:lnTo>
                <a:lnTo>
                  <a:pt x="893816" y="51701"/>
                </a:lnTo>
                <a:lnTo>
                  <a:pt x="882927" y="45351"/>
                </a:lnTo>
                <a:close/>
              </a:path>
              <a:path w="919480" h="103504">
                <a:moveTo>
                  <a:pt x="908087" y="45351"/>
                </a:moveTo>
                <a:lnTo>
                  <a:pt x="906399" y="45351"/>
                </a:lnTo>
                <a:lnTo>
                  <a:pt x="906399" y="58051"/>
                </a:lnTo>
                <a:lnTo>
                  <a:pt x="908084" y="58051"/>
                </a:lnTo>
                <a:lnTo>
                  <a:pt x="918971" y="51701"/>
                </a:lnTo>
                <a:lnTo>
                  <a:pt x="908087" y="45351"/>
                </a:lnTo>
                <a:close/>
              </a:path>
              <a:path w="919480" h="103504">
                <a:moveTo>
                  <a:pt x="903224" y="46215"/>
                </a:moveTo>
                <a:lnTo>
                  <a:pt x="893816" y="51701"/>
                </a:lnTo>
                <a:lnTo>
                  <a:pt x="903224" y="57188"/>
                </a:lnTo>
                <a:lnTo>
                  <a:pt x="903224" y="46215"/>
                </a:lnTo>
                <a:close/>
              </a:path>
              <a:path w="919480" h="103504">
                <a:moveTo>
                  <a:pt x="906399" y="46215"/>
                </a:moveTo>
                <a:lnTo>
                  <a:pt x="903224" y="46215"/>
                </a:lnTo>
                <a:lnTo>
                  <a:pt x="903224" y="57188"/>
                </a:lnTo>
                <a:lnTo>
                  <a:pt x="906399" y="57188"/>
                </a:lnTo>
                <a:lnTo>
                  <a:pt x="906399" y="46215"/>
                </a:lnTo>
                <a:close/>
              </a:path>
              <a:path w="919480" h="103504">
                <a:moveTo>
                  <a:pt x="830326" y="0"/>
                </a:moveTo>
                <a:lnTo>
                  <a:pt x="826515" y="1016"/>
                </a:lnTo>
                <a:lnTo>
                  <a:pt x="822959" y="7086"/>
                </a:lnTo>
                <a:lnTo>
                  <a:pt x="823976" y="10972"/>
                </a:lnTo>
                <a:lnTo>
                  <a:pt x="893816" y="51701"/>
                </a:lnTo>
                <a:lnTo>
                  <a:pt x="903224" y="46215"/>
                </a:lnTo>
                <a:lnTo>
                  <a:pt x="906399" y="46215"/>
                </a:lnTo>
                <a:lnTo>
                  <a:pt x="906399" y="45351"/>
                </a:lnTo>
                <a:lnTo>
                  <a:pt x="908087" y="45351"/>
                </a:lnTo>
                <a:lnTo>
                  <a:pt x="830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167633" y="5831586"/>
            <a:ext cx="612775" cy="556260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790"/>
              </a:spcBef>
            </a:pPr>
            <a:r>
              <a:rPr sz="2200" b="1" dirty="0">
                <a:latin typeface="Arial"/>
                <a:cs typeface="Arial"/>
              </a:rPr>
              <a:t>'x'</a:t>
            </a:r>
            <a:endParaRPr sz="2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54451" y="6449669"/>
            <a:ext cx="2520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d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8233" y="569468"/>
            <a:ext cx="6844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Operations on pointers:</a:t>
            </a:r>
            <a:r>
              <a:rPr spc="-80" dirty="0"/>
              <a:t> </a:t>
            </a:r>
            <a:r>
              <a:rPr dirty="0">
                <a:solidFill>
                  <a:srgbClr val="000099"/>
                </a:solidFill>
              </a:rPr>
              <a:t>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957" y="978763"/>
            <a:ext cx="2145030" cy="2688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 i,</a:t>
            </a:r>
            <a:r>
              <a:rPr sz="3200" b="1" spc="-12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*q;   i =</a:t>
            </a:r>
            <a:r>
              <a:rPr sz="3200" b="1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10;</a:t>
            </a:r>
            <a:endParaRPr sz="3200">
              <a:latin typeface="Arial"/>
              <a:cs typeface="Arial"/>
            </a:endParaRPr>
          </a:p>
          <a:p>
            <a:pPr marL="12700" marR="871219">
              <a:lnSpc>
                <a:spcPct val="136300"/>
              </a:lnSpc>
              <a:spcBef>
                <a:spcPts val="10"/>
              </a:spcBef>
              <a:tabLst>
                <a:tab pos="485140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 =</a:t>
            </a:r>
            <a:r>
              <a:rPr sz="3200" b="1" spc="-10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&amp;i;  q	=</a:t>
            </a:r>
            <a:r>
              <a:rPr sz="3200" b="1" spc="-7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7205" y="1156462"/>
            <a:ext cx="4412615" cy="594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911860" indent="-457200" algn="just">
              <a:lnSpc>
                <a:spcPct val="100000"/>
              </a:lnSpc>
              <a:spcBef>
                <a:spcPts val="105"/>
              </a:spcBef>
              <a:buSzPct val="45312"/>
              <a:buFont typeface="Wingdings"/>
              <a:buChar char=""/>
              <a:tabLst>
                <a:tab pos="4699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Pointers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can</a:t>
            </a:r>
            <a:r>
              <a:rPr sz="3200" b="1" spc="-1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be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copied</a:t>
            </a:r>
            <a:endParaRPr sz="3200">
              <a:latin typeface="Arial"/>
              <a:cs typeface="Arial"/>
            </a:endParaRPr>
          </a:p>
          <a:p>
            <a:pPr marL="698500" marR="1016635" lvl="1" indent="-228600" algn="just">
              <a:lnSpc>
                <a:spcPts val="3460"/>
              </a:lnSpc>
              <a:spcBef>
                <a:spcPts val="1450"/>
              </a:spcBef>
              <a:buSzPct val="45312"/>
              <a:buFont typeface="Wingdings"/>
              <a:buChar char=""/>
              <a:tabLst>
                <a:tab pos="6985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Can arrays</a:t>
            </a:r>
            <a:r>
              <a:rPr sz="3200" b="1" spc="-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be  copied?</a:t>
            </a:r>
            <a:endParaRPr sz="3200">
              <a:latin typeface="Arial"/>
              <a:cs typeface="Arial"/>
            </a:endParaRPr>
          </a:p>
          <a:p>
            <a:pPr marL="469900" indent="-457200" algn="just">
              <a:lnSpc>
                <a:spcPct val="100000"/>
              </a:lnSpc>
              <a:spcBef>
                <a:spcPts val="1350"/>
              </a:spcBef>
              <a:buSzPct val="45312"/>
              <a:buFont typeface="Wingdings"/>
              <a:buChar char=""/>
              <a:tabLst>
                <a:tab pos="4699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Thumb</a:t>
            </a:r>
            <a:r>
              <a:rPr sz="3200" b="1" spc="-4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rule:</a:t>
            </a:r>
            <a:endParaRPr sz="3200">
              <a:latin typeface="Arial"/>
              <a:cs typeface="Arial"/>
            </a:endParaRPr>
          </a:p>
          <a:p>
            <a:pPr marL="698500" marR="5080" lvl="1" indent="-228600" algn="just">
              <a:lnSpc>
                <a:spcPct val="90000"/>
              </a:lnSpc>
              <a:spcBef>
                <a:spcPts val="1395"/>
              </a:spcBef>
              <a:buSzPct val="45312"/>
              <a:buFont typeface="Wingdings"/>
              <a:buChar char=""/>
              <a:tabLst>
                <a:tab pos="6985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After pointer </a:t>
            </a:r>
            <a:r>
              <a:rPr sz="3200" b="1" spc="-50" dirty="0">
                <a:solidFill>
                  <a:srgbClr val="0000CC"/>
                </a:solidFill>
                <a:latin typeface="Arial"/>
                <a:cs typeface="Arial"/>
              </a:rPr>
              <a:t>copy,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both pointers</a:t>
            </a:r>
            <a:r>
              <a:rPr sz="3200" b="1" spc="-11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point  to same</a:t>
            </a:r>
            <a:r>
              <a:rPr sz="3200" b="1" spc="-4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location</a:t>
            </a:r>
            <a:endParaRPr sz="3200">
              <a:latin typeface="Arial"/>
              <a:cs typeface="Arial"/>
            </a:endParaRPr>
          </a:p>
          <a:p>
            <a:pPr marL="469900" indent="-457200" algn="just">
              <a:lnSpc>
                <a:spcPct val="100000"/>
              </a:lnSpc>
              <a:spcBef>
                <a:spcPts val="1400"/>
              </a:spcBef>
              <a:buSzPct val="45312"/>
              <a:buFont typeface="Wingdings"/>
              <a:buChar char=""/>
              <a:tabLst>
                <a:tab pos="4699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Common</a:t>
            </a:r>
            <a:r>
              <a:rPr sz="3200" b="1" spc="-3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Mistake</a:t>
            </a:r>
            <a:endParaRPr sz="3200">
              <a:latin typeface="Arial"/>
              <a:cs typeface="Arial"/>
            </a:endParaRPr>
          </a:p>
          <a:p>
            <a:pPr marL="698500" marR="5080" lvl="1" indent="-228600" algn="just">
              <a:lnSpc>
                <a:spcPts val="3460"/>
              </a:lnSpc>
              <a:spcBef>
                <a:spcPts val="1455"/>
              </a:spcBef>
              <a:buSzPct val="45312"/>
              <a:buFont typeface="Wingdings"/>
              <a:buChar char=""/>
              <a:tabLst>
                <a:tab pos="6985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One pointer  pointing to</a:t>
            </a:r>
            <a:r>
              <a:rPr sz="3200" b="1" spc="-114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another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7909" y="4267073"/>
            <a:ext cx="1165225" cy="558165"/>
            <a:chOff x="287909" y="4267073"/>
            <a:chExt cx="1165225" cy="558165"/>
          </a:xfrm>
        </p:grpSpPr>
        <p:sp>
          <p:nvSpPr>
            <p:cNvPr id="6" name="object 6"/>
            <p:cNvSpPr/>
            <p:nvPr/>
          </p:nvSpPr>
          <p:spPr>
            <a:xfrm>
              <a:off x="288798" y="4267962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60">
                  <a:moveTo>
                    <a:pt x="612648" y="0"/>
                  </a:moveTo>
                  <a:lnTo>
                    <a:pt x="0" y="0"/>
                  </a:lnTo>
                  <a:lnTo>
                    <a:pt x="0" y="556259"/>
                  </a:lnTo>
                  <a:lnTo>
                    <a:pt x="612648" y="556259"/>
                  </a:lnTo>
                  <a:lnTo>
                    <a:pt x="61264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798" y="4267962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60">
                  <a:moveTo>
                    <a:pt x="0" y="556259"/>
                  </a:moveTo>
                  <a:lnTo>
                    <a:pt x="612648" y="556259"/>
                  </a:lnTo>
                  <a:lnTo>
                    <a:pt x="612648" y="0"/>
                  </a:lnTo>
                  <a:lnTo>
                    <a:pt x="0" y="0"/>
                  </a:lnTo>
                  <a:lnTo>
                    <a:pt x="0" y="556259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161" y="4493641"/>
              <a:ext cx="919480" cy="103505"/>
            </a:xfrm>
            <a:custGeom>
              <a:avLst/>
              <a:gdLst/>
              <a:ahLst/>
              <a:cxnLst/>
              <a:rect l="l" t="t" r="r" b="b"/>
              <a:pathLst>
                <a:path w="919480" h="103504">
                  <a:moveTo>
                    <a:pt x="893862" y="51689"/>
                  </a:moveTo>
                  <a:lnTo>
                    <a:pt x="823976" y="92456"/>
                  </a:lnTo>
                  <a:lnTo>
                    <a:pt x="822960" y="96266"/>
                  </a:lnTo>
                  <a:lnTo>
                    <a:pt x="826516" y="102362"/>
                  </a:lnTo>
                  <a:lnTo>
                    <a:pt x="830326" y="103378"/>
                  </a:lnTo>
                  <a:lnTo>
                    <a:pt x="908081" y="58038"/>
                  </a:lnTo>
                  <a:lnTo>
                    <a:pt x="906399" y="58038"/>
                  </a:lnTo>
                  <a:lnTo>
                    <a:pt x="906399" y="57150"/>
                  </a:lnTo>
                  <a:lnTo>
                    <a:pt x="903224" y="57150"/>
                  </a:lnTo>
                  <a:lnTo>
                    <a:pt x="893862" y="51689"/>
                  </a:lnTo>
                  <a:close/>
                </a:path>
                <a:path w="919480" h="103504">
                  <a:moveTo>
                    <a:pt x="882976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882976" y="58038"/>
                  </a:lnTo>
                  <a:lnTo>
                    <a:pt x="893862" y="51689"/>
                  </a:lnTo>
                  <a:lnTo>
                    <a:pt x="882976" y="45338"/>
                  </a:lnTo>
                  <a:close/>
                </a:path>
                <a:path w="919480" h="103504">
                  <a:moveTo>
                    <a:pt x="908081" y="45338"/>
                  </a:moveTo>
                  <a:lnTo>
                    <a:pt x="906399" y="45338"/>
                  </a:lnTo>
                  <a:lnTo>
                    <a:pt x="906399" y="58038"/>
                  </a:lnTo>
                  <a:lnTo>
                    <a:pt x="908081" y="58038"/>
                  </a:lnTo>
                  <a:lnTo>
                    <a:pt x="918971" y="51689"/>
                  </a:lnTo>
                  <a:lnTo>
                    <a:pt x="908081" y="45338"/>
                  </a:lnTo>
                  <a:close/>
                </a:path>
                <a:path w="919480" h="103504">
                  <a:moveTo>
                    <a:pt x="903224" y="46228"/>
                  </a:moveTo>
                  <a:lnTo>
                    <a:pt x="893862" y="51689"/>
                  </a:lnTo>
                  <a:lnTo>
                    <a:pt x="903224" y="57150"/>
                  </a:lnTo>
                  <a:lnTo>
                    <a:pt x="903224" y="46228"/>
                  </a:lnTo>
                  <a:close/>
                </a:path>
                <a:path w="919480" h="103504">
                  <a:moveTo>
                    <a:pt x="906399" y="46228"/>
                  </a:moveTo>
                  <a:lnTo>
                    <a:pt x="903224" y="46228"/>
                  </a:lnTo>
                  <a:lnTo>
                    <a:pt x="903224" y="57150"/>
                  </a:lnTo>
                  <a:lnTo>
                    <a:pt x="906399" y="57150"/>
                  </a:lnTo>
                  <a:lnTo>
                    <a:pt x="906399" y="46228"/>
                  </a:lnTo>
                  <a:close/>
                </a:path>
                <a:path w="919480" h="103504">
                  <a:moveTo>
                    <a:pt x="830326" y="0"/>
                  </a:moveTo>
                  <a:lnTo>
                    <a:pt x="826516" y="1016"/>
                  </a:lnTo>
                  <a:lnTo>
                    <a:pt x="822960" y="7112"/>
                  </a:lnTo>
                  <a:lnTo>
                    <a:pt x="823976" y="10922"/>
                  </a:lnTo>
                  <a:lnTo>
                    <a:pt x="893862" y="51689"/>
                  </a:lnTo>
                  <a:lnTo>
                    <a:pt x="903224" y="46228"/>
                  </a:lnTo>
                  <a:lnTo>
                    <a:pt x="906399" y="46228"/>
                  </a:lnTo>
                  <a:lnTo>
                    <a:pt x="906399" y="45338"/>
                  </a:lnTo>
                  <a:lnTo>
                    <a:pt x="908081" y="45338"/>
                  </a:lnTo>
                  <a:lnTo>
                    <a:pt x="830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53133" y="4267961"/>
            <a:ext cx="612775" cy="556260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642" y="4893310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9914" y="4893310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58477" y="4318825"/>
            <a:ext cx="614680" cy="558165"/>
            <a:chOff x="3058477" y="4318825"/>
            <a:chExt cx="614680" cy="558165"/>
          </a:xfrm>
        </p:grpSpPr>
        <p:sp>
          <p:nvSpPr>
            <p:cNvPr id="13" name="object 13"/>
            <p:cNvSpPr/>
            <p:nvPr/>
          </p:nvSpPr>
          <p:spPr>
            <a:xfrm>
              <a:off x="3059429" y="4319778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60">
                  <a:moveTo>
                    <a:pt x="612647" y="0"/>
                  </a:moveTo>
                  <a:lnTo>
                    <a:pt x="0" y="0"/>
                  </a:lnTo>
                  <a:lnTo>
                    <a:pt x="0" y="556260"/>
                  </a:lnTo>
                  <a:lnTo>
                    <a:pt x="612647" y="556260"/>
                  </a:lnTo>
                  <a:lnTo>
                    <a:pt x="612647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59429" y="4319778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60">
                  <a:moveTo>
                    <a:pt x="0" y="556260"/>
                  </a:moveTo>
                  <a:lnTo>
                    <a:pt x="612647" y="556260"/>
                  </a:lnTo>
                  <a:lnTo>
                    <a:pt x="612647" y="0"/>
                  </a:lnTo>
                  <a:lnTo>
                    <a:pt x="0" y="0"/>
                  </a:lnTo>
                  <a:lnTo>
                    <a:pt x="0" y="556260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89503" y="4788484"/>
            <a:ext cx="2520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q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65782" y="4489323"/>
            <a:ext cx="1318895" cy="125095"/>
          </a:xfrm>
          <a:custGeom>
            <a:avLst/>
            <a:gdLst/>
            <a:ahLst/>
            <a:cxnLst/>
            <a:rect l="l" t="t" r="r" b="b"/>
            <a:pathLst>
              <a:path w="1318895" h="125095">
                <a:moveTo>
                  <a:pt x="36517" y="42429"/>
                </a:moveTo>
                <a:lnTo>
                  <a:pt x="25102" y="48284"/>
                </a:lnTo>
                <a:lnTo>
                  <a:pt x="35471" y="55113"/>
                </a:lnTo>
                <a:lnTo>
                  <a:pt x="1317879" y="124841"/>
                </a:lnTo>
                <a:lnTo>
                  <a:pt x="1318641" y="112141"/>
                </a:lnTo>
                <a:lnTo>
                  <a:pt x="36517" y="42429"/>
                </a:lnTo>
                <a:close/>
              </a:path>
              <a:path w="1318895" h="125095">
                <a:moveTo>
                  <a:pt x="91312" y="0"/>
                </a:moveTo>
                <a:lnTo>
                  <a:pt x="0" y="46863"/>
                </a:lnTo>
                <a:lnTo>
                  <a:pt x="82676" y="101346"/>
                </a:lnTo>
                <a:lnTo>
                  <a:pt x="85725" y="103251"/>
                </a:lnTo>
                <a:lnTo>
                  <a:pt x="89662" y="102489"/>
                </a:lnTo>
                <a:lnTo>
                  <a:pt x="93472" y="96647"/>
                </a:lnTo>
                <a:lnTo>
                  <a:pt x="92710" y="92710"/>
                </a:lnTo>
                <a:lnTo>
                  <a:pt x="89662" y="90805"/>
                </a:lnTo>
                <a:lnTo>
                  <a:pt x="35471" y="55113"/>
                </a:lnTo>
                <a:lnTo>
                  <a:pt x="12192" y="53848"/>
                </a:lnTo>
                <a:lnTo>
                  <a:pt x="12954" y="41148"/>
                </a:lnTo>
                <a:lnTo>
                  <a:pt x="39015" y="41148"/>
                </a:lnTo>
                <a:lnTo>
                  <a:pt x="93980" y="12954"/>
                </a:lnTo>
                <a:lnTo>
                  <a:pt x="97028" y="11303"/>
                </a:lnTo>
                <a:lnTo>
                  <a:pt x="98298" y="7493"/>
                </a:lnTo>
                <a:lnTo>
                  <a:pt x="96647" y="4445"/>
                </a:lnTo>
                <a:lnTo>
                  <a:pt x="95123" y="1270"/>
                </a:lnTo>
                <a:lnTo>
                  <a:pt x="91312" y="0"/>
                </a:lnTo>
                <a:close/>
              </a:path>
              <a:path w="1318895" h="125095">
                <a:moveTo>
                  <a:pt x="12954" y="41148"/>
                </a:moveTo>
                <a:lnTo>
                  <a:pt x="12192" y="53848"/>
                </a:lnTo>
                <a:lnTo>
                  <a:pt x="35471" y="55113"/>
                </a:lnTo>
                <a:lnTo>
                  <a:pt x="32585" y="53213"/>
                </a:lnTo>
                <a:lnTo>
                  <a:pt x="15493" y="53213"/>
                </a:lnTo>
                <a:lnTo>
                  <a:pt x="16001" y="42291"/>
                </a:lnTo>
                <a:lnTo>
                  <a:pt x="33975" y="42291"/>
                </a:lnTo>
                <a:lnTo>
                  <a:pt x="12954" y="41148"/>
                </a:lnTo>
                <a:close/>
              </a:path>
              <a:path w="1318895" h="125095">
                <a:moveTo>
                  <a:pt x="16001" y="42291"/>
                </a:moveTo>
                <a:lnTo>
                  <a:pt x="15493" y="53213"/>
                </a:lnTo>
                <a:lnTo>
                  <a:pt x="25102" y="48284"/>
                </a:lnTo>
                <a:lnTo>
                  <a:pt x="16001" y="42291"/>
                </a:lnTo>
                <a:close/>
              </a:path>
              <a:path w="1318895" h="125095">
                <a:moveTo>
                  <a:pt x="25102" y="48284"/>
                </a:moveTo>
                <a:lnTo>
                  <a:pt x="15493" y="53213"/>
                </a:lnTo>
                <a:lnTo>
                  <a:pt x="32585" y="53213"/>
                </a:lnTo>
                <a:lnTo>
                  <a:pt x="25102" y="48284"/>
                </a:lnTo>
                <a:close/>
              </a:path>
              <a:path w="1318895" h="125095">
                <a:moveTo>
                  <a:pt x="33975" y="42291"/>
                </a:moveTo>
                <a:lnTo>
                  <a:pt x="16001" y="42291"/>
                </a:lnTo>
                <a:lnTo>
                  <a:pt x="25102" y="48284"/>
                </a:lnTo>
                <a:lnTo>
                  <a:pt x="36517" y="42429"/>
                </a:lnTo>
                <a:lnTo>
                  <a:pt x="33975" y="42291"/>
                </a:lnTo>
                <a:close/>
              </a:path>
              <a:path w="1318895" h="125095">
                <a:moveTo>
                  <a:pt x="39015" y="41148"/>
                </a:moveTo>
                <a:lnTo>
                  <a:pt x="12954" y="41148"/>
                </a:lnTo>
                <a:lnTo>
                  <a:pt x="36517" y="42429"/>
                </a:lnTo>
                <a:lnTo>
                  <a:pt x="3901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02729" y="6120193"/>
            <a:ext cx="1780539" cy="556895"/>
            <a:chOff x="502729" y="6120193"/>
            <a:chExt cx="1780539" cy="556895"/>
          </a:xfrm>
        </p:grpSpPr>
        <p:sp>
          <p:nvSpPr>
            <p:cNvPr id="18" name="object 18"/>
            <p:cNvSpPr/>
            <p:nvPr/>
          </p:nvSpPr>
          <p:spPr>
            <a:xfrm>
              <a:off x="503681" y="6121145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612648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12648" y="554736"/>
                  </a:lnTo>
                  <a:lnTo>
                    <a:pt x="61264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3681" y="6121145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0" y="554736"/>
                  </a:moveTo>
                  <a:lnTo>
                    <a:pt x="612648" y="554736"/>
                  </a:lnTo>
                  <a:lnTo>
                    <a:pt x="612648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69541" y="6121145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612648" y="0"/>
                  </a:moveTo>
                  <a:lnTo>
                    <a:pt x="0" y="0"/>
                  </a:lnTo>
                  <a:lnTo>
                    <a:pt x="0" y="554736"/>
                  </a:lnTo>
                  <a:lnTo>
                    <a:pt x="612648" y="554736"/>
                  </a:lnTo>
                  <a:lnTo>
                    <a:pt x="61264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69541" y="6121145"/>
              <a:ext cx="612775" cy="554990"/>
            </a:xfrm>
            <a:custGeom>
              <a:avLst/>
              <a:gdLst/>
              <a:ahLst/>
              <a:cxnLst/>
              <a:rect l="l" t="t" r="r" b="b"/>
              <a:pathLst>
                <a:path w="612775" h="554990">
                  <a:moveTo>
                    <a:pt x="0" y="554736"/>
                  </a:moveTo>
                  <a:lnTo>
                    <a:pt x="612648" y="554736"/>
                  </a:lnTo>
                  <a:lnTo>
                    <a:pt x="612648" y="0"/>
                  </a:lnTo>
                  <a:lnTo>
                    <a:pt x="0" y="0"/>
                  </a:lnTo>
                  <a:lnTo>
                    <a:pt x="0" y="554736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670430" y="6240881"/>
            <a:ext cx="610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10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0745" y="6746240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76017" y="6746240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0569" y="6173533"/>
            <a:ext cx="3139440" cy="558165"/>
            <a:chOff x="750569" y="6173533"/>
            <a:chExt cx="3139440" cy="558165"/>
          </a:xfrm>
        </p:grpSpPr>
        <p:sp>
          <p:nvSpPr>
            <p:cNvPr id="26" name="object 26"/>
            <p:cNvSpPr/>
            <p:nvPr/>
          </p:nvSpPr>
          <p:spPr>
            <a:xfrm>
              <a:off x="750569" y="6346812"/>
              <a:ext cx="919480" cy="103505"/>
            </a:xfrm>
            <a:custGeom>
              <a:avLst/>
              <a:gdLst/>
              <a:ahLst/>
              <a:cxnLst/>
              <a:rect l="l" t="t" r="r" b="b"/>
              <a:pathLst>
                <a:path w="919480" h="103504">
                  <a:moveTo>
                    <a:pt x="893816" y="51701"/>
                  </a:moveTo>
                  <a:lnTo>
                    <a:pt x="823976" y="92430"/>
                  </a:lnTo>
                  <a:lnTo>
                    <a:pt x="822960" y="96316"/>
                  </a:lnTo>
                  <a:lnTo>
                    <a:pt x="826516" y="102374"/>
                  </a:lnTo>
                  <a:lnTo>
                    <a:pt x="830326" y="103403"/>
                  </a:lnTo>
                  <a:lnTo>
                    <a:pt x="908084" y="58051"/>
                  </a:lnTo>
                  <a:lnTo>
                    <a:pt x="906399" y="58051"/>
                  </a:lnTo>
                  <a:lnTo>
                    <a:pt x="906399" y="57188"/>
                  </a:lnTo>
                  <a:lnTo>
                    <a:pt x="903224" y="57188"/>
                  </a:lnTo>
                  <a:lnTo>
                    <a:pt x="893816" y="51701"/>
                  </a:lnTo>
                  <a:close/>
                </a:path>
                <a:path w="919480" h="103504">
                  <a:moveTo>
                    <a:pt x="882927" y="45351"/>
                  </a:moveTo>
                  <a:lnTo>
                    <a:pt x="0" y="45351"/>
                  </a:lnTo>
                  <a:lnTo>
                    <a:pt x="0" y="58051"/>
                  </a:lnTo>
                  <a:lnTo>
                    <a:pt x="882927" y="58051"/>
                  </a:lnTo>
                  <a:lnTo>
                    <a:pt x="893816" y="51701"/>
                  </a:lnTo>
                  <a:lnTo>
                    <a:pt x="882927" y="45351"/>
                  </a:lnTo>
                  <a:close/>
                </a:path>
                <a:path w="919480" h="103504">
                  <a:moveTo>
                    <a:pt x="908087" y="45351"/>
                  </a:moveTo>
                  <a:lnTo>
                    <a:pt x="906399" y="45351"/>
                  </a:lnTo>
                  <a:lnTo>
                    <a:pt x="906399" y="58051"/>
                  </a:lnTo>
                  <a:lnTo>
                    <a:pt x="908084" y="58051"/>
                  </a:lnTo>
                  <a:lnTo>
                    <a:pt x="918972" y="51701"/>
                  </a:lnTo>
                  <a:lnTo>
                    <a:pt x="908087" y="45351"/>
                  </a:lnTo>
                  <a:close/>
                </a:path>
                <a:path w="919480" h="103504">
                  <a:moveTo>
                    <a:pt x="903224" y="46215"/>
                  </a:moveTo>
                  <a:lnTo>
                    <a:pt x="893816" y="51701"/>
                  </a:lnTo>
                  <a:lnTo>
                    <a:pt x="903224" y="57188"/>
                  </a:lnTo>
                  <a:lnTo>
                    <a:pt x="903224" y="46215"/>
                  </a:lnTo>
                  <a:close/>
                </a:path>
                <a:path w="919480" h="103504">
                  <a:moveTo>
                    <a:pt x="906399" y="46215"/>
                  </a:moveTo>
                  <a:lnTo>
                    <a:pt x="903224" y="46215"/>
                  </a:lnTo>
                  <a:lnTo>
                    <a:pt x="903224" y="57188"/>
                  </a:lnTo>
                  <a:lnTo>
                    <a:pt x="906399" y="57188"/>
                  </a:lnTo>
                  <a:lnTo>
                    <a:pt x="906399" y="46215"/>
                  </a:lnTo>
                  <a:close/>
                </a:path>
                <a:path w="919480" h="103504">
                  <a:moveTo>
                    <a:pt x="830326" y="0"/>
                  </a:moveTo>
                  <a:lnTo>
                    <a:pt x="826516" y="1016"/>
                  </a:lnTo>
                  <a:lnTo>
                    <a:pt x="822960" y="7073"/>
                  </a:lnTo>
                  <a:lnTo>
                    <a:pt x="823976" y="10972"/>
                  </a:lnTo>
                  <a:lnTo>
                    <a:pt x="893816" y="51701"/>
                  </a:lnTo>
                  <a:lnTo>
                    <a:pt x="903224" y="46215"/>
                  </a:lnTo>
                  <a:lnTo>
                    <a:pt x="906399" y="46215"/>
                  </a:lnTo>
                  <a:lnTo>
                    <a:pt x="906399" y="45351"/>
                  </a:lnTo>
                  <a:lnTo>
                    <a:pt x="908087" y="45351"/>
                  </a:lnTo>
                  <a:lnTo>
                    <a:pt x="8303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75837" y="6174486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59">
                  <a:moveTo>
                    <a:pt x="612648" y="0"/>
                  </a:moveTo>
                  <a:lnTo>
                    <a:pt x="0" y="0"/>
                  </a:lnTo>
                  <a:lnTo>
                    <a:pt x="0" y="556259"/>
                  </a:lnTo>
                  <a:lnTo>
                    <a:pt x="612648" y="556259"/>
                  </a:lnTo>
                  <a:lnTo>
                    <a:pt x="61264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5837" y="6174486"/>
              <a:ext cx="612775" cy="556260"/>
            </a:xfrm>
            <a:custGeom>
              <a:avLst/>
              <a:gdLst/>
              <a:ahLst/>
              <a:cxnLst/>
              <a:rect l="l" t="t" r="r" b="b"/>
              <a:pathLst>
                <a:path w="612775" h="556259">
                  <a:moveTo>
                    <a:pt x="0" y="556259"/>
                  </a:moveTo>
                  <a:lnTo>
                    <a:pt x="612648" y="556259"/>
                  </a:lnTo>
                  <a:lnTo>
                    <a:pt x="612648" y="0"/>
                  </a:lnTo>
                  <a:lnTo>
                    <a:pt x="0" y="0"/>
                  </a:lnTo>
                  <a:lnTo>
                    <a:pt x="0" y="556259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05276" y="6643522"/>
            <a:ext cx="2520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q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8304" y="5883275"/>
            <a:ext cx="2830195" cy="292100"/>
          </a:xfrm>
          <a:custGeom>
            <a:avLst/>
            <a:gdLst/>
            <a:ahLst/>
            <a:cxnLst/>
            <a:rect l="l" t="t" r="r" b="b"/>
            <a:pathLst>
              <a:path w="2830195" h="292100">
                <a:moveTo>
                  <a:pt x="2817126" y="6350"/>
                </a:moveTo>
                <a:lnTo>
                  <a:pt x="2817126" y="291845"/>
                </a:lnTo>
                <a:lnTo>
                  <a:pt x="2829826" y="291845"/>
                </a:lnTo>
                <a:lnTo>
                  <a:pt x="2829826" y="12700"/>
                </a:lnTo>
                <a:lnTo>
                  <a:pt x="2823476" y="12700"/>
                </a:lnTo>
                <a:lnTo>
                  <a:pt x="2817126" y="6350"/>
                </a:lnTo>
                <a:close/>
              </a:path>
              <a:path w="2830195" h="292100">
                <a:moveTo>
                  <a:pt x="7086" y="141858"/>
                </a:moveTo>
                <a:lnTo>
                  <a:pt x="1028" y="145414"/>
                </a:lnTo>
                <a:lnTo>
                  <a:pt x="0" y="149224"/>
                </a:lnTo>
                <a:lnTo>
                  <a:pt x="51701" y="237870"/>
                </a:lnTo>
                <a:lnTo>
                  <a:pt x="59034" y="225297"/>
                </a:lnTo>
                <a:lnTo>
                  <a:pt x="45351" y="225297"/>
                </a:lnTo>
                <a:lnTo>
                  <a:pt x="45351" y="201826"/>
                </a:lnTo>
                <a:lnTo>
                  <a:pt x="10972" y="142874"/>
                </a:lnTo>
                <a:lnTo>
                  <a:pt x="7086" y="141858"/>
                </a:lnTo>
                <a:close/>
              </a:path>
              <a:path w="2830195" h="292100">
                <a:moveTo>
                  <a:pt x="45351" y="201826"/>
                </a:moveTo>
                <a:lnTo>
                  <a:pt x="45351" y="225297"/>
                </a:lnTo>
                <a:lnTo>
                  <a:pt x="58051" y="225297"/>
                </a:lnTo>
                <a:lnTo>
                  <a:pt x="58051" y="222122"/>
                </a:lnTo>
                <a:lnTo>
                  <a:pt x="46215" y="222122"/>
                </a:lnTo>
                <a:lnTo>
                  <a:pt x="51701" y="212715"/>
                </a:lnTo>
                <a:lnTo>
                  <a:pt x="45351" y="201826"/>
                </a:lnTo>
                <a:close/>
              </a:path>
              <a:path w="2830195" h="292100">
                <a:moveTo>
                  <a:pt x="96316" y="141858"/>
                </a:moveTo>
                <a:lnTo>
                  <a:pt x="92430" y="142874"/>
                </a:lnTo>
                <a:lnTo>
                  <a:pt x="58051" y="201826"/>
                </a:lnTo>
                <a:lnTo>
                  <a:pt x="58051" y="225297"/>
                </a:lnTo>
                <a:lnTo>
                  <a:pt x="59034" y="225297"/>
                </a:lnTo>
                <a:lnTo>
                  <a:pt x="103403" y="149224"/>
                </a:lnTo>
                <a:lnTo>
                  <a:pt x="102374" y="145414"/>
                </a:lnTo>
                <a:lnTo>
                  <a:pt x="96316" y="141858"/>
                </a:lnTo>
                <a:close/>
              </a:path>
              <a:path w="2830195" h="292100">
                <a:moveTo>
                  <a:pt x="51701" y="212715"/>
                </a:moveTo>
                <a:lnTo>
                  <a:pt x="46215" y="222122"/>
                </a:lnTo>
                <a:lnTo>
                  <a:pt x="57188" y="222122"/>
                </a:lnTo>
                <a:lnTo>
                  <a:pt x="51701" y="212715"/>
                </a:lnTo>
                <a:close/>
              </a:path>
              <a:path w="2830195" h="292100">
                <a:moveTo>
                  <a:pt x="58051" y="201826"/>
                </a:moveTo>
                <a:lnTo>
                  <a:pt x="51701" y="212715"/>
                </a:lnTo>
                <a:lnTo>
                  <a:pt x="57188" y="222122"/>
                </a:lnTo>
                <a:lnTo>
                  <a:pt x="58051" y="222122"/>
                </a:lnTo>
                <a:lnTo>
                  <a:pt x="58051" y="201826"/>
                </a:lnTo>
                <a:close/>
              </a:path>
              <a:path w="2830195" h="292100">
                <a:moveTo>
                  <a:pt x="2829826" y="0"/>
                </a:moveTo>
                <a:lnTo>
                  <a:pt x="45351" y="0"/>
                </a:lnTo>
                <a:lnTo>
                  <a:pt x="45351" y="201826"/>
                </a:lnTo>
                <a:lnTo>
                  <a:pt x="51701" y="212715"/>
                </a:lnTo>
                <a:lnTo>
                  <a:pt x="58051" y="201826"/>
                </a:lnTo>
                <a:lnTo>
                  <a:pt x="58051" y="12700"/>
                </a:lnTo>
                <a:lnTo>
                  <a:pt x="51701" y="12700"/>
                </a:lnTo>
                <a:lnTo>
                  <a:pt x="58051" y="6350"/>
                </a:lnTo>
                <a:lnTo>
                  <a:pt x="2829826" y="6350"/>
                </a:lnTo>
                <a:lnTo>
                  <a:pt x="2829826" y="0"/>
                </a:lnTo>
                <a:close/>
              </a:path>
              <a:path w="2830195" h="292100">
                <a:moveTo>
                  <a:pt x="58051" y="6350"/>
                </a:moveTo>
                <a:lnTo>
                  <a:pt x="51701" y="12700"/>
                </a:lnTo>
                <a:lnTo>
                  <a:pt x="58051" y="12700"/>
                </a:lnTo>
                <a:lnTo>
                  <a:pt x="58051" y="6350"/>
                </a:lnTo>
                <a:close/>
              </a:path>
              <a:path w="2830195" h="292100">
                <a:moveTo>
                  <a:pt x="2817126" y="6350"/>
                </a:moveTo>
                <a:lnTo>
                  <a:pt x="58051" y="6350"/>
                </a:lnTo>
                <a:lnTo>
                  <a:pt x="58051" y="12700"/>
                </a:lnTo>
                <a:lnTo>
                  <a:pt x="2817126" y="12700"/>
                </a:lnTo>
                <a:lnTo>
                  <a:pt x="2817126" y="6350"/>
                </a:lnTo>
                <a:close/>
              </a:path>
              <a:path w="2830195" h="292100">
                <a:moveTo>
                  <a:pt x="2829826" y="6350"/>
                </a:moveTo>
                <a:lnTo>
                  <a:pt x="2817126" y="6350"/>
                </a:lnTo>
                <a:lnTo>
                  <a:pt x="2823476" y="12700"/>
                </a:lnTo>
                <a:lnTo>
                  <a:pt x="2829826" y="12700"/>
                </a:lnTo>
                <a:lnTo>
                  <a:pt x="2829826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392040" y="6335141"/>
            <a:ext cx="762635" cy="508000"/>
            <a:chOff x="4392040" y="6335141"/>
            <a:chExt cx="762635" cy="508000"/>
          </a:xfrm>
        </p:grpSpPr>
        <p:sp>
          <p:nvSpPr>
            <p:cNvPr id="32" name="object 32"/>
            <p:cNvSpPr/>
            <p:nvPr/>
          </p:nvSpPr>
          <p:spPr>
            <a:xfrm>
              <a:off x="4392929" y="6336030"/>
              <a:ext cx="760730" cy="506095"/>
            </a:xfrm>
            <a:custGeom>
              <a:avLst/>
              <a:gdLst/>
              <a:ahLst/>
              <a:cxnLst/>
              <a:rect l="l" t="t" r="r" b="b"/>
              <a:pathLst>
                <a:path w="760729" h="506095">
                  <a:moveTo>
                    <a:pt x="190119" y="0"/>
                  </a:moveTo>
                  <a:lnTo>
                    <a:pt x="0" y="252984"/>
                  </a:lnTo>
                  <a:lnTo>
                    <a:pt x="190119" y="505968"/>
                  </a:lnTo>
                  <a:lnTo>
                    <a:pt x="190119" y="379476"/>
                  </a:lnTo>
                  <a:lnTo>
                    <a:pt x="760476" y="379476"/>
                  </a:lnTo>
                  <a:lnTo>
                    <a:pt x="760476" y="126492"/>
                  </a:lnTo>
                  <a:lnTo>
                    <a:pt x="190119" y="126492"/>
                  </a:lnTo>
                  <a:lnTo>
                    <a:pt x="1901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92929" y="6336030"/>
              <a:ext cx="760730" cy="506095"/>
            </a:xfrm>
            <a:custGeom>
              <a:avLst/>
              <a:gdLst/>
              <a:ahLst/>
              <a:cxnLst/>
              <a:rect l="l" t="t" r="r" b="b"/>
              <a:pathLst>
                <a:path w="760729" h="506095">
                  <a:moveTo>
                    <a:pt x="760476" y="126492"/>
                  </a:moveTo>
                  <a:lnTo>
                    <a:pt x="190119" y="126492"/>
                  </a:lnTo>
                  <a:lnTo>
                    <a:pt x="190119" y="0"/>
                  </a:lnTo>
                  <a:lnTo>
                    <a:pt x="0" y="252984"/>
                  </a:lnTo>
                  <a:lnTo>
                    <a:pt x="190119" y="505968"/>
                  </a:lnTo>
                  <a:lnTo>
                    <a:pt x="190119" y="379476"/>
                  </a:lnTo>
                  <a:lnTo>
                    <a:pt x="760476" y="379476"/>
                  </a:lnTo>
                  <a:lnTo>
                    <a:pt x="760476" y="126492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463669" y="4463669"/>
            <a:ext cx="762635" cy="504825"/>
            <a:chOff x="4463669" y="4463669"/>
            <a:chExt cx="762635" cy="504825"/>
          </a:xfrm>
        </p:grpSpPr>
        <p:sp>
          <p:nvSpPr>
            <p:cNvPr id="35" name="object 35"/>
            <p:cNvSpPr/>
            <p:nvPr/>
          </p:nvSpPr>
          <p:spPr>
            <a:xfrm>
              <a:off x="4464558" y="4464558"/>
              <a:ext cx="760730" cy="502920"/>
            </a:xfrm>
            <a:custGeom>
              <a:avLst/>
              <a:gdLst/>
              <a:ahLst/>
              <a:cxnLst/>
              <a:rect l="l" t="t" r="r" b="b"/>
              <a:pathLst>
                <a:path w="760729" h="502920">
                  <a:moveTo>
                    <a:pt x="190118" y="0"/>
                  </a:moveTo>
                  <a:lnTo>
                    <a:pt x="0" y="251459"/>
                  </a:lnTo>
                  <a:lnTo>
                    <a:pt x="190118" y="502919"/>
                  </a:lnTo>
                  <a:lnTo>
                    <a:pt x="190118" y="377189"/>
                  </a:lnTo>
                  <a:lnTo>
                    <a:pt x="760476" y="377189"/>
                  </a:lnTo>
                  <a:lnTo>
                    <a:pt x="760476" y="125729"/>
                  </a:lnTo>
                  <a:lnTo>
                    <a:pt x="190118" y="125729"/>
                  </a:lnTo>
                  <a:lnTo>
                    <a:pt x="1901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64558" y="4464558"/>
              <a:ext cx="760730" cy="502920"/>
            </a:xfrm>
            <a:custGeom>
              <a:avLst/>
              <a:gdLst/>
              <a:ahLst/>
              <a:cxnLst/>
              <a:rect l="l" t="t" r="r" b="b"/>
              <a:pathLst>
                <a:path w="760729" h="502920">
                  <a:moveTo>
                    <a:pt x="760476" y="125729"/>
                  </a:moveTo>
                  <a:lnTo>
                    <a:pt x="190118" y="125729"/>
                  </a:lnTo>
                  <a:lnTo>
                    <a:pt x="190118" y="0"/>
                  </a:lnTo>
                  <a:lnTo>
                    <a:pt x="0" y="251459"/>
                  </a:lnTo>
                  <a:lnTo>
                    <a:pt x="190118" y="502919"/>
                  </a:lnTo>
                  <a:lnTo>
                    <a:pt x="190118" y="377189"/>
                  </a:lnTo>
                  <a:lnTo>
                    <a:pt x="760476" y="377189"/>
                  </a:lnTo>
                  <a:lnTo>
                    <a:pt x="760476" y="125729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5916" y="569468"/>
            <a:ext cx="78701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Operations on pointers: </a:t>
            </a:r>
            <a:r>
              <a:rPr spc="-5" dirty="0">
                <a:solidFill>
                  <a:srgbClr val="000099"/>
                </a:solidFill>
              </a:rPr>
              <a:t>+-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7921" y="1300353"/>
            <a:ext cx="56788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C allows adding or subtracting  an int from a</a:t>
            </a:r>
            <a:r>
              <a:rPr sz="2800" b="1" spc="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pointer!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121" y="2155127"/>
            <a:ext cx="3442335" cy="114681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50"/>
              </a:spcBef>
              <a:buSzPct val="44642"/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Weird, but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true!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060"/>
              </a:spcBef>
              <a:buSzPct val="44642"/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e.g. int </a:t>
            </a:r>
            <a:r>
              <a:rPr sz="2800" b="1" dirty="0">
                <a:solidFill>
                  <a:srgbClr val="0000CC"/>
                </a:solidFill>
                <a:latin typeface="Arial"/>
                <a:cs typeface="Arial"/>
              </a:rPr>
              <a:t>*p,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n; p +</a:t>
            </a:r>
            <a:r>
              <a:rPr sz="2800" b="1" spc="-3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n;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921" y="3455670"/>
            <a:ext cx="52444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result is a pointer of the  same</a:t>
            </a: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 type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7921" y="4487113"/>
            <a:ext cx="55746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900" algn="l"/>
              </a:tabLst>
            </a:pP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The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resultant pointer points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n  type locations ahead( for +) or  before ( for</a:t>
            </a:r>
            <a:r>
              <a:rPr sz="2800" b="1" i="1" spc="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-)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7921" y="5944311"/>
            <a:ext cx="48780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A type </a:t>
            </a:r>
            <a:r>
              <a:rPr sz="2800" b="1" i="1" dirty="0">
                <a:solidFill>
                  <a:srgbClr val="0000CC"/>
                </a:solidFill>
                <a:latin typeface="Arial"/>
                <a:cs typeface="Arial"/>
              </a:rPr>
              <a:t>location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is equal</a:t>
            </a:r>
            <a:r>
              <a:rPr sz="2800" b="1" i="1" spc="-1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to  sizeof(type).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7573" y="5529834"/>
            <a:ext cx="865505" cy="1296670"/>
            <a:chOff x="647573" y="5529834"/>
            <a:chExt cx="865505" cy="1296670"/>
          </a:xfrm>
        </p:grpSpPr>
        <p:sp>
          <p:nvSpPr>
            <p:cNvPr id="9" name="object 9"/>
            <p:cNvSpPr/>
            <p:nvPr/>
          </p:nvSpPr>
          <p:spPr>
            <a:xfrm>
              <a:off x="648462" y="6104382"/>
              <a:ext cx="721360" cy="721360"/>
            </a:xfrm>
            <a:custGeom>
              <a:avLst/>
              <a:gdLst/>
              <a:ahLst/>
              <a:cxnLst/>
              <a:rect l="l" t="t" r="r" b="b"/>
              <a:pathLst>
                <a:path w="721360" h="721359">
                  <a:moveTo>
                    <a:pt x="720851" y="0"/>
                  </a:moveTo>
                  <a:lnTo>
                    <a:pt x="0" y="0"/>
                  </a:lnTo>
                  <a:lnTo>
                    <a:pt x="0" y="720851"/>
                  </a:lnTo>
                  <a:lnTo>
                    <a:pt x="720851" y="720851"/>
                  </a:lnTo>
                  <a:lnTo>
                    <a:pt x="720851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8462" y="6104382"/>
              <a:ext cx="721360" cy="721360"/>
            </a:xfrm>
            <a:custGeom>
              <a:avLst/>
              <a:gdLst/>
              <a:ahLst/>
              <a:cxnLst/>
              <a:rect l="l" t="t" r="r" b="b"/>
              <a:pathLst>
                <a:path w="721360" h="721359">
                  <a:moveTo>
                    <a:pt x="0" y="720851"/>
                  </a:moveTo>
                  <a:lnTo>
                    <a:pt x="720851" y="720851"/>
                  </a:lnTo>
                  <a:lnTo>
                    <a:pt x="720851" y="0"/>
                  </a:lnTo>
                  <a:lnTo>
                    <a:pt x="0" y="0"/>
                  </a:lnTo>
                  <a:lnTo>
                    <a:pt x="0" y="720851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2611" y="5529834"/>
              <a:ext cx="580390" cy="939165"/>
            </a:xfrm>
            <a:custGeom>
              <a:avLst/>
              <a:gdLst/>
              <a:ahLst/>
              <a:cxnLst/>
              <a:rect l="l" t="t" r="r" b="b"/>
              <a:pathLst>
                <a:path w="580390" h="939164">
                  <a:moveTo>
                    <a:pt x="566769" y="21434"/>
                  </a:moveTo>
                  <a:lnTo>
                    <a:pt x="555741" y="27363"/>
                  </a:lnTo>
                  <a:lnTo>
                    <a:pt x="0" y="932408"/>
                  </a:lnTo>
                  <a:lnTo>
                    <a:pt x="10820" y="939050"/>
                  </a:lnTo>
                  <a:lnTo>
                    <a:pt x="566497" y="34032"/>
                  </a:lnTo>
                  <a:lnTo>
                    <a:pt x="566769" y="21434"/>
                  </a:lnTo>
                  <a:close/>
                </a:path>
                <a:path w="580390" h="939164">
                  <a:moveTo>
                    <a:pt x="579788" y="7365"/>
                  </a:moveTo>
                  <a:lnTo>
                    <a:pt x="568020" y="7365"/>
                  </a:lnTo>
                  <a:lnTo>
                    <a:pt x="578815" y="13969"/>
                  </a:lnTo>
                  <a:lnTo>
                    <a:pt x="566497" y="34032"/>
                  </a:lnTo>
                  <a:lnTo>
                    <a:pt x="565089" y="99059"/>
                  </a:lnTo>
                  <a:lnTo>
                    <a:pt x="564972" y="102234"/>
                  </a:lnTo>
                  <a:lnTo>
                    <a:pt x="567766" y="105155"/>
                  </a:lnTo>
                  <a:lnTo>
                    <a:pt x="571195" y="105282"/>
                  </a:lnTo>
                  <a:lnTo>
                    <a:pt x="574751" y="105282"/>
                  </a:lnTo>
                  <a:lnTo>
                    <a:pt x="577672" y="102615"/>
                  </a:lnTo>
                  <a:lnTo>
                    <a:pt x="577678" y="98805"/>
                  </a:lnTo>
                  <a:lnTo>
                    <a:pt x="579788" y="7365"/>
                  </a:lnTo>
                  <a:close/>
                </a:path>
                <a:path w="580390" h="939164">
                  <a:moveTo>
                    <a:pt x="579958" y="0"/>
                  </a:moveTo>
                  <a:lnTo>
                    <a:pt x="489534" y="48386"/>
                  </a:lnTo>
                  <a:lnTo>
                    <a:pt x="488391" y="52323"/>
                  </a:lnTo>
                  <a:lnTo>
                    <a:pt x="491693" y="58419"/>
                  </a:lnTo>
                  <a:lnTo>
                    <a:pt x="495503" y="59689"/>
                  </a:lnTo>
                  <a:lnTo>
                    <a:pt x="498678" y="58038"/>
                  </a:lnTo>
                  <a:lnTo>
                    <a:pt x="555741" y="27363"/>
                  </a:lnTo>
                  <a:lnTo>
                    <a:pt x="568020" y="7365"/>
                  </a:lnTo>
                  <a:lnTo>
                    <a:pt x="579788" y="7365"/>
                  </a:lnTo>
                  <a:lnTo>
                    <a:pt x="579958" y="0"/>
                  </a:lnTo>
                  <a:close/>
                </a:path>
                <a:path w="580390" h="939164">
                  <a:moveTo>
                    <a:pt x="573210" y="10540"/>
                  </a:moveTo>
                  <a:lnTo>
                    <a:pt x="567004" y="10540"/>
                  </a:lnTo>
                  <a:lnTo>
                    <a:pt x="576402" y="16255"/>
                  </a:lnTo>
                  <a:lnTo>
                    <a:pt x="566769" y="21434"/>
                  </a:lnTo>
                  <a:lnTo>
                    <a:pt x="566497" y="34032"/>
                  </a:lnTo>
                  <a:lnTo>
                    <a:pt x="578815" y="13969"/>
                  </a:lnTo>
                  <a:lnTo>
                    <a:pt x="573210" y="10540"/>
                  </a:lnTo>
                  <a:close/>
                </a:path>
                <a:path w="580390" h="939164">
                  <a:moveTo>
                    <a:pt x="568020" y="7365"/>
                  </a:moveTo>
                  <a:lnTo>
                    <a:pt x="555741" y="27363"/>
                  </a:lnTo>
                  <a:lnTo>
                    <a:pt x="566769" y="21434"/>
                  </a:lnTo>
                  <a:lnTo>
                    <a:pt x="567004" y="10540"/>
                  </a:lnTo>
                  <a:lnTo>
                    <a:pt x="573210" y="10540"/>
                  </a:lnTo>
                  <a:lnTo>
                    <a:pt x="568020" y="7365"/>
                  </a:lnTo>
                  <a:close/>
                </a:path>
                <a:path w="580390" h="939164">
                  <a:moveTo>
                    <a:pt x="567004" y="10540"/>
                  </a:moveTo>
                  <a:lnTo>
                    <a:pt x="566769" y="21434"/>
                  </a:lnTo>
                  <a:lnTo>
                    <a:pt x="576402" y="16255"/>
                  </a:lnTo>
                  <a:lnTo>
                    <a:pt x="567004" y="10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016061" y="6103429"/>
            <a:ext cx="721360" cy="723265"/>
            <a:chOff x="2016061" y="6103429"/>
            <a:chExt cx="721360" cy="723265"/>
          </a:xfrm>
        </p:grpSpPr>
        <p:sp>
          <p:nvSpPr>
            <p:cNvPr id="13" name="object 13"/>
            <p:cNvSpPr/>
            <p:nvPr/>
          </p:nvSpPr>
          <p:spPr>
            <a:xfrm>
              <a:off x="2017013" y="6104382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59">
                  <a:moveTo>
                    <a:pt x="719327" y="0"/>
                  </a:moveTo>
                  <a:lnTo>
                    <a:pt x="0" y="0"/>
                  </a:lnTo>
                  <a:lnTo>
                    <a:pt x="0" y="720851"/>
                  </a:lnTo>
                  <a:lnTo>
                    <a:pt x="719327" y="720851"/>
                  </a:lnTo>
                  <a:lnTo>
                    <a:pt x="719327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7013" y="6104382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59">
                  <a:moveTo>
                    <a:pt x="0" y="720851"/>
                  </a:moveTo>
                  <a:lnTo>
                    <a:pt x="719327" y="720851"/>
                  </a:lnTo>
                  <a:lnTo>
                    <a:pt x="719327" y="0"/>
                  </a:lnTo>
                  <a:lnTo>
                    <a:pt x="0" y="0"/>
                  </a:lnTo>
                  <a:lnTo>
                    <a:pt x="0" y="720851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5220" y="691144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92352" y="4808093"/>
          <a:ext cx="2878455" cy="7208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15265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2442591" y="5529834"/>
            <a:ext cx="518159" cy="1082040"/>
          </a:xfrm>
          <a:custGeom>
            <a:avLst/>
            <a:gdLst/>
            <a:ahLst/>
            <a:cxnLst/>
            <a:rect l="l" t="t" r="r" b="b"/>
            <a:pathLst>
              <a:path w="518160" h="1082040">
                <a:moveTo>
                  <a:pt x="497964" y="22892"/>
                </a:moveTo>
                <a:lnTo>
                  <a:pt x="487673" y="30028"/>
                </a:lnTo>
                <a:lnTo>
                  <a:pt x="0" y="1076312"/>
                </a:lnTo>
                <a:lnTo>
                  <a:pt x="11429" y="1081671"/>
                </a:lnTo>
                <a:lnTo>
                  <a:pt x="499115" y="35339"/>
                </a:lnTo>
                <a:lnTo>
                  <a:pt x="497964" y="22892"/>
                </a:lnTo>
                <a:close/>
              </a:path>
              <a:path w="518160" h="1082040">
                <a:moveTo>
                  <a:pt x="509447" y="8762"/>
                </a:moveTo>
                <a:lnTo>
                  <a:pt x="497585" y="8762"/>
                </a:lnTo>
                <a:lnTo>
                  <a:pt x="509015" y="14096"/>
                </a:lnTo>
                <a:lnTo>
                  <a:pt x="499115" y="35339"/>
                </a:lnTo>
                <a:lnTo>
                  <a:pt x="505078" y="99821"/>
                </a:lnTo>
                <a:lnTo>
                  <a:pt x="505459" y="103250"/>
                </a:lnTo>
                <a:lnTo>
                  <a:pt x="508507" y="105917"/>
                </a:lnTo>
                <a:lnTo>
                  <a:pt x="512063" y="105536"/>
                </a:lnTo>
                <a:lnTo>
                  <a:pt x="515492" y="105282"/>
                </a:lnTo>
                <a:lnTo>
                  <a:pt x="518032" y="102107"/>
                </a:lnTo>
                <a:lnTo>
                  <a:pt x="517778" y="98678"/>
                </a:lnTo>
                <a:lnTo>
                  <a:pt x="509447" y="8762"/>
                </a:lnTo>
                <a:close/>
              </a:path>
              <a:path w="518160" h="1082040">
                <a:moveTo>
                  <a:pt x="508634" y="0"/>
                </a:moveTo>
                <a:lnTo>
                  <a:pt x="427227" y="56514"/>
                </a:lnTo>
                <a:lnTo>
                  <a:pt x="424306" y="58419"/>
                </a:lnTo>
                <a:lnTo>
                  <a:pt x="423671" y="62356"/>
                </a:lnTo>
                <a:lnTo>
                  <a:pt x="425576" y="65277"/>
                </a:lnTo>
                <a:lnTo>
                  <a:pt x="427608" y="68198"/>
                </a:lnTo>
                <a:lnTo>
                  <a:pt x="431545" y="68833"/>
                </a:lnTo>
                <a:lnTo>
                  <a:pt x="434466" y="66928"/>
                </a:lnTo>
                <a:lnTo>
                  <a:pt x="487673" y="30028"/>
                </a:lnTo>
                <a:lnTo>
                  <a:pt x="497585" y="8762"/>
                </a:lnTo>
                <a:lnTo>
                  <a:pt x="509447" y="8762"/>
                </a:lnTo>
                <a:lnTo>
                  <a:pt x="508634" y="0"/>
                </a:lnTo>
                <a:close/>
              </a:path>
              <a:path w="518160" h="1082040">
                <a:moveTo>
                  <a:pt x="504389" y="11937"/>
                </a:moveTo>
                <a:lnTo>
                  <a:pt x="496950" y="11937"/>
                </a:lnTo>
                <a:lnTo>
                  <a:pt x="506983" y="16636"/>
                </a:lnTo>
                <a:lnTo>
                  <a:pt x="497964" y="22892"/>
                </a:lnTo>
                <a:lnTo>
                  <a:pt x="499115" y="35339"/>
                </a:lnTo>
                <a:lnTo>
                  <a:pt x="509015" y="14096"/>
                </a:lnTo>
                <a:lnTo>
                  <a:pt x="504389" y="11937"/>
                </a:lnTo>
                <a:close/>
              </a:path>
              <a:path w="518160" h="1082040">
                <a:moveTo>
                  <a:pt x="497585" y="8762"/>
                </a:moveTo>
                <a:lnTo>
                  <a:pt x="487673" y="30028"/>
                </a:lnTo>
                <a:lnTo>
                  <a:pt x="497964" y="22892"/>
                </a:lnTo>
                <a:lnTo>
                  <a:pt x="496950" y="11937"/>
                </a:lnTo>
                <a:lnTo>
                  <a:pt x="504389" y="11937"/>
                </a:lnTo>
                <a:lnTo>
                  <a:pt x="497585" y="8762"/>
                </a:lnTo>
                <a:close/>
              </a:path>
              <a:path w="518160" h="1082040">
                <a:moveTo>
                  <a:pt x="496950" y="11937"/>
                </a:moveTo>
                <a:lnTo>
                  <a:pt x="497964" y="22892"/>
                </a:lnTo>
                <a:lnTo>
                  <a:pt x="506983" y="16636"/>
                </a:lnTo>
                <a:lnTo>
                  <a:pt x="496950" y="11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80745" y="1495171"/>
            <a:ext cx="2818765" cy="3329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</a:t>
            </a:r>
            <a:r>
              <a:rPr sz="3200" b="1" spc="-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a[4],</a:t>
            </a:r>
            <a:endParaRPr sz="32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*q;</a:t>
            </a:r>
            <a:endParaRPr sz="3200">
              <a:latin typeface="Arial"/>
              <a:cs typeface="Arial"/>
            </a:endParaRPr>
          </a:p>
          <a:p>
            <a:pPr marL="139065" marR="693420">
              <a:lnSpc>
                <a:spcPts val="5250"/>
              </a:lnSpc>
              <a:spcBef>
                <a:spcPts val="400"/>
              </a:spcBef>
              <a:tabLst>
                <a:tab pos="962660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</a:t>
            </a:r>
            <a:r>
              <a:rPr sz="3200" b="1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=	&amp;a[1];  q = p +</a:t>
            </a:r>
            <a:r>
              <a:rPr sz="3200" b="1" spc="-8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2;</a:t>
            </a:r>
            <a:endParaRPr sz="3200">
              <a:latin typeface="Arial"/>
              <a:cs typeface="Arial"/>
            </a:endParaRPr>
          </a:p>
          <a:p>
            <a:pPr marL="139065">
              <a:lnSpc>
                <a:spcPts val="3825"/>
              </a:lnSpc>
              <a:spcBef>
                <a:spcPts val="980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*q =</a:t>
            </a:r>
            <a:r>
              <a:rPr sz="3200" b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40;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2625"/>
              </a:lnSpc>
              <a:tabLst>
                <a:tab pos="555625" algn="l"/>
                <a:tab pos="1253490" algn="l"/>
                <a:tab pos="1951989" algn="l"/>
                <a:tab pos="2649855" algn="l"/>
              </a:tabLst>
            </a:pPr>
            <a:r>
              <a:rPr sz="2200" b="1" spc="-5" dirty="0">
                <a:latin typeface="Arial"/>
                <a:cs typeface="Arial"/>
              </a:rPr>
              <a:t>a	0	1	2	3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09622" y="691144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751" y="296672"/>
            <a:ext cx="89668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5610" marR="5080" indent="-296291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Operations on pointers: substracting  two</a:t>
            </a:r>
            <a:r>
              <a:rPr sz="4000" spc="10" dirty="0"/>
              <a:t> </a:t>
            </a:r>
            <a:r>
              <a:rPr sz="4000" spc="-5" dirty="0"/>
              <a:t>pointers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7405" y="1196721"/>
            <a:ext cx="2731135" cy="299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a[4],</a:t>
            </a:r>
            <a:r>
              <a:rPr sz="3200" b="1" spc="-114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*q,  </a:t>
            </a:r>
            <a:r>
              <a:rPr sz="3200" b="1" spc="-10" dirty="0">
                <a:solidFill>
                  <a:srgbClr val="800000"/>
                </a:solidFill>
                <a:latin typeface="Arial"/>
                <a:cs typeface="Arial"/>
              </a:rPr>
              <a:t>x;</a:t>
            </a:r>
            <a:endParaRPr sz="3200">
              <a:latin typeface="Arial"/>
              <a:cs typeface="Arial"/>
            </a:endParaRPr>
          </a:p>
          <a:p>
            <a:pPr marL="12700" marR="734060">
              <a:lnSpc>
                <a:spcPct val="136400"/>
              </a:lnSpc>
              <a:spcBef>
                <a:spcPts val="5"/>
              </a:spcBef>
              <a:tabLst>
                <a:tab pos="836930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</a:t>
            </a:r>
            <a:r>
              <a:rPr sz="3200" b="1" spc="-1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=	&amp;a[</a:t>
            </a:r>
            <a:r>
              <a:rPr sz="3200" b="1" spc="-10" dirty="0">
                <a:solidFill>
                  <a:srgbClr val="800000"/>
                </a:solidFill>
                <a:latin typeface="Arial"/>
                <a:cs typeface="Arial"/>
              </a:rPr>
              <a:t>1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];  q = p +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2; 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x = q –</a:t>
            </a:r>
            <a:r>
              <a:rPr sz="3200" b="1" spc="-9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p;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4334" y="1439037"/>
            <a:ext cx="4760595" cy="277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8415" indent="-4572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b="1" spc="-75" dirty="0">
                <a:solidFill>
                  <a:srgbClr val="0000CC"/>
                </a:solidFill>
                <a:latin typeface="Arial"/>
                <a:cs typeface="Arial"/>
              </a:rPr>
              <a:t>Two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pointers of the </a:t>
            </a:r>
            <a:r>
              <a:rPr sz="2800" b="1" i="1" spc="-5" dirty="0">
                <a:solidFill>
                  <a:srgbClr val="0000CC"/>
                </a:solidFill>
                <a:latin typeface="Arial"/>
                <a:cs typeface="Arial"/>
              </a:rPr>
              <a:t>same  type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can be</a:t>
            </a:r>
            <a:r>
              <a:rPr sz="2800" b="1" spc="1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substracted</a:t>
            </a:r>
            <a:endParaRPr sz="28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070"/>
              </a:spcBef>
              <a:buSzPct val="44642"/>
              <a:buFont typeface="Wingdings"/>
              <a:buChar char=""/>
              <a:tabLst>
                <a:tab pos="697865" algn="l"/>
                <a:tab pos="698500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Result </a:t>
            </a:r>
            <a:r>
              <a:rPr sz="2800" b="1" spc="-10" dirty="0">
                <a:solidFill>
                  <a:srgbClr val="0000CC"/>
                </a:solidFill>
                <a:latin typeface="Arial"/>
                <a:cs typeface="Arial"/>
              </a:rPr>
              <a:t>type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is</a:t>
            </a:r>
            <a:r>
              <a:rPr sz="2800" b="1" spc="5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int</a:t>
            </a:r>
            <a:endParaRPr sz="2800">
              <a:latin typeface="Arial"/>
              <a:cs typeface="Arial"/>
            </a:endParaRPr>
          </a:p>
          <a:p>
            <a:pPr marL="698500" marR="5080" lvl="1" indent="-228600">
              <a:lnSpc>
                <a:spcPts val="3020"/>
              </a:lnSpc>
              <a:spcBef>
                <a:spcPts val="1440"/>
              </a:spcBef>
              <a:buSzPct val="44642"/>
              <a:buFont typeface="Wingdings"/>
              <a:buChar char=""/>
              <a:tabLst>
                <a:tab pos="697865" algn="l"/>
                <a:tab pos="698500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Result value = no. Of  elements of sizeof(type)  between two</a:t>
            </a:r>
            <a:r>
              <a:rPr sz="2800" b="1" spc="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pointers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4334" y="4362704"/>
            <a:ext cx="4852035" cy="1868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Logically derives from  adding/substracting int </a:t>
            </a:r>
            <a:r>
              <a:rPr sz="2800" b="1" dirty="0">
                <a:solidFill>
                  <a:srgbClr val="0000CC"/>
                </a:solidFill>
                <a:latin typeface="Arial"/>
                <a:cs typeface="Arial"/>
              </a:rPr>
              <a:t>to 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pointers</a:t>
            </a:r>
            <a:endParaRPr sz="28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070"/>
              </a:spcBef>
              <a:buSzPct val="44642"/>
              <a:buFont typeface="Wingdings"/>
              <a:buChar char=""/>
              <a:tabLst>
                <a:tab pos="697865" algn="l"/>
                <a:tab pos="698500" algn="l"/>
                <a:tab pos="2337435" algn="l"/>
              </a:tabLst>
            </a:pP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p = q</a:t>
            </a:r>
            <a:r>
              <a:rPr sz="2800" b="1" spc="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+ 2	==&gt; p – q =</a:t>
            </a:r>
            <a:r>
              <a:rPr sz="2800" b="1" spc="-1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1165" y="5328666"/>
            <a:ext cx="865505" cy="1297940"/>
            <a:chOff x="431165" y="5328666"/>
            <a:chExt cx="865505" cy="1297940"/>
          </a:xfrm>
        </p:grpSpPr>
        <p:sp>
          <p:nvSpPr>
            <p:cNvPr id="7" name="object 7"/>
            <p:cNvSpPr/>
            <p:nvPr/>
          </p:nvSpPr>
          <p:spPr>
            <a:xfrm>
              <a:off x="432054" y="5904738"/>
              <a:ext cx="721360" cy="721360"/>
            </a:xfrm>
            <a:custGeom>
              <a:avLst/>
              <a:gdLst/>
              <a:ahLst/>
              <a:cxnLst/>
              <a:rect l="l" t="t" r="r" b="b"/>
              <a:pathLst>
                <a:path w="721360" h="721359">
                  <a:moveTo>
                    <a:pt x="720852" y="0"/>
                  </a:moveTo>
                  <a:lnTo>
                    <a:pt x="0" y="0"/>
                  </a:lnTo>
                  <a:lnTo>
                    <a:pt x="0" y="720851"/>
                  </a:lnTo>
                  <a:lnTo>
                    <a:pt x="720852" y="720851"/>
                  </a:lnTo>
                  <a:lnTo>
                    <a:pt x="720852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2054" y="5904738"/>
              <a:ext cx="721360" cy="721360"/>
            </a:xfrm>
            <a:custGeom>
              <a:avLst/>
              <a:gdLst/>
              <a:ahLst/>
              <a:cxnLst/>
              <a:rect l="l" t="t" r="r" b="b"/>
              <a:pathLst>
                <a:path w="721360" h="721359">
                  <a:moveTo>
                    <a:pt x="0" y="720851"/>
                  </a:moveTo>
                  <a:lnTo>
                    <a:pt x="720852" y="720851"/>
                  </a:lnTo>
                  <a:lnTo>
                    <a:pt x="720852" y="0"/>
                  </a:lnTo>
                  <a:lnTo>
                    <a:pt x="0" y="0"/>
                  </a:lnTo>
                  <a:lnTo>
                    <a:pt x="0" y="720851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6203" y="5328666"/>
              <a:ext cx="580390" cy="939165"/>
            </a:xfrm>
            <a:custGeom>
              <a:avLst/>
              <a:gdLst/>
              <a:ahLst/>
              <a:cxnLst/>
              <a:rect l="l" t="t" r="r" b="b"/>
              <a:pathLst>
                <a:path w="580390" h="939164">
                  <a:moveTo>
                    <a:pt x="566769" y="21430"/>
                  </a:moveTo>
                  <a:lnTo>
                    <a:pt x="555749" y="27349"/>
                  </a:lnTo>
                  <a:lnTo>
                    <a:pt x="0" y="932434"/>
                  </a:lnTo>
                  <a:lnTo>
                    <a:pt x="10820" y="939038"/>
                  </a:lnTo>
                  <a:lnTo>
                    <a:pt x="566494" y="34160"/>
                  </a:lnTo>
                  <a:lnTo>
                    <a:pt x="566769" y="21430"/>
                  </a:lnTo>
                  <a:close/>
                </a:path>
                <a:path w="580390" h="939164">
                  <a:moveTo>
                    <a:pt x="579788" y="7366"/>
                  </a:moveTo>
                  <a:lnTo>
                    <a:pt x="568020" y="7366"/>
                  </a:lnTo>
                  <a:lnTo>
                    <a:pt x="578815" y="14097"/>
                  </a:lnTo>
                  <a:lnTo>
                    <a:pt x="566494" y="34160"/>
                  </a:lnTo>
                  <a:lnTo>
                    <a:pt x="565089" y="99060"/>
                  </a:lnTo>
                  <a:lnTo>
                    <a:pt x="564972" y="102235"/>
                  </a:lnTo>
                  <a:lnTo>
                    <a:pt x="567766" y="105156"/>
                  </a:lnTo>
                  <a:lnTo>
                    <a:pt x="571195" y="105282"/>
                  </a:lnTo>
                  <a:lnTo>
                    <a:pt x="574751" y="105282"/>
                  </a:lnTo>
                  <a:lnTo>
                    <a:pt x="577672" y="102616"/>
                  </a:lnTo>
                  <a:lnTo>
                    <a:pt x="577678" y="98806"/>
                  </a:lnTo>
                  <a:lnTo>
                    <a:pt x="579788" y="7366"/>
                  </a:lnTo>
                  <a:close/>
                </a:path>
                <a:path w="580390" h="939164">
                  <a:moveTo>
                    <a:pt x="579958" y="0"/>
                  </a:moveTo>
                  <a:lnTo>
                    <a:pt x="489534" y="48387"/>
                  </a:lnTo>
                  <a:lnTo>
                    <a:pt x="488378" y="52324"/>
                  </a:lnTo>
                  <a:lnTo>
                    <a:pt x="491693" y="58419"/>
                  </a:lnTo>
                  <a:lnTo>
                    <a:pt x="495541" y="59690"/>
                  </a:lnTo>
                  <a:lnTo>
                    <a:pt x="555749" y="27349"/>
                  </a:lnTo>
                  <a:lnTo>
                    <a:pt x="568020" y="7366"/>
                  </a:lnTo>
                  <a:lnTo>
                    <a:pt x="579788" y="7366"/>
                  </a:lnTo>
                  <a:lnTo>
                    <a:pt x="579958" y="0"/>
                  </a:lnTo>
                  <a:close/>
                </a:path>
                <a:path w="580390" h="939164">
                  <a:moveTo>
                    <a:pt x="573112" y="10541"/>
                  </a:moveTo>
                  <a:lnTo>
                    <a:pt x="567004" y="10541"/>
                  </a:lnTo>
                  <a:lnTo>
                    <a:pt x="576402" y="16256"/>
                  </a:lnTo>
                  <a:lnTo>
                    <a:pt x="566769" y="21430"/>
                  </a:lnTo>
                  <a:lnTo>
                    <a:pt x="566494" y="34160"/>
                  </a:lnTo>
                  <a:lnTo>
                    <a:pt x="578815" y="14097"/>
                  </a:lnTo>
                  <a:lnTo>
                    <a:pt x="573112" y="10541"/>
                  </a:lnTo>
                  <a:close/>
                </a:path>
                <a:path w="580390" h="939164">
                  <a:moveTo>
                    <a:pt x="568020" y="7366"/>
                  </a:moveTo>
                  <a:lnTo>
                    <a:pt x="555749" y="27349"/>
                  </a:lnTo>
                  <a:lnTo>
                    <a:pt x="566769" y="21430"/>
                  </a:lnTo>
                  <a:lnTo>
                    <a:pt x="567004" y="10541"/>
                  </a:lnTo>
                  <a:lnTo>
                    <a:pt x="573112" y="10541"/>
                  </a:lnTo>
                  <a:lnTo>
                    <a:pt x="568020" y="7366"/>
                  </a:lnTo>
                  <a:close/>
                </a:path>
                <a:path w="580390" h="939164">
                  <a:moveTo>
                    <a:pt x="567004" y="10541"/>
                  </a:moveTo>
                  <a:lnTo>
                    <a:pt x="566769" y="21430"/>
                  </a:lnTo>
                  <a:lnTo>
                    <a:pt x="576402" y="16256"/>
                  </a:lnTo>
                  <a:lnTo>
                    <a:pt x="567004" y="105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799717" y="5328666"/>
            <a:ext cx="946150" cy="1297940"/>
            <a:chOff x="1799717" y="5328666"/>
            <a:chExt cx="946150" cy="1297940"/>
          </a:xfrm>
        </p:grpSpPr>
        <p:sp>
          <p:nvSpPr>
            <p:cNvPr id="11" name="object 11"/>
            <p:cNvSpPr/>
            <p:nvPr/>
          </p:nvSpPr>
          <p:spPr>
            <a:xfrm>
              <a:off x="1800606" y="5904738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59">
                  <a:moveTo>
                    <a:pt x="719328" y="0"/>
                  </a:moveTo>
                  <a:lnTo>
                    <a:pt x="0" y="0"/>
                  </a:lnTo>
                  <a:lnTo>
                    <a:pt x="0" y="720851"/>
                  </a:lnTo>
                  <a:lnTo>
                    <a:pt x="719328" y="720851"/>
                  </a:lnTo>
                  <a:lnTo>
                    <a:pt x="719328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0606" y="5904738"/>
              <a:ext cx="719455" cy="721360"/>
            </a:xfrm>
            <a:custGeom>
              <a:avLst/>
              <a:gdLst/>
              <a:ahLst/>
              <a:cxnLst/>
              <a:rect l="l" t="t" r="r" b="b"/>
              <a:pathLst>
                <a:path w="719455" h="721359">
                  <a:moveTo>
                    <a:pt x="0" y="720851"/>
                  </a:moveTo>
                  <a:lnTo>
                    <a:pt x="719328" y="720851"/>
                  </a:lnTo>
                  <a:lnTo>
                    <a:pt x="719328" y="0"/>
                  </a:lnTo>
                  <a:lnTo>
                    <a:pt x="0" y="0"/>
                  </a:lnTo>
                  <a:lnTo>
                    <a:pt x="0" y="720851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27707" y="5328666"/>
              <a:ext cx="518159" cy="1082040"/>
            </a:xfrm>
            <a:custGeom>
              <a:avLst/>
              <a:gdLst/>
              <a:ahLst/>
              <a:cxnLst/>
              <a:rect l="l" t="t" r="r" b="b"/>
              <a:pathLst>
                <a:path w="518160" h="1082039">
                  <a:moveTo>
                    <a:pt x="497964" y="22892"/>
                  </a:moveTo>
                  <a:lnTo>
                    <a:pt x="487673" y="30028"/>
                  </a:lnTo>
                  <a:lnTo>
                    <a:pt x="0" y="1076312"/>
                  </a:lnTo>
                  <a:lnTo>
                    <a:pt x="11430" y="1081671"/>
                  </a:lnTo>
                  <a:lnTo>
                    <a:pt x="499135" y="35561"/>
                  </a:lnTo>
                  <a:lnTo>
                    <a:pt x="497964" y="22892"/>
                  </a:lnTo>
                  <a:close/>
                </a:path>
                <a:path w="518160" h="1082039">
                  <a:moveTo>
                    <a:pt x="509447" y="8762"/>
                  </a:moveTo>
                  <a:lnTo>
                    <a:pt x="497586" y="8762"/>
                  </a:lnTo>
                  <a:lnTo>
                    <a:pt x="509143" y="14097"/>
                  </a:lnTo>
                  <a:lnTo>
                    <a:pt x="499135" y="35561"/>
                  </a:lnTo>
                  <a:lnTo>
                    <a:pt x="505079" y="99822"/>
                  </a:lnTo>
                  <a:lnTo>
                    <a:pt x="505460" y="103250"/>
                  </a:lnTo>
                  <a:lnTo>
                    <a:pt x="508507" y="105918"/>
                  </a:lnTo>
                  <a:lnTo>
                    <a:pt x="512063" y="105537"/>
                  </a:lnTo>
                  <a:lnTo>
                    <a:pt x="515493" y="105282"/>
                  </a:lnTo>
                  <a:lnTo>
                    <a:pt x="518032" y="102107"/>
                  </a:lnTo>
                  <a:lnTo>
                    <a:pt x="517779" y="98679"/>
                  </a:lnTo>
                  <a:lnTo>
                    <a:pt x="509447" y="8762"/>
                  </a:lnTo>
                  <a:close/>
                </a:path>
                <a:path w="518160" h="1082039">
                  <a:moveTo>
                    <a:pt x="508635" y="0"/>
                  </a:moveTo>
                  <a:lnTo>
                    <a:pt x="427228" y="56515"/>
                  </a:lnTo>
                  <a:lnTo>
                    <a:pt x="424306" y="58419"/>
                  </a:lnTo>
                  <a:lnTo>
                    <a:pt x="423672" y="62356"/>
                  </a:lnTo>
                  <a:lnTo>
                    <a:pt x="425576" y="65278"/>
                  </a:lnTo>
                  <a:lnTo>
                    <a:pt x="427609" y="68199"/>
                  </a:lnTo>
                  <a:lnTo>
                    <a:pt x="431545" y="68834"/>
                  </a:lnTo>
                  <a:lnTo>
                    <a:pt x="434467" y="66929"/>
                  </a:lnTo>
                  <a:lnTo>
                    <a:pt x="487673" y="30028"/>
                  </a:lnTo>
                  <a:lnTo>
                    <a:pt x="497586" y="8762"/>
                  </a:lnTo>
                  <a:lnTo>
                    <a:pt x="509447" y="8762"/>
                  </a:lnTo>
                  <a:lnTo>
                    <a:pt x="508635" y="0"/>
                  </a:lnTo>
                  <a:close/>
                </a:path>
                <a:path w="518160" h="1082039">
                  <a:moveTo>
                    <a:pt x="504465" y="11937"/>
                  </a:moveTo>
                  <a:lnTo>
                    <a:pt x="496950" y="11937"/>
                  </a:lnTo>
                  <a:lnTo>
                    <a:pt x="506984" y="16637"/>
                  </a:lnTo>
                  <a:lnTo>
                    <a:pt x="497964" y="22892"/>
                  </a:lnTo>
                  <a:lnTo>
                    <a:pt x="499135" y="35561"/>
                  </a:lnTo>
                  <a:lnTo>
                    <a:pt x="509143" y="14097"/>
                  </a:lnTo>
                  <a:lnTo>
                    <a:pt x="504465" y="11937"/>
                  </a:lnTo>
                  <a:close/>
                </a:path>
                <a:path w="518160" h="1082039">
                  <a:moveTo>
                    <a:pt x="497586" y="8762"/>
                  </a:moveTo>
                  <a:lnTo>
                    <a:pt x="487673" y="30028"/>
                  </a:lnTo>
                  <a:lnTo>
                    <a:pt x="497964" y="22892"/>
                  </a:lnTo>
                  <a:lnTo>
                    <a:pt x="496950" y="11937"/>
                  </a:lnTo>
                  <a:lnTo>
                    <a:pt x="504465" y="11937"/>
                  </a:lnTo>
                  <a:lnTo>
                    <a:pt x="497586" y="8762"/>
                  </a:lnTo>
                  <a:close/>
                </a:path>
                <a:path w="518160" h="1082039">
                  <a:moveTo>
                    <a:pt x="496950" y="11937"/>
                  </a:moveTo>
                  <a:lnTo>
                    <a:pt x="497964" y="22892"/>
                  </a:lnTo>
                  <a:lnTo>
                    <a:pt x="506984" y="16637"/>
                  </a:lnTo>
                  <a:lnTo>
                    <a:pt x="496950" y="119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9117" y="6711492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75944" y="4608449"/>
          <a:ext cx="2880360" cy="719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364642" y="4264533"/>
            <a:ext cx="28187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5625" algn="l"/>
                <a:tab pos="1253490" algn="l"/>
                <a:tab pos="1951989" algn="l"/>
                <a:tab pos="2649855" algn="l"/>
              </a:tabLst>
            </a:pPr>
            <a:r>
              <a:rPr sz="2200" b="1" spc="-5" dirty="0">
                <a:latin typeface="Arial"/>
                <a:cs typeface="Arial"/>
              </a:rPr>
              <a:t>a	0	1	2	3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3722" y="6711492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60114" y="4609338"/>
            <a:ext cx="721360" cy="719455"/>
          </a:xfrm>
          <a:prstGeom prst="rect">
            <a:avLst/>
          </a:prstGeom>
          <a:solidFill>
            <a:srgbClr val="719FCF"/>
          </a:solidFill>
          <a:ln w="3175">
            <a:solidFill>
              <a:srgbClr val="3464A3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2600" b="1" dirty="0">
                <a:latin typeface="Arial"/>
                <a:cs typeface="Arial"/>
              </a:rPr>
              <a:t>2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4500" y="541578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2978" y="366470"/>
            <a:ext cx="7045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Operations on pointers: </a:t>
            </a:r>
            <a:r>
              <a:rPr dirty="0">
                <a:solidFill>
                  <a:srgbClr val="000099"/>
                </a:solidFill>
              </a:rPr>
              <a:t>[</a:t>
            </a:r>
            <a:r>
              <a:rPr spc="-8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3948" y="1131189"/>
            <a:ext cx="5755005" cy="2984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SzPct val="45312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3200" b="1" spc="-20" dirty="0">
                <a:solidFill>
                  <a:srgbClr val="0000CC"/>
                </a:solidFill>
                <a:latin typeface="Arial"/>
                <a:cs typeface="Arial"/>
              </a:rPr>
              <a:t>Interestingly,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C allows [ ]  notation to be applied to</a:t>
            </a:r>
            <a:r>
              <a:rPr sz="3200" b="1" spc="-19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all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pointers!</a:t>
            </a:r>
            <a:endParaRPr sz="3200">
              <a:latin typeface="Arial"/>
              <a:cs typeface="Arial"/>
            </a:endParaRPr>
          </a:p>
          <a:p>
            <a:pPr marL="698500" marR="27940" lvl="1" indent="-228600">
              <a:lnSpc>
                <a:spcPts val="3460"/>
              </a:lnSpc>
              <a:spcBef>
                <a:spcPts val="1450"/>
              </a:spcBef>
              <a:buSzPct val="45312"/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3200" b="1" spc="-80" dirty="0">
                <a:solidFill>
                  <a:srgbClr val="0000CC"/>
                </a:solidFill>
                <a:latin typeface="Arial"/>
                <a:cs typeface="Arial"/>
              </a:rPr>
              <a:t>You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must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be knowing</a:t>
            </a:r>
            <a:r>
              <a:rPr sz="3200" b="1" spc="-65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that  [ ] is normally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used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for 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arrays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3948" y="4140809"/>
            <a:ext cx="5445760" cy="257429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5"/>
              </a:spcBef>
              <a:buSzPct val="45312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p [ i ] means * (p +</a:t>
            </a:r>
            <a:r>
              <a:rPr sz="3200" b="1" spc="-11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i)</a:t>
            </a:r>
            <a:endParaRPr sz="3200">
              <a:latin typeface="Arial"/>
              <a:cs typeface="Arial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1395"/>
              </a:spcBef>
              <a:buSzPct val="45312"/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P is a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and i is an  integer (or i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is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and p is a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pointer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is</a:t>
            </a:r>
            <a:r>
              <a:rPr sz="3200" b="1" spc="-12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Arial"/>
                <a:cs typeface="Arial"/>
              </a:rPr>
              <a:t>also  </a:t>
            </a:r>
            <a:r>
              <a:rPr sz="3200" b="1" dirty="0">
                <a:solidFill>
                  <a:srgbClr val="0000CC"/>
                </a:solidFill>
                <a:latin typeface="Arial"/>
                <a:cs typeface="Arial"/>
              </a:rPr>
              <a:t>allowed)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3980" y="5563361"/>
            <a:ext cx="863600" cy="1296670"/>
            <a:chOff x="863980" y="5563361"/>
            <a:chExt cx="863600" cy="1296670"/>
          </a:xfrm>
        </p:grpSpPr>
        <p:sp>
          <p:nvSpPr>
            <p:cNvPr id="6" name="object 6"/>
            <p:cNvSpPr/>
            <p:nvPr/>
          </p:nvSpPr>
          <p:spPr>
            <a:xfrm>
              <a:off x="864869" y="6139433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720851" y="0"/>
                  </a:moveTo>
                  <a:lnTo>
                    <a:pt x="0" y="0"/>
                  </a:lnTo>
                  <a:lnTo>
                    <a:pt x="0" y="719327"/>
                  </a:lnTo>
                  <a:lnTo>
                    <a:pt x="720851" y="719327"/>
                  </a:lnTo>
                  <a:lnTo>
                    <a:pt x="720851" y="0"/>
                  </a:lnTo>
                  <a:close/>
                </a:path>
              </a:pathLst>
            </a:custGeom>
            <a:solidFill>
              <a:srgbClr val="719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4869" y="6139433"/>
              <a:ext cx="721360" cy="719455"/>
            </a:xfrm>
            <a:custGeom>
              <a:avLst/>
              <a:gdLst/>
              <a:ahLst/>
              <a:cxnLst/>
              <a:rect l="l" t="t" r="r" b="b"/>
              <a:pathLst>
                <a:path w="721360" h="719454">
                  <a:moveTo>
                    <a:pt x="0" y="719327"/>
                  </a:moveTo>
                  <a:lnTo>
                    <a:pt x="720851" y="719327"/>
                  </a:lnTo>
                  <a:lnTo>
                    <a:pt x="720851" y="0"/>
                  </a:lnTo>
                  <a:lnTo>
                    <a:pt x="0" y="0"/>
                  </a:lnTo>
                  <a:lnTo>
                    <a:pt x="0" y="719327"/>
                  </a:lnTo>
                  <a:close/>
                </a:path>
              </a:pathLst>
            </a:custGeom>
            <a:ln w="3175">
              <a:solidFill>
                <a:srgbClr val="3464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7495" y="5563361"/>
              <a:ext cx="580390" cy="939165"/>
            </a:xfrm>
            <a:custGeom>
              <a:avLst/>
              <a:gdLst/>
              <a:ahLst/>
              <a:cxnLst/>
              <a:rect l="l" t="t" r="r" b="b"/>
              <a:pathLst>
                <a:path w="580389" h="939165">
                  <a:moveTo>
                    <a:pt x="566769" y="21434"/>
                  </a:moveTo>
                  <a:lnTo>
                    <a:pt x="555741" y="27363"/>
                  </a:lnTo>
                  <a:lnTo>
                    <a:pt x="0" y="932408"/>
                  </a:lnTo>
                  <a:lnTo>
                    <a:pt x="10820" y="939050"/>
                  </a:lnTo>
                  <a:lnTo>
                    <a:pt x="566494" y="34160"/>
                  </a:lnTo>
                  <a:lnTo>
                    <a:pt x="566769" y="21434"/>
                  </a:lnTo>
                  <a:close/>
                </a:path>
                <a:path w="580389" h="939165">
                  <a:moveTo>
                    <a:pt x="579788" y="7365"/>
                  </a:moveTo>
                  <a:lnTo>
                    <a:pt x="568020" y="7365"/>
                  </a:lnTo>
                  <a:lnTo>
                    <a:pt x="578815" y="14096"/>
                  </a:lnTo>
                  <a:lnTo>
                    <a:pt x="566494" y="34160"/>
                  </a:lnTo>
                  <a:lnTo>
                    <a:pt x="565099" y="98805"/>
                  </a:lnTo>
                  <a:lnTo>
                    <a:pt x="564972" y="102234"/>
                  </a:lnTo>
                  <a:lnTo>
                    <a:pt x="567766" y="105155"/>
                  </a:lnTo>
                  <a:lnTo>
                    <a:pt x="571195" y="105282"/>
                  </a:lnTo>
                  <a:lnTo>
                    <a:pt x="574751" y="105282"/>
                  </a:lnTo>
                  <a:lnTo>
                    <a:pt x="577672" y="102615"/>
                  </a:lnTo>
                  <a:lnTo>
                    <a:pt x="577678" y="98805"/>
                  </a:lnTo>
                  <a:lnTo>
                    <a:pt x="579788" y="7365"/>
                  </a:lnTo>
                  <a:close/>
                </a:path>
                <a:path w="580389" h="939165">
                  <a:moveTo>
                    <a:pt x="579958" y="0"/>
                  </a:moveTo>
                  <a:lnTo>
                    <a:pt x="489534" y="48386"/>
                  </a:lnTo>
                  <a:lnTo>
                    <a:pt x="488391" y="52323"/>
                  </a:lnTo>
                  <a:lnTo>
                    <a:pt x="491693" y="58419"/>
                  </a:lnTo>
                  <a:lnTo>
                    <a:pt x="495503" y="59689"/>
                  </a:lnTo>
                  <a:lnTo>
                    <a:pt x="498678" y="58038"/>
                  </a:lnTo>
                  <a:lnTo>
                    <a:pt x="555741" y="27363"/>
                  </a:lnTo>
                  <a:lnTo>
                    <a:pt x="568020" y="7365"/>
                  </a:lnTo>
                  <a:lnTo>
                    <a:pt x="579788" y="7365"/>
                  </a:lnTo>
                  <a:lnTo>
                    <a:pt x="579958" y="0"/>
                  </a:lnTo>
                  <a:close/>
                </a:path>
                <a:path w="580389" h="939165">
                  <a:moveTo>
                    <a:pt x="573112" y="10540"/>
                  </a:moveTo>
                  <a:lnTo>
                    <a:pt x="567004" y="10540"/>
                  </a:lnTo>
                  <a:lnTo>
                    <a:pt x="576402" y="16255"/>
                  </a:lnTo>
                  <a:lnTo>
                    <a:pt x="566769" y="21434"/>
                  </a:lnTo>
                  <a:lnTo>
                    <a:pt x="566494" y="34160"/>
                  </a:lnTo>
                  <a:lnTo>
                    <a:pt x="578815" y="14096"/>
                  </a:lnTo>
                  <a:lnTo>
                    <a:pt x="573112" y="10540"/>
                  </a:lnTo>
                  <a:close/>
                </a:path>
                <a:path w="580389" h="939165">
                  <a:moveTo>
                    <a:pt x="568020" y="7365"/>
                  </a:moveTo>
                  <a:lnTo>
                    <a:pt x="555741" y="27363"/>
                  </a:lnTo>
                  <a:lnTo>
                    <a:pt x="566769" y="21434"/>
                  </a:lnTo>
                  <a:lnTo>
                    <a:pt x="567004" y="10540"/>
                  </a:lnTo>
                  <a:lnTo>
                    <a:pt x="573112" y="10540"/>
                  </a:lnTo>
                  <a:lnTo>
                    <a:pt x="568020" y="7365"/>
                  </a:lnTo>
                  <a:close/>
                </a:path>
                <a:path w="580389" h="939165">
                  <a:moveTo>
                    <a:pt x="567004" y="10540"/>
                  </a:moveTo>
                  <a:lnTo>
                    <a:pt x="566769" y="21434"/>
                  </a:lnTo>
                  <a:lnTo>
                    <a:pt x="576402" y="16255"/>
                  </a:lnTo>
                  <a:lnTo>
                    <a:pt x="567004" y="10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07542" y="1495171"/>
            <a:ext cx="2908935" cy="3363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int *p,</a:t>
            </a:r>
            <a:r>
              <a:rPr sz="3200" b="1" spc="-3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a[4],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*q;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836294" algn="l"/>
              </a:tabLst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</a:t>
            </a:r>
            <a:r>
              <a:rPr sz="3200" b="1" spc="-2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=	&amp;a[1];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p[2] =</a:t>
            </a:r>
            <a:r>
              <a:rPr sz="3200" b="1" spc="-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20;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3200" b="1" dirty="0">
                <a:solidFill>
                  <a:srgbClr val="800000"/>
                </a:solidFill>
                <a:latin typeface="Arial"/>
                <a:cs typeface="Arial"/>
              </a:rPr>
              <a:t>p[-1] =</a:t>
            </a:r>
            <a:r>
              <a:rPr sz="3200" b="1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800000"/>
                </a:solidFill>
                <a:latin typeface="Arial"/>
                <a:cs typeface="Arial"/>
              </a:rPr>
              <a:t>10;</a:t>
            </a:r>
            <a:endParaRPr sz="320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235"/>
              </a:spcBef>
              <a:tabLst>
                <a:tab pos="646430" algn="l"/>
                <a:tab pos="1343660" algn="l"/>
                <a:tab pos="2042160" algn="l"/>
                <a:tab pos="2740660" algn="l"/>
              </a:tabLst>
            </a:pPr>
            <a:r>
              <a:rPr sz="2200" b="1" spc="-5" dirty="0">
                <a:latin typeface="Arial"/>
                <a:cs typeface="Arial"/>
              </a:rPr>
              <a:t>a	0	1	2	3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019" y="6944359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2273" y="5469128"/>
            <a:ext cx="180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007236" y="4841621"/>
          <a:ext cx="2880360" cy="72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8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306070">
                        <a:lnSpc>
                          <a:spcPts val="2515"/>
                        </a:lnSpc>
                      </a:pPr>
                      <a:r>
                        <a:rPr sz="2200" b="1" spc="-5" dirty="0">
                          <a:latin typeface="Arial"/>
                          <a:cs typeface="Arial"/>
                        </a:rPr>
                        <a:t>10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46990" algn="ctr">
                        <a:lnSpc>
                          <a:spcPct val="100000"/>
                        </a:lnSpc>
                      </a:pPr>
                      <a:r>
                        <a:rPr sz="2200" b="1" dirty="0">
                          <a:latin typeface="Arial"/>
                          <a:cs typeface="Arial"/>
                        </a:rPr>
                        <a:t>2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3175">
                      <a:solidFill>
                        <a:srgbClr val="3464A3"/>
                      </a:solidFill>
                      <a:prstDash val="solid"/>
                    </a:lnL>
                    <a:lnR w="3175">
                      <a:solidFill>
                        <a:srgbClr val="3464A3"/>
                      </a:solidFill>
                      <a:prstDash val="solid"/>
                    </a:lnR>
                    <a:lnT w="3175">
                      <a:solidFill>
                        <a:srgbClr val="3464A3"/>
                      </a:solidFill>
                      <a:prstDash val="solid"/>
                    </a:lnT>
                    <a:lnB w="3175">
                      <a:solidFill>
                        <a:srgbClr val="3464A3"/>
                      </a:solidFill>
                      <a:prstDash val="solid"/>
                    </a:lnB>
                    <a:solidFill>
                      <a:srgbClr val="71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1924</Words>
  <Application>Microsoft Office PowerPoint</Application>
  <PresentationFormat>Custom</PresentationFormat>
  <Paragraphs>252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Carlito</vt:lpstr>
      <vt:lpstr>Courier New</vt:lpstr>
      <vt:lpstr>Times New Roman</vt:lpstr>
      <vt:lpstr>Wingdings</vt:lpstr>
      <vt:lpstr>Office Theme</vt:lpstr>
      <vt:lpstr>Pointers in C</vt:lpstr>
      <vt:lpstr>Basic Concepts</vt:lpstr>
      <vt:lpstr>Introduction</vt:lpstr>
      <vt:lpstr>Contd.</vt:lpstr>
      <vt:lpstr>Contd.</vt:lpstr>
      <vt:lpstr>Address vs. Value</vt:lpstr>
      <vt:lpstr>Address vs. Value</vt:lpstr>
      <vt:lpstr>Address vs. Value</vt:lpstr>
      <vt:lpstr>Values vs. Locations</vt:lpstr>
      <vt:lpstr>L- Value and R-Value</vt:lpstr>
      <vt:lpstr>Introduction to Pointers</vt:lpstr>
      <vt:lpstr>Pointer Declarations</vt:lpstr>
      <vt:lpstr>Cont..</vt:lpstr>
      <vt:lpstr>Pointer Declarations</vt:lpstr>
      <vt:lpstr>Cont..</vt:lpstr>
      <vt:lpstr>Pointer</vt:lpstr>
      <vt:lpstr>Pointer Initialization</vt:lpstr>
      <vt:lpstr>A side note on NULL</vt:lpstr>
      <vt:lpstr>Operations on (and related to)  Pointers</vt:lpstr>
      <vt:lpstr>Operations related to pointers: &amp;  address / reference operator</vt:lpstr>
      <vt:lpstr>Operations on pointers: *  value at/ dereferencing operator</vt:lpstr>
      <vt:lpstr>Operations on pointers: *</vt:lpstr>
      <vt:lpstr>Operations on pointers: =</vt:lpstr>
      <vt:lpstr>Operations on pointers: +- int</vt:lpstr>
      <vt:lpstr>Operations on pointers: substracting  two pointers</vt:lpstr>
      <vt:lpstr>Operations on pointers: [ 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brown-blue-black-red</dc:title>
  <dc:creator>ASHWINI MATANGE</dc:creator>
  <cp:lastModifiedBy>Ram Deshmukh</cp:lastModifiedBy>
  <cp:revision>1</cp:revision>
  <dcterms:created xsi:type="dcterms:W3CDTF">2021-11-08T07:53:27Z</dcterms:created>
  <dcterms:modified xsi:type="dcterms:W3CDTF">2022-05-11T10:13:16Z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2021-11-08T00:00:00Z</vt:filetime>
  </property>
</Properties>
</file>